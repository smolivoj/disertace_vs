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3.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714" r:id="rId2"/>
  </p:sldMasterIdLst>
  <p:notesMasterIdLst>
    <p:notesMasterId r:id="rId32"/>
  </p:notesMasterIdLst>
  <p:sldIdLst>
    <p:sldId id="258" r:id="rId3"/>
    <p:sldId id="277" r:id="rId4"/>
    <p:sldId id="278" r:id="rId5"/>
    <p:sldId id="284" r:id="rId6"/>
    <p:sldId id="280" r:id="rId7"/>
    <p:sldId id="293" r:id="rId8"/>
    <p:sldId id="285" r:id="rId9"/>
    <p:sldId id="286" r:id="rId10"/>
    <p:sldId id="282" r:id="rId11"/>
    <p:sldId id="292" r:id="rId12"/>
    <p:sldId id="300" r:id="rId13"/>
    <p:sldId id="301" r:id="rId14"/>
    <p:sldId id="294" r:id="rId15"/>
    <p:sldId id="298" r:id="rId16"/>
    <p:sldId id="303" r:id="rId17"/>
    <p:sldId id="302" r:id="rId18"/>
    <p:sldId id="304" r:id="rId19"/>
    <p:sldId id="306" r:id="rId20"/>
    <p:sldId id="305" r:id="rId21"/>
    <p:sldId id="309" r:id="rId22"/>
    <p:sldId id="308" r:id="rId23"/>
    <p:sldId id="307" r:id="rId24"/>
    <p:sldId id="310" r:id="rId25"/>
    <p:sldId id="283" r:id="rId26"/>
    <p:sldId id="281" r:id="rId27"/>
    <p:sldId id="288" r:id="rId28"/>
    <p:sldId id="291" r:id="rId29"/>
    <p:sldId id="289" r:id="rId30"/>
    <p:sldId id="290"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xel Lorenz" initials="AL" lastIdx="29" clrIdx="0">
    <p:extLst>
      <p:ext uri="{19B8F6BF-5375-455C-9EA6-DF929625EA0E}">
        <p15:presenceInfo xmlns:p15="http://schemas.microsoft.com/office/powerpoint/2012/main" userId="Axel Lorenz" providerId="None"/>
      </p:ext>
    </p:extLst>
  </p:cmAuthor>
  <p:cmAuthor id="2" name="Mikhail Khokhlov" initials="mikk" lastIdx="28" clrIdx="1">
    <p:extLst>
      <p:ext uri="{19B8F6BF-5375-455C-9EA6-DF929625EA0E}">
        <p15:presenceInfo xmlns:p15="http://schemas.microsoft.com/office/powerpoint/2012/main" userId="Mikhail Khokhlov"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EEE"/>
    <a:srgbClr val="006C66"/>
    <a:srgbClr val="006E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125" autoAdjust="0"/>
    <p:restoredTop sz="94660"/>
  </p:normalViewPr>
  <p:slideViewPr>
    <p:cSldViewPr snapToGrid="0">
      <p:cViewPr varScale="1">
        <p:scale>
          <a:sx n="115" d="100"/>
          <a:sy n="115" d="100"/>
        </p:scale>
        <p:origin x="138" y="468"/>
      </p:cViewPr>
      <p:guideLst>
        <p:guide orient="horz" pos="2160"/>
        <p:guide pos="3840"/>
      </p:guideLst>
    </p:cSldViewPr>
  </p:slideViewPr>
  <p:notesTextViewPr>
    <p:cViewPr>
      <p:scale>
        <a:sx n="1" d="1"/>
        <a:sy n="1" d="1"/>
      </p:scale>
      <p:origin x="0" y="0"/>
    </p:cViewPr>
  </p:notesTextViewPr>
  <p:notesViewPr>
    <p:cSldViewPr snapToGrid="0">
      <p:cViewPr varScale="1">
        <p:scale>
          <a:sx n="95" d="100"/>
          <a:sy n="95" d="100"/>
        </p:scale>
        <p:origin x="358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4-01-23T08:55:47.029" idx="22">
    <p:pos x="5111" y="1793"/>
    <p:text>this result is folling out of pattern, can you please check once more?</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4-01-23T08:56:37.150" idx="23">
    <p:pos x="202" y="1011"/>
    <p:text>Can you please merge 600 to 722, but add 450C for sake of CuCrZr</p:text>
    <p:extLst>
      <p:ext uri="{C676402C-5697-4E1C-873F-D02D1690AC5C}">
        <p15:threadingInfo xmlns:p15="http://schemas.microsoft.com/office/powerpoint/2012/main" timeZoneBias="-6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4-01-23T08:58:23.754" idx="24">
    <p:pos x="10" y="10"/>
    <p:text>Can you please merge 600 to 722, but add 450C for sake of CuCrZr?</p:text>
    <p:extLst>
      <p:ext uri="{C676402C-5697-4E1C-873F-D02D1690AC5C}">
        <p15:threadingInfo xmlns:p15="http://schemas.microsoft.com/office/powerpoint/2012/main" timeZoneBias="-6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4-01-23T08:58:37.436" idx="25">
    <p:pos x="10" y="10"/>
    <p:text>Is it the final result? I recall we were discussing smaller dT in Graphite</p:text>
    <p:extLst>
      <p:ext uri="{C676402C-5697-4E1C-873F-D02D1690AC5C}">
        <p15:threadingInfo xmlns:p15="http://schemas.microsoft.com/office/powerpoint/2012/main" timeZoneBias="-6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2" dt="2024-01-16T09:48:39.444" idx="16">
    <p:pos x="2900" y="1834"/>
    <p:text/>
    <p:extLst mod="1">
      <p:ext uri="{C676402C-5697-4E1C-873F-D02D1690AC5C}">
        <p15:threadingInfo xmlns:p15="http://schemas.microsoft.com/office/powerpoint/2012/main" timeZoneBias="-60"/>
      </p:ext>
    </p:extLst>
  </p:cm>
  <p:cm authorId="2" dt="2024-01-23T09:06:50.500" idx="27">
    <p:pos x="2900" y="1970"/>
    <p:text>I am a bit confused with 1-ACH00AC400 reference. Are you referencing the document or CATIA model?</p:text>
    <p:extLst>
      <p:ext uri="{C676402C-5697-4E1C-873F-D02D1690AC5C}">
        <p15:threadingInfo xmlns:p15="http://schemas.microsoft.com/office/powerpoint/2012/main" timeZoneBias="-60">
          <p15:parentCm authorId="2" idx="16"/>
        </p15:threadingInfo>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2" dt="2024-01-23T09:08:01.932" idx="28">
    <p:pos x="10" y="10"/>
    <p:text>We need to remind Gunnar</p:text>
    <p:extLst>
      <p:ext uri="{C676402C-5697-4E1C-873F-D02D1690AC5C}">
        <p15:threadingInfo xmlns:p15="http://schemas.microsoft.com/office/powerpoint/2012/main" timeZoneBias="-60"/>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E7EAE9-CD22-4919-B9F6-1A82D6CE1B33}" type="datetimeFigureOut">
              <a:rPr lang="de-DE" smtClean="0"/>
              <a:t>18.04.2024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85E968-FCE0-431C-99B4-EC8EA971DFFE}" type="slidenum">
              <a:rPr lang="de-DE" smtClean="0"/>
              <a:t>‹Nr.›</a:t>
            </a:fld>
            <a:endParaRPr lang="de-DE"/>
          </a:p>
        </p:txBody>
      </p:sp>
    </p:spTree>
    <p:extLst>
      <p:ext uri="{BB962C8B-B14F-4D97-AF65-F5344CB8AC3E}">
        <p14:creationId xmlns:p14="http://schemas.microsoft.com/office/powerpoint/2010/main" val="2473659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g"/><Relationship Id="rId1" Type="http://schemas.openxmlformats.org/officeDocument/2006/relationships/slideMaster" Target="../slideMasters/slideMaster1.xml"/><Relationship Id="rId6" Type="http://schemas.openxmlformats.org/officeDocument/2006/relationships/image" Target="../media/image8.emf"/><Relationship Id="rId5" Type="http://schemas.openxmlformats.org/officeDocument/2006/relationships/image" Target="../media/image7.png"/><Relationship Id="rId4" Type="http://schemas.openxmlformats.org/officeDocument/2006/relationships/image" Target="../media/image6.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4.jpg"/><Relationship Id="rId1" Type="http://schemas.openxmlformats.org/officeDocument/2006/relationships/slideMaster" Target="../slideMasters/slideMaster1.xml"/><Relationship Id="rId5" Type="http://schemas.openxmlformats.org/officeDocument/2006/relationships/image" Target="../media/image8.emf"/><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emf"/><Relationship Id="rId7" Type="http://schemas.openxmlformats.org/officeDocument/2006/relationships/image" Target="../media/image5.jpeg"/><Relationship Id="rId2" Type="http://schemas.openxmlformats.org/officeDocument/2006/relationships/image" Target="../media/image4.jpg"/><Relationship Id="rId1" Type="http://schemas.openxmlformats.org/officeDocument/2006/relationships/slideMaster" Target="../slideMasters/slideMaster1.xml"/><Relationship Id="rId6" Type="http://schemas.openxmlformats.org/officeDocument/2006/relationships/image" Target="../media/image8.emf"/><Relationship Id="rId5" Type="http://schemas.openxmlformats.org/officeDocument/2006/relationships/image" Target="../media/image9.jpe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g"/><Relationship Id="rId1" Type="http://schemas.openxmlformats.org/officeDocument/2006/relationships/slideMaster" Target="../slideMasters/slideMaster1.xml"/><Relationship Id="rId6" Type="http://schemas.openxmlformats.org/officeDocument/2006/relationships/image" Target="../media/image8.emf"/><Relationship Id="rId5" Type="http://schemas.openxmlformats.org/officeDocument/2006/relationships/image" Target="../media/image7.png"/><Relationship Id="rId4" Type="http://schemas.openxmlformats.org/officeDocument/2006/relationships/image" Target="../media/image6.emf"/></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vmlDrawing" Target="../drawings/vmlDrawing3.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4.v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image" Target="../media/image1.emf"/><Relationship Id="rId2" Type="http://schemas.openxmlformats.org/officeDocument/2006/relationships/tags" Target="../tags/tag9.xml"/><Relationship Id="rId1" Type="http://schemas.openxmlformats.org/officeDocument/2006/relationships/vmlDrawing" Target="../drawings/vmlDrawing5.vml"/><Relationship Id="rId6" Type="http://schemas.openxmlformats.org/officeDocument/2006/relationships/oleObject" Target="../embeddings/oleObject2.bin"/><Relationship Id="rId5" Type="http://schemas.openxmlformats.org/officeDocument/2006/relationships/image" Target="../media/image10.jp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1.emf"/><Relationship Id="rId2" Type="http://schemas.openxmlformats.org/officeDocument/2006/relationships/tags" Target="../tags/tag11.xml"/><Relationship Id="rId1" Type="http://schemas.openxmlformats.org/officeDocument/2006/relationships/vmlDrawing" Target="../drawings/vmlDrawing6.vml"/><Relationship Id="rId6" Type="http://schemas.openxmlformats.org/officeDocument/2006/relationships/oleObject" Target="../embeddings/oleObject2.bin"/><Relationship Id="rId5" Type="http://schemas.openxmlformats.org/officeDocument/2006/relationships/image" Target="../media/image10.jpg"/><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g"/><Relationship Id="rId1" Type="http://schemas.openxmlformats.org/officeDocument/2006/relationships/slideMaster" Target="../slideMasters/slideMaster2.xml"/><Relationship Id="rId5" Type="http://schemas.openxmlformats.org/officeDocument/2006/relationships/image" Target="../media/image8.emf"/><Relationship Id="rId4" Type="http://schemas.openxmlformats.org/officeDocument/2006/relationships/image" Target="../media/image6.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4.jpg"/><Relationship Id="rId1" Type="http://schemas.openxmlformats.org/officeDocument/2006/relationships/slideMaster" Target="../slideMasters/slideMaster2.xml"/><Relationship Id="rId4" Type="http://schemas.openxmlformats.org/officeDocument/2006/relationships/image" Target="../media/image8.emf"/></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vmlDrawing" Target="../drawings/vmlDrawing8.v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vmlDrawing" Target="../drawings/vmlDrawing9.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22.xml"/><Relationship Id="rId7" Type="http://schemas.openxmlformats.org/officeDocument/2006/relationships/image" Target="../media/image1.emf"/><Relationship Id="rId2" Type="http://schemas.openxmlformats.org/officeDocument/2006/relationships/tags" Target="../tags/tag21.xml"/><Relationship Id="rId1" Type="http://schemas.openxmlformats.org/officeDocument/2006/relationships/vmlDrawing" Target="../drawings/vmlDrawing11.vml"/><Relationship Id="rId6" Type="http://schemas.openxmlformats.org/officeDocument/2006/relationships/oleObject" Target="../embeddings/oleObject2.bin"/><Relationship Id="rId5" Type="http://schemas.openxmlformats.org/officeDocument/2006/relationships/image" Target="../media/image10.jpg"/><Relationship Id="rId4"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image" Target="../media/image1.emf"/><Relationship Id="rId2" Type="http://schemas.openxmlformats.org/officeDocument/2006/relationships/tags" Target="../tags/tag23.xml"/><Relationship Id="rId1" Type="http://schemas.openxmlformats.org/officeDocument/2006/relationships/vmlDrawing" Target="../drawings/vmlDrawing12.vml"/><Relationship Id="rId6" Type="http://schemas.openxmlformats.org/officeDocument/2006/relationships/oleObject" Target="../embeddings/oleObject2.bin"/><Relationship Id="rId5" Type="http://schemas.openxmlformats.org/officeDocument/2006/relationships/image" Target="../media/image10.jpg"/><Relationship Id="rId4"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7-X EUROf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Rechteck 22"/>
          <p:cNvSpPr/>
          <p:nvPr userDrawn="1"/>
        </p:nvSpPr>
        <p:spPr>
          <a:xfrm>
            <a:off x="1034980" y="2029867"/>
            <a:ext cx="10132448" cy="3755339"/>
          </a:xfrm>
          <a:prstGeom prst="rect">
            <a:avLst/>
          </a:prstGeom>
          <a:solidFill>
            <a:srgbClr val="006C66"/>
          </a:solidFill>
          <a:ln w="19050" cmpd="sng">
            <a:noFill/>
            <a:prstDash val="dash"/>
            <a:tailEnd type="triangle" w="lg" len="med"/>
          </a:ln>
        </p:spPr>
        <p:style>
          <a:lnRef idx="1">
            <a:schemeClr val="accent1"/>
          </a:lnRef>
          <a:fillRef idx="0">
            <a:schemeClr val="accent1"/>
          </a:fillRef>
          <a:effectRef idx="0">
            <a:schemeClr val="accent1"/>
          </a:effectRef>
          <a:fontRef idx="minor">
            <a:schemeClr val="tx1"/>
          </a:fontRef>
        </p:style>
        <p:txBody>
          <a:bodyPr wrap="square" lIns="144000" tIns="108000" rIns="144000" bIns="144000" rtlCol="0" anchor="t" anchorCtr="0"/>
          <a:lstStyle/>
          <a:p>
            <a:pPr algn="l">
              <a:spcBef>
                <a:spcPts val="1150"/>
              </a:spcBef>
              <a:buClr>
                <a:srgbClr val="116656"/>
              </a:buClr>
              <a:buSzPct val="120000"/>
            </a:pPr>
            <a:endParaRPr lang="de-DE" sz="1300" b="1" dirty="0">
              <a:solidFill>
                <a:schemeClr val="bg1"/>
              </a:solidFill>
            </a:endParaRPr>
          </a:p>
        </p:txBody>
      </p:sp>
      <p:grpSp>
        <p:nvGrpSpPr>
          <p:cNvPr id="26" name="Gruppieren 25"/>
          <p:cNvGrpSpPr/>
          <p:nvPr userDrawn="1"/>
        </p:nvGrpSpPr>
        <p:grpSpPr>
          <a:xfrm>
            <a:off x="1053474" y="5908637"/>
            <a:ext cx="10113954" cy="566770"/>
            <a:chOff x="515924" y="5792918"/>
            <a:chExt cx="9461999" cy="566770"/>
          </a:xfrm>
        </p:grpSpPr>
        <p:pic>
          <p:nvPicPr>
            <p:cNvPr id="27" name="Grafik 2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15924" y="5834863"/>
              <a:ext cx="442931" cy="315747"/>
            </a:xfrm>
            <a:prstGeom prst="rect">
              <a:avLst/>
            </a:prstGeom>
          </p:spPr>
        </p:pic>
        <p:sp>
          <p:nvSpPr>
            <p:cNvPr id="28" name="Subtitle 2"/>
            <p:cNvSpPr txBox="1">
              <a:spLocks/>
            </p:cNvSpPr>
            <p:nvPr userDrawn="1"/>
          </p:nvSpPr>
          <p:spPr>
            <a:xfrm>
              <a:off x="1036319" y="5792918"/>
              <a:ext cx="8941604" cy="566770"/>
            </a:xfrm>
            <a:prstGeom prst="rect">
              <a:avLst/>
            </a:prstGeom>
          </p:spPr>
          <p:txBody>
            <a:bodyPr lIns="0" r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800" dirty="0"/>
                <a:t>This work has been carried out within the framework of the EUROfusion Consortium, funded by the European Union via the </a:t>
              </a:r>
              <a:r>
                <a:rPr lang="en-US" sz="800" dirty="0" err="1"/>
                <a:t>Euratom</a:t>
              </a:r>
              <a:r>
                <a:rPr lang="en-US" sz="800" dirty="0"/>
                <a:t> Research and Training </a:t>
              </a:r>
              <a:r>
                <a:rPr lang="en-US" sz="800" dirty="0" err="1"/>
                <a:t>Programme</a:t>
              </a:r>
              <a:r>
                <a:rPr lang="en-US" sz="800" dirty="0"/>
                <a:t> (Grant Agreement No 101052200 — EUROfusion). Views and opinions expressed are however those of the author(s) only and do not necessarily reflect those of the European Union or the European Commission. Neither the European Union nor the European Commission can be held responsible for them.</a:t>
              </a:r>
              <a:endParaRPr lang="en-US" sz="800" dirty="0">
                <a:latin typeface="Arial Narrow" panose="020B0606020202030204" pitchFamily="34" charset="0"/>
              </a:endParaRPr>
            </a:p>
          </p:txBody>
        </p:sp>
      </p:grpSp>
      <p:sp>
        <p:nvSpPr>
          <p:cNvPr id="15" name="Subtitle 2"/>
          <p:cNvSpPr>
            <a:spLocks noGrp="1"/>
          </p:cNvSpPr>
          <p:nvPr>
            <p:ph type="subTitle" idx="1"/>
          </p:nvPr>
        </p:nvSpPr>
        <p:spPr>
          <a:xfrm>
            <a:off x="1145512" y="3743999"/>
            <a:ext cx="7811452" cy="1983213"/>
          </a:xfrm>
        </p:spPr>
        <p:txBody>
          <a:bodyPr anchor="b" anchorCtr="0"/>
          <a:lstStyle>
            <a:lvl1pPr marL="0" indent="0" algn="l">
              <a:spcBef>
                <a:spcPts val="2300"/>
              </a:spcBef>
              <a:buNone/>
              <a:defRPr sz="1900" b="0" spc="0" baseline="0">
                <a:solidFill>
                  <a:schemeClr val="bg1"/>
                </a:solidFill>
              </a:defRPr>
            </a:lvl1pPr>
            <a:lvl2pPr marL="0" indent="252000" algn="l">
              <a:lnSpc>
                <a:spcPts val="1600"/>
              </a:lnSpc>
              <a:spcBef>
                <a:spcPts val="300"/>
              </a:spcBef>
              <a:buSzPct val="110000"/>
              <a:buFont typeface=".SF NS Symbols Regular"/>
              <a:buChar char="↘"/>
              <a:defRPr sz="1300" i="1" baseline="0">
                <a:solidFill>
                  <a:schemeClr val="bg1"/>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pic>
        <p:nvPicPr>
          <p:cNvPr id="16" name="Grafik 15"/>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397688" y="5237015"/>
            <a:ext cx="1700546" cy="524971"/>
          </a:xfrm>
          <a:prstGeom prst="rect">
            <a:avLst/>
          </a:prstGeom>
        </p:spPr>
      </p:pic>
      <p:pic>
        <p:nvPicPr>
          <p:cNvPr id="17" name="Grafik 16"/>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9977683" y="2164827"/>
            <a:ext cx="1036405" cy="921273"/>
          </a:xfrm>
          <a:prstGeom prst="rect">
            <a:avLst/>
          </a:prstGeom>
        </p:spPr>
      </p:pic>
      <p:sp>
        <p:nvSpPr>
          <p:cNvPr id="2" name="Titel 1"/>
          <p:cNvSpPr>
            <a:spLocks noGrp="1"/>
          </p:cNvSpPr>
          <p:nvPr>
            <p:ph type="title"/>
          </p:nvPr>
        </p:nvSpPr>
        <p:spPr>
          <a:xfrm>
            <a:off x="1145512" y="2172779"/>
            <a:ext cx="7811452" cy="2160229"/>
          </a:xfrm>
        </p:spPr>
        <p:txBody>
          <a:bodyPr/>
          <a:lstStyle>
            <a:lvl1pPr>
              <a:defRPr sz="2400">
                <a:solidFill>
                  <a:schemeClr val="bg1"/>
                </a:solidFill>
              </a:defRPr>
            </a:lvl1pPr>
          </a:lstStyle>
          <a:p>
            <a:r>
              <a:rPr lang="en-US" smtClean="0"/>
              <a:t>Click to edit Master title style</a:t>
            </a:r>
            <a:endParaRPr lang="de-DE" dirty="0"/>
          </a:p>
        </p:txBody>
      </p:sp>
      <p:sp>
        <p:nvSpPr>
          <p:cNvPr id="3" name="Datumsplatzhalter 2"/>
          <p:cNvSpPr>
            <a:spLocks noGrp="1"/>
          </p:cNvSpPr>
          <p:nvPr>
            <p:ph type="dt" sz="half" idx="10"/>
          </p:nvPr>
        </p:nvSpPr>
        <p:spPr/>
        <p:txBody>
          <a:bodyPr/>
          <a:lstStyle/>
          <a:p>
            <a:r>
              <a:rPr lang="de-DE"/>
              <a:t>Short title</a:t>
            </a:r>
            <a:endParaRPr lang="de-DE" dirty="0"/>
          </a:p>
        </p:txBody>
      </p:sp>
      <p:sp>
        <p:nvSpPr>
          <p:cNvPr id="4" name="Fußzeilenplatzhalter 3"/>
          <p:cNvSpPr>
            <a:spLocks noGrp="1"/>
          </p:cNvSpPr>
          <p:nvPr>
            <p:ph type="ftr" sz="quarter" idx="11"/>
          </p:nvPr>
        </p:nvSpPr>
        <p:spPr/>
        <p:txBody>
          <a:bodyPr/>
          <a:lstStyle/>
          <a:p>
            <a:pPr algn="l">
              <a:tabLst>
                <a:tab pos="9775825" algn="r"/>
                <a:tab pos="10226675" algn="r"/>
              </a:tabLst>
            </a:pPr>
            <a:r>
              <a:rPr lang="de-DE"/>
              <a:t>Max-Planck-Institut für Plasmaphysik | Name | DD.MM.YYYY</a:t>
            </a:r>
            <a:endParaRPr lang="de-DE" dirty="0"/>
          </a:p>
        </p:txBody>
      </p:sp>
      <p:sp>
        <p:nvSpPr>
          <p:cNvPr id="5" name="Foliennummernplatzhalter 4"/>
          <p:cNvSpPr>
            <a:spLocks noGrp="1"/>
          </p:cNvSpPr>
          <p:nvPr>
            <p:ph type="sldNum" sz="quarter" idx="12"/>
          </p:nvPr>
        </p:nvSpPr>
        <p:spPr/>
        <p:txBody>
          <a:bodyPr/>
          <a:lstStyle/>
          <a:p>
            <a:fld id="{3B1A4699-952B-42DA-8DC4-38A59B49610C}" type="slidenum">
              <a:rPr lang="de-DE" smtClean="0"/>
              <a:pPr/>
              <a:t>‹Nr.›</a:t>
            </a:fld>
            <a:endParaRPr lang="de-DE" dirty="0"/>
          </a:p>
        </p:txBody>
      </p:sp>
      <p:pic>
        <p:nvPicPr>
          <p:cNvPr id="22" name="Grafik 21"/>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7592156" y="489668"/>
            <a:ext cx="3888000" cy="899494"/>
          </a:xfrm>
          <a:prstGeom prst="rect">
            <a:avLst/>
          </a:prstGeom>
        </p:spPr>
      </p:pic>
    </p:spTree>
    <p:extLst>
      <p:ext uri="{BB962C8B-B14F-4D97-AF65-F5344CB8AC3E}">
        <p14:creationId xmlns:p14="http://schemas.microsoft.com/office/powerpoint/2010/main" val="454959333"/>
      </p:ext>
    </p:extLst>
  </p:cSld>
  <p:clrMapOvr>
    <a:masterClrMapping/>
  </p:clrMapOvr>
  <p:extLst>
    <p:ext uri="{DCECCB84-F9BA-43D5-87BE-67443E8EF086}">
      <p15:sldGuideLst xmlns:p15="http://schemas.microsoft.com/office/powerpoint/2012/main">
        <p15:guide id="1" pos="653" userDrawn="1">
          <p15:clr>
            <a:srgbClr val="FBAE40"/>
          </p15:clr>
        </p15:guide>
        <p15:guide id="2" pos="39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W7-X">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Rechteck 22"/>
          <p:cNvSpPr/>
          <p:nvPr userDrawn="1"/>
        </p:nvSpPr>
        <p:spPr>
          <a:xfrm>
            <a:off x="1034980" y="2029867"/>
            <a:ext cx="10132448" cy="4109676"/>
          </a:xfrm>
          <a:prstGeom prst="rect">
            <a:avLst/>
          </a:prstGeom>
          <a:solidFill>
            <a:srgbClr val="006C66"/>
          </a:solidFill>
          <a:ln w="19050" cmpd="sng">
            <a:noFill/>
            <a:prstDash val="dash"/>
            <a:tailEnd type="triangle" w="lg" len="med"/>
          </a:ln>
        </p:spPr>
        <p:style>
          <a:lnRef idx="1">
            <a:schemeClr val="accent1"/>
          </a:lnRef>
          <a:fillRef idx="0">
            <a:schemeClr val="accent1"/>
          </a:fillRef>
          <a:effectRef idx="0">
            <a:schemeClr val="accent1"/>
          </a:effectRef>
          <a:fontRef idx="minor">
            <a:schemeClr val="tx1"/>
          </a:fontRef>
        </p:style>
        <p:txBody>
          <a:bodyPr wrap="square" lIns="144000" tIns="108000" rIns="144000" bIns="144000" rtlCol="0" anchor="t" anchorCtr="0"/>
          <a:lstStyle/>
          <a:p>
            <a:pPr algn="l">
              <a:spcBef>
                <a:spcPts val="1150"/>
              </a:spcBef>
              <a:buClr>
                <a:srgbClr val="116656"/>
              </a:buClr>
              <a:buSzPct val="120000"/>
            </a:pPr>
            <a:endParaRPr lang="de-DE" sz="1300" b="1" dirty="0">
              <a:solidFill>
                <a:schemeClr val="bg1"/>
              </a:solidFill>
            </a:endParaRPr>
          </a:p>
        </p:txBody>
      </p:sp>
      <p:sp>
        <p:nvSpPr>
          <p:cNvPr id="25" name="Subtitle 2"/>
          <p:cNvSpPr>
            <a:spLocks noGrp="1"/>
          </p:cNvSpPr>
          <p:nvPr>
            <p:ph type="subTitle" idx="1"/>
          </p:nvPr>
        </p:nvSpPr>
        <p:spPr>
          <a:xfrm>
            <a:off x="1145512" y="3743999"/>
            <a:ext cx="7832233" cy="2274963"/>
          </a:xfrm>
        </p:spPr>
        <p:txBody>
          <a:bodyPr anchor="b" anchorCtr="0"/>
          <a:lstStyle>
            <a:lvl1pPr marL="0" indent="0" algn="l">
              <a:spcBef>
                <a:spcPts val="2300"/>
              </a:spcBef>
              <a:buNone/>
              <a:defRPr sz="1900" b="0" spc="0" baseline="0">
                <a:solidFill>
                  <a:schemeClr val="bg1"/>
                </a:solidFill>
              </a:defRPr>
            </a:lvl1pPr>
            <a:lvl2pPr marL="0" indent="252000" algn="l">
              <a:lnSpc>
                <a:spcPts val="1600"/>
              </a:lnSpc>
              <a:spcBef>
                <a:spcPts val="300"/>
              </a:spcBef>
              <a:buSzPct val="110000"/>
              <a:buFont typeface=".SF NS Symbols Regular"/>
              <a:buChar char="↘"/>
              <a:defRPr sz="1300" i="1" baseline="0">
                <a:solidFill>
                  <a:schemeClr val="bg1"/>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pic>
        <p:nvPicPr>
          <p:cNvPr id="29" name="Grafik 2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397688" y="5559136"/>
            <a:ext cx="1700546" cy="524971"/>
          </a:xfrm>
          <a:prstGeom prst="rect">
            <a:avLst/>
          </a:prstGeom>
        </p:spPr>
      </p:pic>
      <p:pic>
        <p:nvPicPr>
          <p:cNvPr id="30" name="Grafik 29"/>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977683" y="2164827"/>
            <a:ext cx="1036405" cy="921273"/>
          </a:xfrm>
          <a:prstGeom prst="rect">
            <a:avLst/>
          </a:prstGeom>
        </p:spPr>
      </p:pic>
      <p:sp>
        <p:nvSpPr>
          <p:cNvPr id="5" name="Titel 4"/>
          <p:cNvSpPr>
            <a:spLocks noGrp="1"/>
          </p:cNvSpPr>
          <p:nvPr>
            <p:ph type="title"/>
          </p:nvPr>
        </p:nvSpPr>
        <p:spPr>
          <a:xfrm>
            <a:off x="1145838" y="2145471"/>
            <a:ext cx="7831907" cy="2094020"/>
          </a:xfrm>
        </p:spPr>
        <p:txBody>
          <a:bodyPr/>
          <a:lstStyle>
            <a:lvl1pPr>
              <a:defRPr sz="2400">
                <a:solidFill>
                  <a:schemeClr val="bg1"/>
                </a:solidFill>
              </a:defRPr>
            </a:lvl1pPr>
          </a:lstStyle>
          <a:p>
            <a:r>
              <a:rPr lang="en-US" smtClean="0"/>
              <a:t>Click to edit Master title style</a:t>
            </a:r>
            <a:endParaRPr lang="de-DE" dirty="0"/>
          </a:p>
        </p:txBody>
      </p:sp>
      <p:sp>
        <p:nvSpPr>
          <p:cNvPr id="12" name="Datumsplatzhalter 11"/>
          <p:cNvSpPr>
            <a:spLocks noGrp="1"/>
          </p:cNvSpPr>
          <p:nvPr>
            <p:ph type="dt" sz="half" idx="10"/>
          </p:nvPr>
        </p:nvSpPr>
        <p:spPr/>
        <p:txBody>
          <a:bodyPr/>
          <a:lstStyle/>
          <a:p>
            <a:r>
              <a:rPr lang="de-DE"/>
              <a:t>Short title</a:t>
            </a:r>
            <a:endParaRPr lang="de-DE" dirty="0"/>
          </a:p>
        </p:txBody>
      </p:sp>
      <p:sp>
        <p:nvSpPr>
          <p:cNvPr id="13" name="Fußzeilenplatzhalter 12"/>
          <p:cNvSpPr>
            <a:spLocks noGrp="1"/>
          </p:cNvSpPr>
          <p:nvPr>
            <p:ph type="ftr" sz="quarter" idx="11"/>
          </p:nvPr>
        </p:nvSpPr>
        <p:spPr/>
        <p:txBody>
          <a:bodyPr/>
          <a:lstStyle/>
          <a:p>
            <a:pPr algn="l">
              <a:tabLst>
                <a:tab pos="9775825" algn="r"/>
                <a:tab pos="10226675" algn="r"/>
              </a:tabLst>
            </a:pPr>
            <a:r>
              <a:rPr lang="de-DE"/>
              <a:t>Max-Planck-Institut für Plasmaphysik | Name | DD.MM.YYYY</a:t>
            </a:r>
            <a:endParaRPr lang="de-DE" dirty="0"/>
          </a:p>
        </p:txBody>
      </p:sp>
      <p:sp>
        <p:nvSpPr>
          <p:cNvPr id="14" name="Foliennummernplatzhalter 13"/>
          <p:cNvSpPr>
            <a:spLocks noGrp="1"/>
          </p:cNvSpPr>
          <p:nvPr>
            <p:ph type="sldNum" sz="quarter" idx="12"/>
          </p:nvPr>
        </p:nvSpPr>
        <p:spPr/>
        <p:txBody>
          <a:bodyPr/>
          <a:lstStyle/>
          <a:p>
            <a:fld id="{3B1A4699-952B-42DA-8DC4-38A59B49610C}" type="slidenum">
              <a:rPr lang="de-DE" smtClean="0"/>
              <a:pPr/>
              <a:t>‹Nr.›</a:t>
            </a:fld>
            <a:endParaRPr lang="de-DE" dirty="0"/>
          </a:p>
        </p:txBody>
      </p:sp>
      <p:pic>
        <p:nvPicPr>
          <p:cNvPr id="26" name="Grafik 25"/>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7592156" y="489668"/>
            <a:ext cx="3888000" cy="899494"/>
          </a:xfrm>
          <a:prstGeom prst="rect">
            <a:avLst/>
          </a:prstGeom>
        </p:spPr>
      </p:pic>
    </p:spTree>
    <p:extLst>
      <p:ext uri="{BB962C8B-B14F-4D97-AF65-F5344CB8AC3E}">
        <p14:creationId xmlns:p14="http://schemas.microsoft.com/office/powerpoint/2010/main" val="360576989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7-X Image EUROf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Grafik 1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061473" y="5372117"/>
            <a:ext cx="2036761" cy="628763"/>
          </a:xfrm>
          <a:prstGeom prst="rect">
            <a:avLst/>
          </a:prstGeom>
        </p:spPr>
      </p:pic>
      <p:pic>
        <p:nvPicPr>
          <p:cNvPr id="13" name="Grafik 12"/>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790251" y="2196000"/>
            <a:ext cx="1223837" cy="1087884"/>
          </a:xfrm>
          <a:prstGeom prst="rect">
            <a:avLst/>
          </a:prstGeom>
        </p:spPr>
      </p:pic>
      <p:pic>
        <p:nvPicPr>
          <p:cNvPr id="16" name="Grafik 15"/>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1054650" y="2313782"/>
            <a:ext cx="10055310" cy="3489523"/>
          </a:xfrm>
          <a:prstGeom prst="rect">
            <a:avLst/>
          </a:prstGeom>
        </p:spPr>
      </p:pic>
      <p:sp>
        <p:nvSpPr>
          <p:cNvPr id="17" name="Title 1"/>
          <p:cNvSpPr txBox="1">
            <a:spLocks/>
          </p:cNvSpPr>
          <p:nvPr userDrawn="1"/>
        </p:nvSpPr>
        <p:spPr>
          <a:xfrm>
            <a:off x="550719" y="1807154"/>
            <a:ext cx="5621482" cy="1923184"/>
          </a:xfrm>
          <a:prstGeom prst="rect">
            <a:avLst/>
          </a:prstGeom>
          <a:solidFill>
            <a:srgbClr val="29485D"/>
          </a:solidFill>
        </p:spPr>
        <p:txBody>
          <a:bodyPr vert="horz" wrap="square" lIns="198000" tIns="158400" rIns="108000" bIns="108000" rtlCol="0" anchor="t" anchorCtr="0">
            <a:noAutofit/>
          </a:bodyPr>
          <a:lstStyle>
            <a:lvl1pPr algn="l" defTabSz="914400" rtl="0" eaLnBrk="1" latinLnBrk="0" hangingPunct="1">
              <a:lnSpc>
                <a:spcPts val="2600"/>
              </a:lnSpc>
              <a:spcBef>
                <a:spcPct val="0"/>
              </a:spcBef>
              <a:spcAft>
                <a:spcPts val="1800"/>
              </a:spcAft>
              <a:buNone/>
              <a:defRPr sz="2300" b="1" kern="600" cap="none" spc="0" baseline="0">
                <a:solidFill>
                  <a:schemeClr val="bg1"/>
                </a:solidFill>
                <a:latin typeface="+mj-lt"/>
                <a:ea typeface="+mj-ea"/>
                <a:cs typeface="+mj-cs"/>
              </a:defRPr>
            </a:lvl1pPr>
          </a:lstStyle>
          <a:p>
            <a:endParaRPr lang="en-US" dirty="0"/>
          </a:p>
        </p:txBody>
      </p:sp>
      <p:sp>
        <p:nvSpPr>
          <p:cNvPr id="18" name="Subtitle 2"/>
          <p:cNvSpPr txBox="1">
            <a:spLocks/>
          </p:cNvSpPr>
          <p:nvPr userDrawn="1"/>
        </p:nvSpPr>
        <p:spPr>
          <a:xfrm>
            <a:off x="6045987" y="4682864"/>
            <a:ext cx="5560809" cy="1280552"/>
          </a:xfrm>
          <a:prstGeom prst="rect">
            <a:avLst/>
          </a:prstGeom>
          <a:solidFill>
            <a:srgbClr val="29485D"/>
          </a:solidFill>
        </p:spPr>
        <p:txBody>
          <a:bodyPr vert="horz" lIns="187200" tIns="158400" rIns="108000" bIns="172800" rtlCol="0" anchor="b" anchorCtr="0">
            <a:noAutofit/>
          </a:bodyPr>
          <a:lstStyle>
            <a:lvl1pPr marL="0" marR="0" indent="0" algn="l" defTabSz="914400" rtl="0" eaLnBrk="1" fontAlgn="auto" latinLnBrk="0" hangingPunct="1">
              <a:lnSpc>
                <a:spcPts val="2300"/>
              </a:lnSpc>
              <a:spcBef>
                <a:spcPts val="2300"/>
              </a:spcBef>
              <a:spcAft>
                <a:spcPts val="0"/>
              </a:spcAft>
              <a:buClrTx/>
              <a:buSzTx/>
              <a:buFont typeface="Arial" panose="020B0604020202020204" pitchFamily="34" charset="0"/>
              <a:buNone/>
              <a:tabLst/>
              <a:defRPr sz="1900" b="1" i="0" kern="600" spc="190" baseline="0">
                <a:solidFill>
                  <a:schemeClr val="bg1"/>
                </a:solidFill>
                <a:latin typeface="+mn-lt"/>
                <a:ea typeface="+mn-ea"/>
                <a:cs typeface="+mn-cs"/>
              </a:defRPr>
            </a:lvl1pPr>
            <a:lvl2pPr marL="0" indent="252000" algn="l" defTabSz="914400" rtl="0" eaLnBrk="1" latinLnBrk="0" hangingPunct="1">
              <a:lnSpc>
                <a:spcPts val="1600"/>
              </a:lnSpc>
              <a:spcBef>
                <a:spcPts val="300"/>
              </a:spcBef>
              <a:spcAft>
                <a:spcPts val="0"/>
              </a:spcAft>
              <a:buSzPct val="110000"/>
              <a:buFont typeface=".SF NS Symbols Regular"/>
              <a:buChar char="↘"/>
              <a:defRPr sz="1300" i="1" kern="600" spc="40" baseline="0">
                <a:solidFill>
                  <a:schemeClr val="bg1"/>
                </a:solidFill>
                <a:latin typeface="+mn-lt"/>
                <a:ea typeface="+mn-ea"/>
                <a:cs typeface="+mn-cs"/>
              </a:defRPr>
            </a:lvl2pPr>
            <a:lvl3pPr marL="914400" indent="0" algn="ctr" defTabSz="914400" rtl="0" eaLnBrk="1" latinLnBrk="0" hangingPunct="1">
              <a:lnSpc>
                <a:spcPts val="2300"/>
              </a:lnSpc>
              <a:spcBef>
                <a:spcPts val="1150"/>
              </a:spcBef>
              <a:buFont typeface="Arial" panose="020B0604020202020204" pitchFamily="34" charset="0"/>
              <a:buNone/>
              <a:defRPr sz="1800" b="1" kern="400" spc="40" baseline="0">
                <a:solidFill>
                  <a:schemeClr val="accent3"/>
                </a:solidFill>
                <a:latin typeface="+mn-lt"/>
                <a:ea typeface="+mn-ea"/>
                <a:cs typeface="+mn-cs"/>
              </a:defRPr>
            </a:lvl3pPr>
            <a:lvl4pPr marL="1371600" indent="0" algn="ctr" defTabSz="914400" rtl="0" eaLnBrk="1" latinLnBrk="0" hangingPunct="1">
              <a:lnSpc>
                <a:spcPts val="2300"/>
              </a:lnSpc>
              <a:spcBef>
                <a:spcPts val="1150"/>
              </a:spcBef>
              <a:buFont typeface="Arial" panose="020B0604020202020204" pitchFamily="34" charset="0"/>
              <a:buNone/>
              <a:defRPr sz="1600" kern="600" spc="40" baseline="0">
                <a:solidFill>
                  <a:schemeClr val="tx1"/>
                </a:solidFill>
                <a:latin typeface="+mn-lt"/>
                <a:ea typeface="+mn-ea"/>
                <a:cs typeface="+mn-cs"/>
              </a:defRPr>
            </a:lvl4pPr>
            <a:lvl5pPr marL="1828800" indent="0" algn="ctr" defTabSz="914400" rtl="0" eaLnBrk="1" latinLnBrk="0" hangingPunct="1">
              <a:lnSpc>
                <a:spcPts val="2300"/>
              </a:lnSpc>
              <a:spcBef>
                <a:spcPts val="525"/>
              </a:spcBef>
              <a:buFont typeface="Arial" panose="020B0604020202020204" pitchFamily="34" charset="0"/>
              <a:buNone/>
              <a:defRPr sz="1600" kern="600" spc="40" baseline="0">
                <a:solidFill>
                  <a:schemeClr val="tx1"/>
                </a:solidFill>
                <a:latin typeface="+mn-lt"/>
                <a:ea typeface="+mn-ea"/>
                <a:cs typeface="+mn-cs"/>
              </a:defRPr>
            </a:lvl5pPr>
            <a:lvl6pPr marL="2286000" indent="0" algn="ctr" defTabSz="914400" rtl="0" eaLnBrk="1" latinLnBrk="0" hangingPunct="1">
              <a:lnSpc>
                <a:spcPts val="2300"/>
              </a:lnSpc>
              <a:spcBef>
                <a:spcPts val="0"/>
              </a:spcBef>
              <a:spcAft>
                <a:spcPts val="0"/>
              </a:spcAft>
              <a:buClr>
                <a:schemeClr val="tx1"/>
              </a:buClr>
              <a:buSzPct val="110000"/>
              <a:buFont typeface="Symbol" panose="05050102010706020507" pitchFamily="18" charset="2"/>
              <a:buNone/>
              <a:defRPr sz="1600" b="0" i="0" kern="600" spc="40" baseline="0">
                <a:solidFill>
                  <a:schemeClr val="tx1"/>
                </a:solidFill>
                <a:latin typeface="+mn-lt"/>
                <a:ea typeface="+mn-ea"/>
                <a:cs typeface="+mn-cs"/>
              </a:defRPr>
            </a:lvl6pPr>
            <a:lvl7pPr marL="2743200" indent="0" algn="ctr" defTabSz="914400" rtl="0" eaLnBrk="1" latinLnBrk="0" hangingPunct="1">
              <a:lnSpc>
                <a:spcPts val="2300"/>
              </a:lnSpc>
              <a:spcBef>
                <a:spcPts val="525"/>
              </a:spcBef>
              <a:spcAft>
                <a:spcPts val="0"/>
              </a:spcAft>
              <a:buClr>
                <a:schemeClr val="tx2"/>
              </a:buClr>
              <a:buFont typeface="Wingdings 3" panose="05040102010807070707" pitchFamily="18" charset="2"/>
              <a:buNone/>
              <a:defRPr sz="1600" b="0" i="1" kern="600" spc="40" baseline="0">
                <a:solidFill>
                  <a:schemeClr val="tx2"/>
                </a:solidFill>
                <a:latin typeface="+mn-lt"/>
                <a:ea typeface="+mn-ea"/>
                <a:cs typeface="+mn-cs"/>
              </a:defRPr>
            </a:lvl7pPr>
            <a:lvl8pPr marL="3200400" indent="0" algn="ctr" defTabSz="914400" rtl="0" eaLnBrk="1" latinLnBrk="0" hangingPunct="1">
              <a:lnSpc>
                <a:spcPts val="1100"/>
              </a:lnSpc>
              <a:spcBef>
                <a:spcPts val="525"/>
              </a:spcBef>
              <a:spcAft>
                <a:spcPts val="0"/>
              </a:spcAft>
              <a:buSzPct val="110000"/>
              <a:buFont typeface=".SF NS Symbols Regular"/>
              <a:buNone/>
              <a:defRPr sz="1600" b="0" i="1" kern="600" spc="120" baseline="0">
                <a:solidFill>
                  <a:schemeClr val="tx1">
                    <a:lumMod val="50000"/>
                    <a:lumOff val="50000"/>
                  </a:schemeClr>
                </a:solidFill>
                <a:latin typeface="+mn-lt"/>
                <a:ea typeface="+mn-ea"/>
                <a:cs typeface="+mn-cs"/>
              </a:defRPr>
            </a:lvl8pPr>
            <a:lvl9pPr marL="3657600" indent="0" algn="ctr" defTabSz="914400" rtl="0" eaLnBrk="1" latinLnBrk="0" hangingPunct="1">
              <a:lnSpc>
                <a:spcPts val="1100"/>
              </a:lnSpc>
              <a:spcBef>
                <a:spcPts val="525"/>
              </a:spcBef>
              <a:buFont typeface="Arial" panose="020B0604020202020204" pitchFamily="34" charset="0"/>
              <a:buNone/>
              <a:defRPr sz="1600" b="0" i="1" kern="600" spc="120" baseline="0">
                <a:solidFill>
                  <a:schemeClr val="tx1">
                    <a:lumMod val="50000"/>
                    <a:lumOff val="50000"/>
                  </a:schemeClr>
                </a:solidFill>
                <a:latin typeface="+mn-lt"/>
                <a:ea typeface="+mn-ea"/>
                <a:cs typeface="+mn-cs"/>
              </a:defRPr>
            </a:lvl9pPr>
          </a:lstStyle>
          <a:p>
            <a:endParaRPr lang="en-US" dirty="0"/>
          </a:p>
        </p:txBody>
      </p:sp>
      <p:sp>
        <p:nvSpPr>
          <p:cNvPr id="19" name="Subtitle 2"/>
          <p:cNvSpPr>
            <a:spLocks noGrp="1"/>
          </p:cNvSpPr>
          <p:nvPr>
            <p:ph type="subTitle" idx="1"/>
          </p:nvPr>
        </p:nvSpPr>
        <p:spPr>
          <a:xfrm>
            <a:off x="6172201" y="4787844"/>
            <a:ext cx="5361443" cy="1101934"/>
          </a:xfrm>
        </p:spPr>
        <p:txBody>
          <a:bodyPr anchor="ctr" anchorCtr="0"/>
          <a:lstStyle>
            <a:lvl1pPr marL="0" indent="0" algn="l">
              <a:spcBef>
                <a:spcPts val="2300"/>
              </a:spcBef>
              <a:buNone/>
              <a:defRPr sz="1900" b="0" spc="0" baseline="0">
                <a:solidFill>
                  <a:schemeClr val="bg1"/>
                </a:solidFill>
              </a:defRPr>
            </a:lvl1pPr>
            <a:lvl2pPr marL="0" indent="252000" algn="l">
              <a:lnSpc>
                <a:spcPts val="1600"/>
              </a:lnSpc>
              <a:spcBef>
                <a:spcPts val="300"/>
              </a:spcBef>
              <a:buSzPct val="110000"/>
              <a:buFont typeface=".SF NS Symbols Regular"/>
              <a:buChar char="↘"/>
              <a:defRPr sz="1300" i="1" baseline="0">
                <a:solidFill>
                  <a:schemeClr val="bg1"/>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20" name="Titel 6"/>
          <p:cNvSpPr>
            <a:spLocks noGrp="1"/>
          </p:cNvSpPr>
          <p:nvPr>
            <p:ph type="title"/>
          </p:nvPr>
        </p:nvSpPr>
        <p:spPr>
          <a:xfrm>
            <a:off x="695326" y="1891147"/>
            <a:ext cx="5350662" cy="1766455"/>
          </a:xfrm>
        </p:spPr>
        <p:txBody>
          <a:bodyPr anchor="ctr"/>
          <a:lstStyle>
            <a:lvl1pPr>
              <a:defRPr sz="2300">
                <a:solidFill>
                  <a:schemeClr val="bg1"/>
                </a:solidFill>
              </a:defRPr>
            </a:lvl1pPr>
          </a:lstStyle>
          <a:p>
            <a:r>
              <a:rPr lang="en-US" smtClean="0"/>
              <a:t>Click to edit Master title style</a:t>
            </a:r>
            <a:endParaRPr lang="de-DE" dirty="0"/>
          </a:p>
        </p:txBody>
      </p:sp>
      <p:pic>
        <p:nvPicPr>
          <p:cNvPr id="24" name="Grafik 23"/>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7592156" y="489668"/>
            <a:ext cx="3888000" cy="899494"/>
          </a:xfrm>
          <a:prstGeom prst="rect">
            <a:avLst/>
          </a:prstGeom>
        </p:spPr>
      </p:pic>
      <p:pic>
        <p:nvPicPr>
          <p:cNvPr id="32" name="Grafik 31"/>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160395" y="4765992"/>
            <a:ext cx="1058550" cy="940958"/>
          </a:xfrm>
          <a:prstGeom prst="rect">
            <a:avLst/>
          </a:prstGeom>
        </p:spPr>
      </p:pic>
      <p:pic>
        <p:nvPicPr>
          <p:cNvPr id="33" name="Grafik 32"/>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483322" y="5232310"/>
            <a:ext cx="1851764" cy="571653"/>
          </a:xfrm>
          <a:prstGeom prst="rect">
            <a:avLst/>
          </a:prstGeom>
        </p:spPr>
      </p:pic>
      <p:grpSp>
        <p:nvGrpSpPr>
          <p:cNvPr id="21" name="Gruppieren 20"/>
          <p:cNvGrpSpPr/>
          <p:nvPr userDrawn="1"/>
        </p:nvGrpSpPr>
        <p:grpSpPr>
          <a:xfrm>
            <a:off x="1053474" y="6022938"/>
            <a:ext cx="10113954" cy="566770"/>
            <a:chOff x="515924" y="5792918"/>
            <a:chExt cx="9461999" cy="566770"/>
          </a:xfrm>
        </p:grpSpPr>
        <p:pic>
          <p:nvPicPr>
            <p:cNvPr id="22" name="Grafik 21"/>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515924" y="5834863"/>
              <a:ext cx="442931" cy="315747"/>
            </a:xfrm>
            <a:prstGeom prst="rect">
              <a:avLst/>
            </a:prstGeom>
          </p:spPr>
        </p:pic>
        <p:sp>
          <p:nvSpPr>
            <p:cNvPr id="23" name="Subtitle 2"/>
            <p:cNvSpPr txBox="1">
              <a:spLocks/>
            </p:cNvSpPr>
            <p:nvPr userDrawn="1"/>
          </p:nvSpPr>
          <p:spPr>
            <a:xfrm>
              <a:off x="1036319" y="5792918"/>
              <a:ext cx="8941604" cy="566770"/>
            </a:xfrm>
            <a:prstGeom prst="rect">
              <a:avLst/>
            </a:prstGeom>
          </p:spPr>
          <p:txBody>
            <a:bodyPr lIns="0" r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800" dirty="0"/>
                <a:t>This work has been carried out within the framework of the EUROfusion Consortium, funded by the European Union via the </a:t>
              </a:r>
              <a:r>
                <a:rPr lang="en-US" sz="800" dirty="0" err="1"/>
                <a:t>Euratom</a:t>
              </a:r>
              <a:r>
                <a:rPr lang="en-US" sz="800" dirty="0"/>
                <a:t> Research and Training </a:t>
              </a:r>
              <a:r>
                <a:rPr lang="en-US" sz="800" dirty="0" err="1"/>
                <a:t>Programme</a:t>
              </a:r>
              <a:r>
                <a:rPr lang="en-US" sz="800" dirty="0"/>
                <a:t> (Grant Agreement No 101052200 — EUROfusion). Views and opinions expressed are however those of the author(s) only and do not necessarily reflect those of the European Union or the European Commission. Neither the European Union nor the European Commission can be held responsible for them.</a:t>
              </a:r>
              <a:endParaRPr lang="en-US" sz="800" dirty="0">
                <a:latin typeface="Arial Narrow" panose="020B0606020202030204" pitchFamily="34" charset="0"/>
              </a:endParaRPr>
            </a:p>
          </p:txBody>
        </p:sp>
      </p:grpSp>
      <p:sp>
        <p:nvSpPr>
          <p:cNvPr id="2" name="Datumsplatzhalter 1"/>
          <p:cNvSpPr>
            <a:spLocks noGrp="1"/>
          </p:cNvSpPr>
          <p:nvPr>
            <p:ph type="dt" sz="half" idx="10"/>
          </p:nvPr>
        </p:nvSpPr>
        <p:spPr/>
        <p:txBody>
          <a:bodyPr/>
          <a:lstStyle/>
          <a:p>
            <a:r>
              <a:rPr lang="de-DE"/>
              <a:t>Short title</a:t>
            </a:r>
            <a:endParaRPr lang="de-DE" dirty="0"/>
          </a:p>
        </p:txBody>
      </p:sp>
      <p:sp>
        <p:nvSpPr>
          <p:cNvPr id="3" name="Fußzeilenplatzhalter 2"/>
          <p:cNvSpPr>
            <a:spLocks noGrp="1"/>
          </p:cNvSpPr>
          <p:nvPr>
            <p:ph type="ftr" sz="quarter" idx="11"/>
          </p:nvPr>
        </p:nvSpPr>
        <p:spPr/>
        <p:txBody>
          <a:bodyPr/>
          <a:lstStyle/>
          <a:p>
            <a:pPr algn="l">
              <a:tabLst>
                <a:tab pos="9775825" algn="r"/>
                <a:tab pos="10226675" algn="r"/>
              </a:tabLst>
            </a:pPr>
            <a:r>
              <a:rPr lang="de-DE"/>
              <a:t>Max-Planck-Institut für Plasmaphysik | Name | DD.MM.YYYY</a:t>
            </a:r>
            <a:endParaRPr lang="de-DE" dirty="0"/>
          </a:p>
        </p:txBody>
      </p:sp>
      <p:sp>
        <p:nvSpPr>
          <p:cNvPr id="4" name="Foliennummernplatzhalter 3"/>
          <p:cNvSpPr>
            <a:spLocks noGrp="1"/>
          </p:cNvSpPr>
          <p:nvPr>
            <p:ph type="sldNum" sz="quarter" idx="12"/>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1159289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Title W7-X Image EUROf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6" name="Grafik 15"/>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4650" y="2313782"/>
            <a:ext cx="10055310" cy="3489523"/>
          </a:xfrm>
          <a:prstGeom prst="rect">
            <a:avLst/>
          </a:prstGeom>
        </p:spPr>
      </p:pic>
      <p:pic>
        <p:nvPicPr>
          <p:cNvPr id="12" name="Grafik 11"/>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061473" y="5372117"/>
            <a:ext cx="2036761" cy="628763"/>
          </a:xfrm>
          <a:prstGeom prst="rect">
            <a:avLst/>
          </a:prstGeom>
        </p:spPr>
      </p:pic>
      <p:sp>
        <p:nvSpPr>
          <p:cNvPr id="17" name="Title 1"/>
          <p:cNvSpPr txBox="1">
            <a:spLocks/>
          </p:cNvSpPr>
          <p:nvPr userDrawn="1"/>
        </p:nvSpPr>
        <p:spPr>
          <a:xfrm>
            <a:off x="550719" y="1807154"/>
            <a:ext cx="5621482" cy="1923184"/>
          </a:xfrm>
          <a:prstGeom prst="rect">
            <a:avLst/>
          </a:prstGeom>
          <a:solidFill>
            <a:srgbClr val="29485D"/>
          </a:solidFill>
        </p:spPr>
        <p:txBody>
          <a:bodyPr vert="horz" wrap="square" lIns="198000" tIns="158400" rIns="108000" bIns="108000" rtlCol="0" anchor="t" anchorCtr="0">
            <a:noAutofit/>
          </a:bodyPr>
          <a:lstStyle>
            <a:lvl1pPr algn="l" defTabSz="914400" rtl="0" eaLnBrk="1" latinLnBrk="0" hangingPunct="1">
              <a:lnSpc>
                <a:spcPts val="2600"/>
              </a:lnSpc>
              <a:spcBef>
                <a:spcPct val="0"/>
              </a:spcBef>
              <a:spcAft>
                <a:spcPts val="1800"/>
              </a:spcAft>
              <a:buNone/>
              <a:defRPr sz="2300" b="1" kern="600" cap="none" spc="0" baseline="0">
                <a:solidFill>
                  <a:schemeClr val="bg1"/>
                </a:solidFill>
                <a:latin typeface="+mj-lt"/>
                <a:ea typeface="+mj-ea"/>
                <a:cs typeface="+mj-cs"/>
              </a:defRPr>
            </a:lvl1pPr>
          </a:lstStyle>
          <a:p>
            <a:endParaRPr lang="en-US" dirty="0"/>
          </a:p>
        </p:txBody>
      </p:sp>
      <p:sp>
        <p:nvSpPr>
          <p:cNvPr id="18" name="Subtitle 2"/>
          <p:cNvSpPr txBox="1">
            <a:spLocks/>
          </p:cNvSpPr>
          <p:nvPr userDrawn="1"/>
        </p:nvSpPr>
        <p:spPr>
          <a:xfrm>
            <a:off x="6045987" y="4682864"/>
            <a:ext cx="5560809" cy="1280552"/>
          </a:xfrm>
          <a:prstGeom prst="rect">
            <a:avLst/>
          </a:prstGeom>
          <a:solidFill>
            <a:srgbClr val="29485D"/>
          </a:solidFill>
        </p:spPr>
        <p:txBody>
          <a:bodyPr vert="horz" lIns="187200" tIns="158400" rIns="108000" bIns="172800" rtlCol="0" anchor="b" anchorCtr="0">
            <a:noAutofit/>
          </a:bodyPr>
          <a:lstStyle>
            <a:lvl1pPr marL="0" marR="0" indent="0" algn="l" defTabSz="914400" rtl="0" eaLnBrk="1" fontAlgn="auto" latinLnBrk="0" hangingPunct="1">
              <a:lnSpc>
                <a:spcPts val="2300"/>
              </a:lnSpc>
              <a:spcBef>
                <a:spcPts val="2300"/>
              </a:spcBef>
              <a:spcAft>
                <a:spcPts val="0"/>
              </a:spcAft>
              <a:buClrTx/>
              <a:buSzTx/>
              <a:buFont typeface="Arial" panose="020B0604020202020204" pitchFamily="34" charset="0"/>
              <a:buNone/>
              <a:tabLst/>
              <a:defRPr sz="1900" b="1" i="0" kern="600" spc="190" baseline="0">
                <a:solidFill>
                  <a:schemeClr val="bg1"/>
                </a:solidFill>
                <a:latin typeface="+mn-lt"/>
                <a:ea typeface="+mn-ea"/>
                <a:cs typeface="+mn-cs"/>
              </a:defRPr>
            </a:lvl1pPr>
            <a:lvl2pPr marL="0" indent="252000" algn="l" defTabSz="914400" rtl="0" eaLnBrk="1" latinLnBrk="0" hangingPunct="1">
              <a:lnSpc>
                <a:spcPts val="1600"/>
              </a:lnSpc>
              <a:spcBef>
                <a:spcPts val="300"/>
              </a:spcBef>
              <a:spcAft>
                <a:spcPts val="0"/>
              </a:spcAft>
              <a:buSzPct val="110000"/>
              <a:buFont typeface=".SF NS Symbols Regular"/>
              <a:buChar char="↘"/>
              <a:defRPr sz="1300" i="1" kern="600" spc="40" baseline="0">
                <a:solidFill>
                  <a:schemeClr val="bg1"/>
                </a:solidFill>
                <a:latin typeface="+mn-lt"/>
                <a:ea typeface="+mn-ea"/>
                <a:cs typeface="+mn-cs"/>
              </a:defRPr>
            </a:lvl2pPr>
            <a:lvl3pPr marL="914400" indent="0" algn="ctr" defTabSz="914400" rtl="0" eaLnBrk="1" latinLnBrk="0" hangingPunct="1">
              <a:lnSpc>
                <a:spcPts val="2300"/>
              </a:lnSpc>
              <a:spcBef>
                <a:spcPts val="1150"/>
              </a:spcBef>
              <a:buFont typeface="Arial" panose="020B0604020202020204" pitchFamily="34" charset="0"/>
              <a:buNone/>
              <a:defRPr sz="1800" b="1" kern="400" spc="40" baseline="0">
                <a:solidFill>
                  <a:schemeClr val="accent3"/>
                </a:solidFill>
                <a:latin typeface="+mn-lt"/>
                <a:ea typeface="+mn-ea"/>
                <a:cs typeface="+mn-cs"/>
              </a:defRPr>
            </a:lvl3pPr>
            <a:lvl4pPr marL="1371600" indent="0" algn="ctr" defTabSz="914400" rtl="0" eaLnBrk="1" latinLnBrk="0" hangingPunct="1">
              <a:lnSpc>
                <a:spcPts val="2300"/>
              </a:lnSpc>
              <a:spcBef>
                <a:spcPts val="1150"/>
              </a:spcBef>
              <a:buFont typeface="Arial" panose="020B0604020202020204" pitchFamily="34" charset="0"/>
              <a:buNone/>
              <a:defRPr sz="1600" kern="600" spc="40" baseline="0">
                <a:solidFill>
                  <a:schemeClr val="tx1"/>
                </a:solidFill>
                <a:latin typeface="+mn-lt"/>
                <a:ea typeface="+mn-ea"/>
                <a:cs typeface="+mn-cs"/>
              </a:defRPr>
            </a:lvl4pPr>
            <a:lvl5pPr marL="1828800" indent="0" algn="ctr" defTabSz="914400" rtl="0" eaLnBrk="1" latinLnBrk="0" hangingPunct="1">
              <a:lnSpc>
                <a:spcPts val="2300"/>
              </a:lnSpc>
              <a:spcBef>
                <a:spcPts val="525"/>
              </a:spcBef>
              <a:buFont typeface="Arial" panose="020B0604020202020204" pitchFamily="34" charset="0"/>
              <a:buNone/>
              <a:defRPr sz="1600" kern="600" spc="40" baseline="0">
                <a:solidFill>
                  <a:schemeClr val="tx1"/>
                </a:solidFill>
                <a:latin typeface="+mn-lt"/>
                <a:ea typeface="+mn-ea"/>
                <a:cs typeface="+mn-cs"/>
              </a:defRPr>
            </a:lvl5pPr>
            <a:lvl6pPr marL="2286000" indent="0" algn="ctr" defTabSz="914400" rtl="0" eaLnBrk="1" latinLnBrk="0" hangingPunct="1">
              <a:lnSpc>
                <a:spcPts val="2300"/>
              </a:lnSpc>
              <a:spcBef>
                <a:spcPts val="0"/>
              </a:spcBef>
              <a:spcAft>
                <a:spcPts val="0"/>
              </a:spcAft>
              <a:buClr>
                <a:schemeClr val="tx1"/>
              </a:buClr>
              <a:buSzPct val="110000"/>
              <a:buFont typeface="Symbol" panose="05050102010706020507" pitchFamily="18" charset="2"/>
              <a:buNone/>
              <a:defRPr sz="1600" b="0" i="0" kern="600" spc="40" baseline="0">
                <a:solidFill>
                  <a:schemeClr val="tx1"/>
                </a:solidFill>
                <a:latin typeface="+mn-lt"/>
                <a:ea typeface="+mn-ea"/>
                <a:cs typeface="+mn-cs"/>
              </a:defRPr>
            </a:lvl6pPr>
            <a:lvl7pPr marL="2743200" indent="0" algn="ctr" defTabSz="914400" rtl="0" eaLnBrk="1" latinLnBrk="0" hangingPunct="1">
              <a:lnSpc>
                <a:spcPts val="2300"/>
              </a:lnSpc>
              <a:spcBef>
                <a:spcPts val="525"/>
              </a:spcBef>
              <a:spcAft>
                <a:spcPts val="0"/>
              </a:spcAft>
              <a:buClr>
                <a:schemeClr val="tx2"/>
              </a:buClr>
              <a:buFont typeface="Wingdings 3" panose="05040102010807070707" pitchFamily="18" charset="2"/>
              <a:buNone/>
              <a:defRPr sz="1600" b="0" i="1" kern="600" spc="40" baseline="0">
                <a:solidFill>
                  <a:schemeClr val="tx2"/>
                </a:solidFill>
                <a:latin typeface="+mn-lt"/>
                <a:ea typeface="+mn-ea"/>
                <a:cs typeface="+mn-cs"/>
              </a:defRPr>
            </a:lvl7pPr>
            <a:lvl8pPr marL="3200400" indent="0" algn="ctr" defTabSz="914400" rtl="0" eaLnBrk="1" latinLnBrk="0" hangingPunct="1">
              <a:lnSpc>
                <a:spcPts val="1100"/>
              </a:lnSpc>
              <a:spcBef>
                <a:spcPts val="525"/>
              </a:spcBef>
              <a:spcAft>
                <a:spcPts val="0"/>
              </a:spcAft>
              <a:buSzPct val="110000"/>
              <a:buFont typeface=".SF NS Symbols Regular"/>
              <a:buNone/>
              <a:defRPr sz="1600" b="0" i="1" kern="600" spc="120" baseline="0">
                <a:solidFill>
                  <a:schemeClr val="tx1">
                    <a:lumMod val="50000"/>
                    <a:lumOff val="50000"/>
                  </a:schemeClr>
                </a:solidFill>
                <a:latin typeface="+mn-lt"/>
                <a:ea typeface="+mn-ea"/>
                <a:cs typeface="+mn-cs"/>
              </a:defRPr>
            </a:lvl8pPr>
            <a:lvl9pPr marL="3657600" indent="0" algn="ctr" defTabSz="914400" rtl="0" eaLnBrk="1" latinLnBrk="0" hangingPunct="1">
              <a:lnSpc>
                <a:spcPts val="1100"/>
              </a:lnSpc>
              <a:spcBef>
                <a:spcPts val="525"/>
              </a:spcBef>
              <a:buFont typeface="Arial" panose="020B0604020202020204" pitchFamily="34" charset="0"/>
              <a:buNone/>
              <a:defRPr sz="1600" b="0" i="1" kern="600" spc="120" baseline="0">
                <a:solidFill>
                  <a:schemeClr val="tx1">
                    <a:lumMod val="50000"/>
                    <a:lumOff val="50000"/>
                  </a:schemeClr>
                </a:solidFill>
                <a:latin typeface="+mn-lt"/>
                <a:ea typeface="+mn-ea"/>
                <a:cs typeface="+mn-cs"/>
              </a:defRPr>
            </a:lvl9pPr>
          </a:lstStyle>
          <a:p>
            <a:endParaRPr lang="en-US" dirty="0"/>
          </a:p>
        </p:txBody>
      </p:sp>
      <p:sp>
        <p:nvSpPr>
          <p:cNvPr id="19" name="Subtitle 2"/>
          <p:cNvSpPr>
            <a:spLocks noGrp="1"/>
          </p:cNvSpPr>
          <p:nvPr>
            <p:ph type="subTitle" idx="1"/>
          </p:nvPr>
        </p:nvSpPr>
        <p:spPr>
          <a:xfrm>
            <a:off x="6172201" y="4787844"/>
            <a:ext cx="5361443" cy="1101934"/>
          </a:xfrm>
        </p:spPr>
        <p:txBody>
          <a:bodyPr anchor="ctr" anchorCtr="0"/>
          <a:lstStyle>
            <a:lvl1pPr marL="0" indent="0" algn="l">
              <a:spcBef>
                <a:spcPts val="2300"/>
              </a:spcBef>
              <a:buNone/>
              <a:defRPr sz="1900" b="0" spc="0" baseline="0">
                <a:solidFill>
                  <a:schemeClr val="bg1"/>
                </a:solidFill>
              </a:defRPr>
            </a:lvl1pPr>
            <a:lvl2pPr marL="0" indent="252000" algn="l">
              <a:lnSpc>
                <a:spcPts val="1600"/>
              </a:lnSpc>
              <a:spcBef>
                <a:spcPts val="300"/>
              </a:spcBef>
              <a:buSzPct val="110000"/>
              <a:buFont typeface=".SF NS Symbols Regular"/>
              <a:buChar char="↘"/>
              <a:defRPr sz="1300" i="1" baseline="0">
                <a:solidFill>
                  <a:schemeClr val="bg1"/>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20" name="Titel 6"/>
          <p:cNvSpPr>
            <a:spLocks noGrp="1"/>
          </p:cNvSpPr>
          <p:nvPr>
            <p:ph type="title"/>
          </p:nvPr>
        </p:nvSpPr>
        <p:spPr>
          <a:xfrm>
            <a:off x="695326" y="1891147"/>
            <a:ext cx="5350662" cy="1766455"/>
          </a:xfrm>
        </p:spPr>
        <p:txBody>
          <a:bodyPr anchor="ctr"/>
          <a:lstStyle>
            <a:lvl1pPr>
              <a:defRPr sz="2300">
                <a:solidFill>
                  <a:schemeClr val="bg1"/>
                </a:solidFill>
              </a:defRPr>
            </a:lvl1pPr>
          </a:lstStyle>
          <a:p>
            <a:r>
              <a:rPr lang="en-US" smtClean="0"/>
              <a:t>Click to edit Master title style</a:t>
            </a:r>
            <a:endParaRPr lang="de-DE" dirty="0"/>
          </a:p>
        </p:txBody>
      </p:sp>
      <p:pic>
        <p:nvPicPr>
          <p:cNvPr id="32" name="Grafik 31"/>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160395" y="4765992"/>
            <a:ext cx="1058550" cy="940958"/>
          </a:xfrm>
          <a:prstGeom prst="rect">
            <a:avLst/>
          </a:prstGeom>
        </p:spPr>
      </p:pic>
      <p:pic>
        <p:nvPicPr>
          <p:cNvPr id="33" name="Grafik 32"/>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483322" y="5232310"/>
            <a:ext cx="1851764" cy="571653"/>
          </a:xfrm>
          <a:prstGeom prst="rect">
            <a:avLst/>
          </a:prstGeom>
        </p:spPr>
      </p:pic>
      <p:pic>
        <p:nvPicPr>
          <p:cNvPr id="25" name="Grafik 24"/>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7592156" y="489668"/>
            <a:ext cx="3888000" cy="899494"/>
          </a:xfrm>
          <a:prstGeom prst="rect">
            <a:avLst/>
          </a:prstGeom>
        </p:spPr>
      </p:pic>
      <p:sp>
        <p:nvSpPr>
          <p:cNvPr id="2" name="Datumsplatzhalter 1"/>
          <p:cNvSpPr>
            <a:spLocks noGrp="1"/>
          </p:cNvSpPr>
          <p:nvPr>
            <p:ph type="dt" sz="half" idx="10"/>
          </p:nvPr>
        </p:nvSpPr>
        <p:spPr/>
        <p:txBody>
          <a:bodyPr/>
          <a:lstStyle/>
          <a:p>
            <a:r>
              <a:rPr lang="de-DE"/>
              <a:t>Short title</a:t>
            </a:r>
            <a:endParaRPr lang="de-DE" dirty="0"/>
          </a:p>
        </p:txBody>
      </p:sp>
      <p:sp>
        <p:nvSpPr>
          <p:cNvPr id="3" name="Fußzeilenplatzhalter 2"/>
          <p:cNvSpPr>
            <a:spLocks noGrp="1"/>
          </p:cNvSpPr>
          <p:nvPr>
            <p:ph type="ftr" sz="quarter" idx="11"/>
          </p:nvPr>
        </p:nvSpPr>
        <p:spPr/>
        <p:txBody>
          <a:bodyPr/>
          <a:lstStyle/>
          <a:p>
            <a:pPr algn="l">
              <a:tabLst>
                <a:tab pos="9775825" algn="r"/>
                <a:tab pos="10226675" algn="r"/>
              </a:tabLst>
            </a:pPr>
            <a:r>
              <a:rPr lang="de-DE"/>
              <a:t>Max-Planck-Institut für Plasmaphysik | Name | DD.MM.YYYY</a:t>
            </a:r>
            <a:endParaRPr lang="de-DE" dirty="0"/>
          </a:p>
        </p:txBody>
      </p:sp>
      <p:sp>
        <p:nvSpPr>
          <p:cNvPr id="4" name="Foliennummernplatzhalter 3"/>
          <p:cNvSpPr>
            <a:spLocks noGrp="1"/>
          </p:cNvSpPr>
          <p:nvPr>
            <p:ph type="sldNum" sz="quarter" idx="12"/>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3106423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3E053EA-A9E0-4FC3-87BC-5CADB14D4D06}"/>
              </a:ext>
            </a:extLst>
          </p:cNvPr>
          <p:cNvGraphicFramePr>
            <a:graphicFrameLocks noChangeAspect="1"/>
          </p:cNvGraphicFramePr>
          <p:nvPr>
            <p:custDataLst>
              <p:tags r:id="rId2"/>
            </p:custDataLst>
            <p:extLst>
              <p:ext uri="{D42A27DB-BD31-4B8C-83A1-F6EECF244321}">
                <p14:modId xmlns:p14="http://schemas.microsoft.com/office/powerpoint/2010/main" val="19411480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126" name="think-cell Folie" r:id="rId5" imgW="384" imgH="385" progId="TCLayout.ActiveDocument.1">
                  <p:embed/>
                </p:oleObj>
              </mc:Choice>
              <mc:Fallback>
                <p:oleObj name="think-cell Folie" r:id="rId5" imgW="384" imgH="38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336F15A-9D0F-40C1-A205-2471F1ECE4E2}"/>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300" b="1" i="0" baseline="0" dirty="0">
              <a:latin typeface="Arial" panose="020B0604020202020204" pitchFamily="34" charset="0"/>
              <a:ea typeface="+mj-ea"/>
              <a:cs typeface="+mj-cs"/>
              <a:sym typeface="Arial" panose="020B0604020202020204" pitchFamily="34" charset="0"/>
            </a:endParaRPr>
          </a:p>
        </p:txBody>
      </p:sp>
      <p:sp>
        <p:nvSpPr>
          <p:cNvPr id="4" name="Inhaltsplatzhalter 3"/>
          <p:cNvSpPr>
            <a:spLocks noGrp="1"/>
          </p:cNvSpPr>
          <p:nvPr>
            <p:ph sz="quarter" idx="13"/>
          </p:nvPr>
        </p:nvSpPr>
        <p:spPr>
          <a:xfrm>
            <a:off x="695326" y="1609726"/>
            <a:ext cx="10801349" cy="4772024"/>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a:p>
        </p:txBody>
      </p:sp>
      <p:sp>
        <p:nvSpPr>
          <p:cNvPr id="11" name="Titel 10"/>
          <p:cNvSpPr>
            <a:spLocks noGrp="1"/>
          </p:cNvSpPr>
          <p:nvPr>
            <p:ph type="title"/>
          </p:nvPr>
        </p:nvSpPr>
        <p:spPr>
          <a:xfrm>
            <a:off x="695326" y="441325"/>
            <a:ext cx="9576471" cy="894416"/>
          </a:xfrm>
        </p:spPr>
        <p:txBody>
          <a:bodyPr/>
          <a:lstStyle>
            <a:lvl1pPr>
              <a:defRPr/>
            </a:lvl1pPr>
          </a:lstStyle>
          <a:p>
            <a:r>
              <a:rPr lang="en-US" smtClean="0"/>
              <a:t>Click to edit Master title style</a:t>
            </a:r>
            <a:endParaRPr lang="de-DE" dirty="0"/>
          </a:p>
        </p:txBody>
      </p:sp>
      <p:sp>
        <p:nvSpPr>
          <p:cNvPr id="2" name="Datumsplatzhalter 1"/>
          <p:cNvSpPr>
            <a:spLocks noGrp="1"/>
          </p:cNvSpPr>
          <p:nvPr>
            <p:ph type="dt" sz="half" idx="14"/>
          </p:nvPr>
        </p:nvSpPr>
        <p:spPr/>
        <p:txBody>
          <a:bodyPr/>
          <a:lstStyle/>
          <a:p>
            <a:r>
              <a:rPr lang="de-DE"/>
              <a:t>Short title</a:t>
            </a:r>
            <a:endParaRPr lang="de-DE" dirty="0"/>
          </a:p>
        </p:txBody>
      </p:sp>
      <p:sp>
        <p:nvSpPr>
          <p:cNvPr id="3" name="Fußzeilenplatzhalter 2"/>
          <p:cNvSpPr>
            <a:spLocks noGrp="1"/>
          </p:cNvSpPr>
          <p:nvPr>
            <p:ph type="ftr" sz="quarter" idx="15"/>
          </p:nvPr>
        </p:nvSpPr>
        <p:spPr/>
        <p:txBody>
          <a:bodyPr/>
          <a:lstStyle/>
          <a:p>
            <a:pPr algn="l">
              <a:tabLst>
                <a:tab pos="9775825" algn="r"/>
                <a:tab pos="10226675" algn="r"/>
              </a:tabLst>
            </a:pPr>
            <a:r>
              <a:rPr lang="de-DE"/>
              <a:t>Max-Planck-Institut für Plasmaphysik | Name | DD.MM.YYYY</a:t>
            </a:r>
            <a:endParaRPr lang="de-DE" dirty="0"/>
          </a:p>
        </p:txBody>
      </p:sp>
      <p:sp>
        <p:nvSpPr>
          <p:cNvPr id="9" name="Foliennummernplatzhalter 8"/>
          <p:cNvSpPr>
            <a:spLocks noGrp="1"/>
          </p:cNvSpPr>
          <p:nvPr>
            <p:ph type="sldNum" sz="quarter" idx="16"/>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1074297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Felder (Text/Bi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434D6FFE-C346-403E-A982-395E5408109F}"/>
              </a:ext>
            </a:extLst>
          </p:cNvPr>
          <p:cNvGraphicFramePr>
            <a:graphicFrameLocks noChangeAspect="1"/>
          </p:cNvGraphicFramePr>
          <p:nvPr>
            <p:custDataLst>
              <p:tags r:id="rId2"/>
            </p:custDataLst>
            <p:extLst>
              <p:ext uri="{D42A27DB-BD31-4B8C-83A1-F6EECF244321}">
                <p14:modId xmlns:p14="http://schemas.microsoft.com/office/powerpoint/2010/main" val="11587792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150" name="think-cell Folie" r:id="rId5" imgW="384" imgH="385" progId="TCLayout.ActiveDocument.1">
                  <p:embed/>
                </p:oleObj>
              </mc:Choice>
              <mc:Fallback>
                <p:oleObj name="think-cell Folie" r:id="rId5" imgW="384" imgH="38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FC65B91-E784-4354-A701-802A4C59DD92}"/>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300" b="1" i="0" baseline="0" dirty="0">
              <a:latin typeface="Arial" panose="020B0604020202020204" pitchFamily="34" charset="0"/>
              <a:ea typeface="+mj-ea"/>
              <a:cs typeface="+mj-cs"/>
              <a:sym typeface="Arial" panose="020B0604020202020204" pitchFamily="34" charset="0"/>
            </a:endParaRPr>
          </a:p>
        </p:txBody>
      </p:sp>
      <p:sp>
        <p:nvSpPr>
          <p:cNvPr id="3" name="Content Placeholder 2"/>
          <p:cNvSpPr>
            <a:spLocks noGrp="1"/>
          </p:cNvSpPr>
          <p:nvPr>
            <p:ph sz="half" idx="1"/>
          </p:nvPr>
        </p:nvSpPr>
        <p:spPr>
          <a:xfrm>
            <a:off x="695325" y="1881188"/>
            <a:ext cx="5112414" cy="4500562"/>
          </a:xfrm>
          <a:prstGeom prst="rect">
            <a:avLst/>
          </a:prstGeom>
        </p:spPr>
        <p:txBody>
          <a:bodyPr/>
          <a:lstStyle>
            <a:lvl3pPr>
              <a:defRPr b="0">
                <a:solidFill>
                  <a:schemeClr val="tx1"/>
                </a:solidFill>
              </a:defRPr>
            </a:lvl3pPr>
            <a:lvl4pPr>
              <a:defRPr b="1">
                <a:solidFill>
                  <a:schemeClr val="tx2"/>
                </a:solidFill>
              </a:defRPr>
            </a:lvl4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84263" y="1881188"/>
            <a:ext cx="5112412" cy="4500562"/>
          </a:xfrm>
          <a:prstGeom prst="rect">
            <a:avLst/>
          </a:prstGeom>
        </p:spPr>
        <p:txBody>
          <a:bodyPr/>
          <a:lstStyle>
            <a:lvl3pPr>
              <a:defRPr b="0">
                <a:solidFill>
                  <a:schemeClr val="tx1"/>
                </a:solidFill>
              </a:defRPr>
            </a:lvl3pPr>
            <a:lvl4pPr>
              <a:defRPr b="1">
                <a:solidFill>
                  <a:schemeClr val="tx2"/>
                </a:solidFill>
              </a:defRPr>
            </a:lvl4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Titel 13"/>
          <p:cNvSpPr>
            <a:spLocks noGrp="1"/>
          </p:cNvSpPr>
          <p:nvPr>
            <p:ph type="title"/>
          </p:nvPr>
        </p:nvSpPr>
        <p:spPr/>
        <p:txBody>
          <a:bodyPr/>
          <a:lstStyle/>
          <a:p>
            <a:r>
              <a:rPr lang="en-US" smtClean="0"/>
              <a:t>Click to edit Master title style</a:t>
            </a:r>
            <a:endParaRPr lang="de-DE"/>
          </a:p>
        </p:txBody>
      </p:sp>
      <p:sp>
        <p:nvSpPr>
          <p:cNvPr id="2" name="Datumsplatzhalter 1"/>
          <p:cNvSpPr>
            <a:spLocks noGrp="1"/>
          </p:cNvSpPr>
          <p:nvPr>
            <p:ph type="dt" sz="half" idx="10"/>
          </p:nvPr>
        </p:nvSpPr>
        <p:spPr/>
        <p:txBody>
          <a:bodyPr/>
          <a:lstStyle/>
          <a:p>
            <a:r>
              <a:rPr lang="de-DE"/>
              <a:t>Short title</a:t>
            </a:r>
            <a:endParaRPr lang="de-DE" dirty="0"/>
          </a:p>
        </p:txBody>
      </p:sp>
      <p:sp>
        <p:nvSpPr>
          <p:cNvPr id="6" name="Fußzeilenplatzhalter 5"/>
          <p:cNvSpPr>
            <a:spLocks noGrp="1"/>
          </p:cNvSpPr>
          <p:nvPr>
            <p:ph type="ftr" sz="quarter" idx="11"/>
          </p:nvPr>
        </p:nvSpPr>
        <p:spPr/>
        <p:txBody>
          <a:bodyPr/>
          <a:lstStyle/>
          <a:p>
            <a:pPr algn="l">
              <a:tabLst>
                <a:tab pos="9775825" algn="r"/>
                <a:tab pos="10226675" algn="r"/>
              </a:tabLst>
            </a:pPr>
            <a:r>
              <a:rPr lang="de-DE"/>
              <a:t>Max-Planck-Institut für Plasmaphysik | Name | DD.MM.YYYY</a:t>
            </a:r>
            <a:endParaRPr lang="de-DE" dirty="0"/>
          </a:p>
        </p:txBody>
      </p:sp>
      <p:sp>
        <p:nvSpPr>
          <p:cNvPr id="8" name="Foliennummernplatzhalter 7"/>
          <p:cNvSpPr>
            <a:spLocks noGrp="1"/>
          </p:cNvSpPr>
          <p:nvPr>
            <p:ph type="sldNum" sz="quarter" idx="12"/>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2404702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nur Text ohne Titel)">
    <p:spTree>
      <p:nvGrpSpPr>
        <p:cNvPr id="1" name=""/>
        <p:cNvGrpSpPr/>
        <p:nvPr/>
      </p:nvGrpSpPr>
      <p:grpSpPr>
        <a:xfrm>
          <a:off x="0" y="0"/>
          <a:ext cx="0" cy="0"/>
          <a:chOff x="0" y="0"/>
          <a:chExt cx="0" cy="0"/>
        </a:xfrm>
      </p:grpSpPr>
      <p:sp>
        <p:nvSpPr>
          <p:cNvPr id="7" name="Inhaltsplatzhalter 6"/>
          <p:cNvSpPr>
            <a:spLocks noGrp="1"/>
          </p:cNvSpPr>
          <p:nvPr>
            <p:ph sz="quarter" idx="13" hasCustomPrompt="1"/>
          </p:nvPr>
        </p:nvSpPr>
        <p:spPr>
          <a:xfrm>
            <a:off x="695325" y="481013"/>
            <a:ext cx="10801350" cy="5900737"/>
          </a:xfrm>
        </p:spPr>
        <p:txBody>
          <a:bodyPr/>
          <a:lstStyle>
            <a:lvl1pPr>
              <a:defRPr baseline="0"/>
            </a:lvl1pPr>
          </a:lstStyle>
          <a:p>
            <a:pPr lvl="0"/>
            <a:r>
              <a:rPr lang="de-DE" dirty="0"/>
              <a:t>Slide </a:t>
            </a:r>
            <a:r>
              <a:rPr lang="de-DE" dirty="0" err="1"/>
              <a:t>without</a:t>
            </a:r>
            <a:r>
              <a:rPr lang="de-DE" dirty="0"/>
              <a:t> title (</a:t>
            </a:r>
            <a:r>
              <a:rPr lang="de-DE" dirty="0" err="1"/>
              <a:t>exception</a:t>
            </a:r>
            <a:r>
              <a:rPr lang="de-DE" dirty="0"/>
              <a:t>)</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Datumsplatzhalter 8"/>
          <p:cNvSpPr>
            <a:spLocks noGrp="1"/>
          </p:cNvSpPr>
          <p:nvPr>
            <p:ph type="dt" sz="half" idx="14"/>
          </p:nvPr>
        </p:nvSpPr>
        <p:spPr/>
        <p:txBody>
          <a:bodyPr/>
          <a:lstStyle/>
          <a:p>
            <a:r>
              <a:rPr lang="de-DE"/>
              <a:t>Short title</a:t>
            </a:r>
            <a:endParaRPr lang="de-DE" dirty="0"/>
          </a:p>
        </p:txBody>
      </p:sp>
      <p:sp>
        <p:nvSpPr>
          <p:cNvPr id="10" name="Fußzeilenplatzhalter 9"/>
          <p:cNvSpPr>
            <a:spLocks noGrp="1"/>
          </p:cNvSpPr>
          <p:nvPr>
            <p:ph type="ftr" sz="quarter" idx="15"/>
          </p:nvPr>
        </p:nvSpPr>
        <p:spPr/>
        <p:txBody>
          <a:bodyPr/>
          <a:lstStyle/>
          <a:p>
            <a:pPr algn="l">
              <a:tabLst>
                <a:tab pos="9775825" algn="r"/>
                <a:tab pos="10226675" algn="r"/>
              </a:tabLst>
            </a:pPr>
            <a:r>
              <a:rPr lang="de-DE"/>
              <a:t>Max-Planck-Institut für Plasmaphysik | Name | DD.MM.YYYY</a:t>
            </a:r>
            <a:endParaRPr lang="de-DE" dirty="0"/>
          </a:p>
        </p:txBody>
      </p:sp>
      <p:sp>
        <p:nvSpPr>
          <p:cNvPr id="11" name="Foliennummernplatzhalter 10"/>
          <p:cNvSpPr>
            <a:spLocks noGrp="1"/>
          </p:cNvSpPr>
          <p:nvPr>
            <p:ph type="sldNum" sz="quarter" idx="16"/>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2824973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5" name="Datumsplatzhalter 4"/>
          <p:cNvSpPr>
            <a:spLocks noGrp="1"/>
          </p:cNvSpPr>
          <p:nvPr>
            <p:ph type="dt" sz="half" idx="10"/>
          </p:nvPr>
        </p:nvSpPr>
        <p:spPr/>
        <p:txBody>
          <a:bodyPr/>
          <a:lstStyle/>
          <a:p>
            <a:r>
              <a:rPr lang="de-DE"/>
              <a:t>Short title</a:t>
            </a:r>
            <a:endParaRPr lang="de-DE" dirty="0"/>
          </a:p>
        </p:txBody>
      </p:sp>
      <p:sp>
        <p:nvSpPr>
          <p:cNvPr id="6" name="Fußzeilenplatzhalter 5"/>
          <p:cNvSpPr>
            <a:spLocks noGrp="1"/>
          </p:cNvSpPr>
          <p:nvPr>
            <p:ph type="ftr" sz="quarter" idx="11"/>
          </p:nvPr>
        </p:nvSpPr>
        <p:spPr/>
        <p:txBody>
          <a:bodyPr/>
          <a:lstStyle/>
          <a:p>
            <a:pPr algn="l">
              <a:tabLst>
                <a:tab pos="9775825" algn="r"/>
                <a:tab pos="10226675" algn="r"/>
              </a:tabLst>
            </a:pPr>
            <a:r>
              <a:rPr lang="de-DE"/>
              <a:t>Max-Planck-Institut für Plasmaphysik | Name | DD.MM.YYYY</a:t>
            </a:r>
            <a:endParaRPr lang="de-DE" dirty="0"/>
          </a:p>
        </p:txBody>
      </p:sp>
      <p:sp>
        <p:nvSpPr>
          <p:cNvPr id="7" name="Foliennummernplatzhalter 6"/>
          <p:cNvSpPr>
            <a:spLocks noGrp="1"/>
          </p:cNvSpPr>
          <p:nvPr>
            <p:ph type="sldNum" sz="quarter" idx="12"/>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309067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Nur Titel">
    <p:bg>
      <p:bgPr>
        <a:solidFill>
          <a:schemeClr val="bg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3E053EA-A9E0-4FC3-87BC-5CADB14D4D06}"/>
              </a:ext>
            </a:extLst>
          </p:cNvPr>
          <p:cNvGraphicFramePr>
            <a:graphicFrameLocks noChangeAspect="1"/>
          </p:cNvGraphicFramePr>
          <p:nvPr>
            <p:custDataLst>
              <p:tags r:id="rId2"/>
            </p:custDataLst>
            <p:extLst>
              <p:ext uri="{D42A27DB-BD31-4B8C-83A1-F6EECF244321}">
                <p14:modId xmlns:p14="http://schemas.microsoft.com/office/powerpoint/2010/main" val="180875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174" name="think-cell Folie" r:id="rId5" imgW="384" imgH="385" progId="TCLayout.ActiveDocument.1">
                  <p:embed/>
                </p:oleObj>
              </mc:Choice>
              <mc:Fallback>
                <p:oleObj name="think-cell Folie" r:id="rId5" imgW="384" imgH="385" progId="TCLayout.ActiveDocument.1">
                  <p:embed/>
                  <p:pic>
                    <p:nvPicPr>
                      <p:cNvPr id="6" name="Object 5" hidden="1">
                        <a:extLst>
                          <a:ext uri="{FF2B5EF4-FFF2-40B4-BE49-F238E27FC236}">
                            <a16:creationId xmlns:a16="http://schemas.microsoft.com/office/drawing/2014/main" id="{E3E053EA-A9E0-4FC3-87BC-5CADB14D4D0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336F15A-9D0F-40C1-A205-2471F1ECE4E2}"/>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300" b="1" i="0" baseline="0" dirty="0">
              <a:latin typeface="Arial" panose="020B0604020202020204" pitchFamily="34" charset="0"/>
              <a:ea typeface="+mj-ea"/>
              <a:cs typeface="+mj-cs"/>
              <a:sym typeface="Arial" panose="020B0604020202020204" pitchFamily="34" charset="0"/>
            </a:endParaRPr>
          </a:p>
        </p:txBody>
      </p:sp>
      <p:sp>
        <p:nvSpPr>
          <p:cNvPr id="9" name="Title 8">
            <a:extLst>
              <a:ext uri="{FF2B5EF4-FFF2-40B4-BE49-F238E27FC236}">
                <a16:creationId xmlns:a16="http://schemas.microsoft.com/office/drawing/2014/main" id="{F207ED94-DB68-4986-A95E-F302E26D3A38}"/>
              </a:ext>
            </a:extLst>
          </p:cNvPr>
          <p:cNvSpPr>
            <a:spLocks noGrp="1"/>
          </p:cNvSpPr>
          <p:nvPr>
            <p:ph type="title"/>
          </p:nvPr>
        </p:nvSpPr>
        <p:spPr/>
        <p:txBody>
          <a:bodyPr/>
          <a:lstStyle/>
          <a:p>
            <a:r>
              <a:rPr lang="en-US" smtClean="0"/>
              <a:t>Click to edit Master title style</a:t>
            </a:r>
            <a:endParaRPr lang="de-DE"/>
          </a:p>
        </p:txBody>
      </p:sp>
      <p:sp>
        <p:nvSpPr>
          <p:cNvPr id="4" name="Datumsplatzhalter 3"/>
          <p:cNvSpPr>
            <a:spLocks noGrp="1"/>
          </p:cNvSpPr>
          <p:nvPr>
            <p:ph type="dt" sz="half" idx="10"/>
          </p:nvPr>
        </p:nvSpPr>
        <p:spPr/>
        <p:txBody>
          <a:bodyPr/>
          <a:lstStyle/>
          <a:p>
            <a:r>
              <a:rPr lang="de-DE"/>
              <a:t>Short title</a:t>
            </a:r>
            <a:endParaRPr lang="de-DE" dirty="0"/>
          </a:p>
        </p:txBody>
      </p:sp>
      <p:sp>
        <p:nvSpPr>
          <p:cNvPr id="7" name="Fußzeilenplatzhalter 6"/>
          <p:cNvSpPr>
            <a:spLocks noGrp="1"/>
          </p:cNvSpPr>
          <p:nvPr>
            <p:ph type="ftr" sz="quarter" idx="11"/>
          </p:nvPr>
        </p:nvSpPr>
        <p:spPr/>
        <p:txBody>
          <a:bodyPr/>
          <a:lstStyle/>
          <a:p>
            <a:pPr algn="l">
              <a:tabLst>
                <a:tab pos="9775825" algn="r"/>
                <a:tab pos="10226675" algn="r"/>
              </a:tabLst>
            </a:pPr>
            <a:r>
              <a:rPr lang="de-DE"/>
              <a:t>Max-Planck-Institut für Plasmaphysik | Name | DD.MM.YYYY</a:t>
            </a:r>
            <a:endParaRPr lang="de-DE" dirty="0"/>
          </a:p>
        </p:txBody>
      </p:sp>
      <p:sp>
        <p:nvSpPr>
          <p:cNvPr id="8" name="Foliennummernplatzhalter 7"/>
          <p:cNvSpPr>
            <a:spLocks noGrp="1"/>
          </p:cNvSpPr>
          <p:nvPr>
            <p:ph type="sldNum" sz="quarter" idx="12"/>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653634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trenner">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3E053EA-A9E0-4FC3-87BC-5CADB14D4D06}"/>
              </a:ext>
            </a:extLst>
          </p:cNvPr>
          <p:cNvGraphicFramePr>
            <a:graphicFrameLocks noChangeAspect="1"/>
          </p:cNvGraphicFramePr>
          <p:nvPr>
            <p:custDataLst>
              <p:tags r:id="rId2"/>
            </p:custDataLst>
            <p:extLst>
              <p:ext uri="{D42A27DB-BD31-4B8C-83A1-F6EECF244321}">
                <p14:modId xmlns:p14="http://schemas.microsoft.com/office/powerpoint/2010/main" val="33453142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98" name="think-cell Folie" r:id="rId6" imgW="384" imgH="385" progId="TCLayout.ActiveDocument.1">
                  <p:embed/>
                </p:oleObj>
              </mc:Choice>
              <mc:Fallback>
                <p:oleObj name="think-cell Folie" r:id="rId6" imgW="384" imgH="385" progId="TCLayout.ActiveDocument.1">
                  <p:embed/>
                  <p:pic>
                    <p:nvPicPr>
                      <p:cNvPr id="6" name="Object 5" hidden="1">
                        <a:extLst>
                          <a:ext uri="{FF2B5EF4-FFF2-40B4-BE49-F238E27FC236}">
                            <a16:creationId xmlns:a16="http://schemas.microsoft.com/office/drawing/2014/main" id="{E3E053EA-A9E0-4FC3-87BC-5CADB14D4D06}"/>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336F15A-9D0F-40C1-A205-2471F1ECE4E2}"/>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300" b="1" i="0" baseline="0" dirty="0">
              <a:latin typeface="Arial" panose="020B0604020202020204" pitchFamily="34" charset="0"/>
              <a:ea typeface="+mj-ea"/>
              <a:cs typeface="+mj-cs"/>
              <a:sym typeface="Arial" panose="020B0604020202020204" pitchFamily="34" charset="0"/>
            </a:endParaRPr>
          </a:p>
        </p:txBody>
      </p:sp>
      <p:sp>
        <p:nvSpPr>
          <p:cNvPr id="11" name="Titel 10"/>
          <p:cNvSpPr>
            <a:spLocks noGrp="1"/>
          </p:cNvSpPr>
          <p:nvPr>
            <p:ph type="title"/>
          </p:nvPr>
        </p:nvSpPr>
        <p:spPr>
          <a:xfrm>
            <a:off x="695325" y="3714698"/>
            <a:ext cx="10801350" cy="2667051"/>
          </a:xfrm>
        </p:spPr>
        <p:txBody>
          <a:bodyPr/>
          <a:lstStyle/>
          <a:p>
            <a:r>
              <a:rPr lang="en-US" smtClean="0"/>
              <a:t>Click to edit Master title style</a:t>
            </a:r>
            <a:endParaRPr lang="de-DE" dirty="0"/>
          </a:p>
        </p:txBody>
      </p:sp>
      <p:sp>
        <p:nvSpPr>
          <p:cNvPr id="2" name="Datumsplatzhalter 1"/>
          <p:cNvSpPr>
            <a:spLocks noGrp="1"/>
          </p:cNvSpPr>
          <p:nvPr>
            <p:ph type="dt" sz="half" idx="10"/>
          </p:nvPr>
        </p:nvSpPr>
        <p:spPr/>
        <p:txBody>
          <a:bodyPr/>
          <a:lstStyle/>
          <a:p>
            <a:r>
              <a:rPr lang="de-DE"/>
              <a:t>Short title</a:t>
            </a:r>
            <a:endParaRPr lang="de-DE" dirty="0"/>
          </a:p>
        </p:txBody>
      </p:sp>
      <p:sp>
        <p:nvSpPr>
          <p:cNvPr id="3" name="Fußzeilenplatzhalter 2"/>
          <p:cNvSpPr>
            <a:spLocks noGrp="1"/>
          </p:cNvSpPr>
          <p:nvPr>
            <p:ph type="ftr" sz="quarter" idx="11"/>
          </p:nvPr>
        </p:nvSpPr>
        <p:spPr/>
        <p:txBody>
          <a:bodyPr/>
          <a:lstStyle/>
          <a:p>
            <a:pPr algn="l">
              <a:tabLst>
                <a:tab pos="9775825" algn="r"/>
                <a:tab pos="10226675" algn="r"/>
              </a:tabLst>
            </a:pPr>
            <a:r>
              <a:rPr lang="de-DE"/>
              <a:t>Max-Planck-Institut für Plasmaphysik | Name | DD.MM.YYYY</a:t>
            </a:r>
            <a:endParaRPr lang="de-DE" dirty="0"/>
          </a:p>
        </p:txBody>
      </p:sp>
      <p:sp>
        <p:nvSpPr>
          <p:cNvPr id="4" name="Foliennummernplatzhalter 3"/>
          <p:cNvSpPr>
            <a:spLocks noGrp="1"/>
          </p:cNvSpPr>
          <p:nvPr>
            <p:ph type="sldNum" sz="quarter" idx="12"/>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3177863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chlussfolie">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3E053EA-A9E0-4FC3-87BC-5CADB14D4D06}"/>
              </a:ext>
            </a:extLst>
          </p:cNvPr>
          <p:cNvGraphicFramePr>
            <a:graphicFrameLocks noChangeAspect="1"/>
          </p:cNvGraphicFramePr>
          <p:nvPr>
            <p:custDataLst>
              <p:tags r:id="rId2"/>
            </p:custDataLst>
            <p:extLst>
              <p:ext uri="{D42A27DB-BD31-4B8C-83A1-F6EECF244321}">
                <p14:modId xmlns:p14="http://schemas.microsoft.com/office/powerpoint/2010/main" val="12550569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222" name="think-cell Folie" r:id="rId6" imgW="384" imgH="385" progId="TCLayout.ActiveDocument.1">
                  <p:embed/>
                </p:oleObj>
              </mc:Choice>
              <mc:Fallback>
                <p:oleObj name="think-cell Folie" r:id="rId6" imgW="384" imgH="385" progId="TCLayout.ActiveDocument.1">
                  <p:embed/>
                  <p:pic>
                    <p:nvPicPr>
                      <p:cNvPr id="6" name="Object 5" hidden="1">
                        <a:extLst>
                          <a:ext uri="{FF2B5EF4-FFF2-40B4-BE49-F238E27FC236}">
                            <a16:creationId xmlns:a16="http://schemas.microsoft.com/office/drawing/2014/main" id="{E3E053EA-A9E0-4FC3-87BC-5CADB14D4D06}"/>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336F15A-9D0F-40C1-A205-2471F1ECE4E2}"/>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300" b="1" i="0" baseline="0" dirty="0">
              <a:latin typeface="Arial" panose="020B0604020202020204" pitchFamily="34" charset="0"/>
              <a:ea typeface="+mj-ea"/>
              <a:cs typeface="+mj-cs"/>
              <a:sym typeface="Arial" panose="020B0604020202020204" pitchFamily="34" charset="0"/>
            </a:endParaRPr>
          </a:p>
        </p:txBody>
      </p:sp>
      <p:sp>
        <p:nvSpPr>
          <p:cNvPr id="4" name="Inhaltsplatzhalter 3"/>
          <p:cNvSpPr>
            <a:spLocks noGrp="1"/>
          </p:cNvSpPr>
          <p:nvPr>
            <p:ph sz="quarter" idx="13"/>
          </p:nvPr>
        </p:nvSpPr>
        <p:spPr>
          <a:xfrm>
            <a:off x="695325" y="1881188"/>
            <a:ext cx="10472102" cy="4500561"/>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a:p>
        </p:txBody>
      </p:sp>
      <p:sp>
        <p:nvSpPr>
          <p:cNvPr id="11" name="Titel 10"/>
          <p:cNvSpPr>
            <a:spLocks noGrp="1"/>
          </p:cNvSpPr>
          <p:nvPr>
            <p:ph type="title"/>
          </p:nvPr>
        </p:nvSpPr>
        <p:spPr/>
        <p:txBody>
          <a:bodyPr/>
          <a:lstStyle/>
          <a:p>
            <a:r>
              <a:rPr lang="en-US" smtClean="0"/>
              <a:t>Click to edit Master title style</a:t>
            </a:r>
            <a:endParaRPr lang="de-DE" dirty="0"/>
          </a:p>
        </p:txBody>
      </p:sp>
      <p:sp>
        <p:nvSpPr>
          <p:cNvPr id="2" name="Datumsplatzhalter 1"/>
          <p:cNvSpPr>
            <a:spLocks noGrp="1"/>
          </p:cNvSpPr>
          <p:nvPr>
            <p:ph type="dt" sz="half" idx="14"/>
          </p:nvPr>
        </p:nvSpPr>
        <p:spPr/>
        <p:txBody>
          <a:bodyPr/>
          <a:lstStyle/>
          <a:p>
            <a:r>
              <a:rPr lang="de-DE"/>
              <a:t>Short title</a:t>
            </a:r>
            <a:endParaRPr lang="de-DE" dirty="0"/>
          </a:p>
        </p:txBody>
      </p:sp>
      <p:sp>
        <p:nvSpPr>
          <p:cNvPr id="3" name="Fußzeilenplatzhalter 2"/>
          <p:cNvSpPr>
            <a:spLocks noGrp="1"/>
          </p:cNvSpPr>
          <p:nvPr>
            <p:ph type="ftr" sz="quarter" idx="15"/>
          </p:nvPr>
        </p:nvSpPr>
        <p:spPr/>
        <p:txBody>
          <a:bodyPr/>
          <a:lstStyle/>
          <a:p>
            <a:pPr algn="l">
              <a:tabLst>
                <a:tab pos="9775825" algn="r"/>
                <a:tab pos="10226675" algn="r"/>
              </a:tabLst>
            </a:pPr>
            <a:r>
              <a:rPr lang="de-DE"/>
              <a:t>Max-Planck-Institut für Plasmaphysik | Name | DD.MM.YYYY</a:t>
            </a:r>
            <a:endParaRPr lang="de-DE" dirty="0"/>
          </a:p>
        </p:txBody>
      </p:sp>
      <p:sp>
        <p:nvSpPr>
          <p:cNvPr id="9" name="Foliennummernplatzhalter 8"/>
          <p:cNvSpPr>
            <a:spLocks noGrp="1"/>
          </p:cNvSpPr>
          <p:nvPr>
            <p:ph type="sldNum" sz="quarter" idx="16"/>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2829753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W7-X EUROf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Rechteck 22"/>
          <p:cNvSpPr/>
          <p:nvPr userDrawn="1"/>
        </p:nvSpPr>
        <p:spPr>
          <a:xfrm>
            <a:off x="1034980" y="2029867"/>
            <a:ext cx="10132448" cy="3755339"/>
          </a:xfrm>
          <a:prstGeom prst="rect">
            <a:avLst/>
          </a:prstGeom>
          <a:solidFill>
            <a:srgbClr val="006C66"/>
          </a:solidFill>
          <a:ln w="19050" cmpd="sng">
            <a:noFill/>
            <a:prstDash val="dash"/>
            <a:tailEnd type="triangle" w="lg" len="med"/>
          </a:ln>
        </p:spPr>
        <p:style>
          <a:lnRef idx="1">
            <a:schemeClr val="accent1"/>
          </a:lnRef>
          <a:fillRef idx="0">
            <a:schemeClr val="accent1"/>
          </a:fillRef>
          <a:effectRef idx="0">
            <a:schemeClr val="accent1"/>
          </a:effectRef>
          <a:fontRef idx="minor">
            <a:schemeClr val="tx1"/>
          </a:fontRef>
        </p:style>
        <p:txBody>
          <a:bodyPr wrap="square" lIns="144000" tIns="108000" rIns="144000" bIns="144000" rtlCol="0" anchor="t" anchorCtr="0"/>
          <a:lstStyle/>
          <a:p>
            <a:pPr algn="l">
              <a:spcBef>
                <a:spcPts val="1150"/>
              </a:spcBef>
              <a:buClr>
                <a:srgbClr val="116656"/>
              </a:buClr>
              <a:buSzPct val="120000"/>
            </a:pPr>
            <a:endParaRPr lang="de-DE" sz="1300" b="1" dirty="0">
              <a:solidFill>
                <a:schemeClr val="bg1"/>
              </a:solidFill>
            </a:endParaRPr>
          </a:p>
        </p:txBody>
      </p:sp>
      <p:grpSp>
        <p:nvGrpSpPr>
          <p:cNvPr id="26" name="Gruppieren 25"/>
          <p:cNvGrpSpPr/>
          <p:nvPr userDrawn="1"/>
        </p:nvGrpSpPr>
        <p:grpSpPr>
          <a:xfrm>
            <a:off x="1053474" y="5908637"/>
            <a:ext cx="10113954" cy="566770"/>
            <a:chOff x="515924" y="5792918"/>
            <a:chExt cx="9461999" cy="566770"/>
          </a:xfrm>
        </p:grpSpPr>
        <p:pic>
          <p:nvPicPr>
            <p:cNvPr id="27" name="Grafik 2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15924" y="5834863"/>
              <a:ext cx="442931" cy="315747"/>
            </a:xfrm>
            <a:prstGeom prst="rect">
              <a:avLst/>
            </a:prstGeom>
          </p:spPr>
        </p:pic>
        <p:sp>
          <p:nvSpPr>
            <p:cNvPr id="28" name="Subtitle 2"/>
            <p:cNvSpPr txBox="1">
              <a:spLocks/>
            </p:cNvSpPr>
            <p:nvPr userDrawn="1"/>
          </p:nvSpPr>
          <p:spPr>
            <a:xfrm>
              <a:off x="1036319" y="5792918"/>
              <a:ext cx="8941604" cy="566770"/>
            </a:xfrm>
            <a:prstGeom prst="rect">
              <a:avLst/>
            </a:prstGeom>
          </p:spPr>
          <p:txBody>
            <a:bodyPr lIns="0" r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800" dirty="0"/>
                <a:t>This work has been carried out within the framework of the EUROfusion Consortium, funded by the European Union via the </a:t>
              </a:r>
              <a:r>
                <a:rPr lang="en-US" sz="800" dirty="0" err="1"/>
                <a:t>Euratom</a:t>
              </a:r>
              <a:r>
                <a:rPr lang="en-US" sz="800" dirty="0"/>
                <a:t> Research and Training </a:t>
              </a:r>
              <a:r>
                <a:rPr lang="en-US" sz="800" dirty="0" err="1"/>
                <a:t>Programme</a:t>
              </a:r>
              <a:r>
                <a:rPr lang="en-US" sz="800" dirty="0"/>
                <a:t> (Grant Agreement No 101052200 — EUROfusion). Views and opinions expressed are however those of the author(s) only and do not necessarily reflect those of the European Union or the European Commission. Neither the European Union nor the European Commission can be held responsible for them.</a:t>
              </a:r>
              <a:endParaRPr lang="en-US" sz="800" dirty="0">
                <a:latin typeface="Arial Narrow" panose="020B0606020202030204" pitchFamily="34" charset="0"/>
              </a:endParaRPr>
            </a:p>
          </p:txBody>
        </p:sp>
      </p:grpSp>
      <p:sp>
        <p:nvSpPr>
          <p:cNvPr id="15" name="Subtitle 2"/>
          <p:cNvSpPr>
            <a:spLocks noGrp="1"/>
          </p:cNvSpPr>
          <p:nvPr>
            <p:ph type="subTitle" idx="1"/>
          </p:nvPr>
        </p:nvSpPr>
        <p:spPr>
          <a:xfrm>
            <a:off x="1145512" y="3743999"/>
            <a:ext cx="7811452" cy="1983213"/>
          </a:xfrm>
        </p:spPr>
        <p:txBody>
          <a:bodyPr anchor="b" anchorCtr="0"/>
          <a:lstStyle>
            <a:lvl1pPr marL="0" indent="0" algn="l">
              <a:spcBef>
                <a:spcPts val="2300"/>
              </a:spcBef>
              <a:buNone/>
              <a:defRPr sz="1900" b="0" spc="0" baseline="0">
                <a:solidFill>
                  <a:schemeClr val="bg1"/>
                </a:solidFill>
              </a:defRPr>
            </a:lvl1pPr>
            <a:lvl2pPr marL="0" indent="252000" algn="l">
              <a:lnSpc>
                <a:spcPts val="1600"/>
              </a:lnSpc>
              <a:spcBef>
                <a:spcPts val="300"/>
              </a:spcBef>
              <a:buSzPct val="110000"/>
              <a:buFont typeface=".SF NS Symbols Regular"/>
              <a:buChar char="↘"/>
              <a:defRPr sz="1300" i="1" baseline="0">
                <a:solidFill>
                  <a:schemeClr val="bg1"/>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endParaRPr lang="en-US" dirty="0"/>
          </a:p>
        </p:txBody>
      </p:sp>
      <p:pic>
        <p:nvPicPr>
          <p:cNvPr id="16" name="Grafik 15"/>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397688" y="5237015"/>
            <a:ext cx="1700546" cy="524971"/>
          </a:xfrm>
          <a:prstGeom prst="rect">
            <a:avLst/>
          </a:prstGeom>
        </p:spPr>
      </p:pic>
      <p:sp>
        <p:nvSpPr>
          <p:cNvPr id="2" name="Titel 1"/>
          <p:cNvSpPr>
            <a:spLocks noGrp="1"/>
          </p:cNvSpPr>
          <p:nvPr>
            <p:ph type="title"/>
          </p:nvPr>
        </p:nvSpPr>
        <p:spPr>
          <a:xfrm>
            <a:off x="1145512" y="2172779"/>
            <a:ext cx="7811452" cy="2160229"/>
          </a:xfrm>
        </p:spPr>
        <p:txBody>
          <a:bodyPr/>
          <a:lstStyle>
            <a:lvl1pPr>
              <a:defRPr sz="2400">
                <a:solidFill>
                  <a:schemeClr val="bg1"/>
                </a:solidFill>
              </a:defRPr>
            </a:lvl1pPr>
          </a:lstStyle>
          <a:p>
            <a:r>
              <a:rPr lang="de-DE"/>
              <a:t>Titelmasterformat durch Klicken bearbeiten</a:t>
            </a:r>
            <a:endParaRPr lang="de-DE" dirty="0"/>
          </a:p>
        </p:txBody>
      </p:sp>
      <p:sp>
        <p:nvSpPr>
          <p:cNvPr id="3" name="Datumsplatzhalter 2"/>
          <p:cNvSpPr>
            <a:spLocks noGrp="1"/>
          </p:cNvSpPr>
          <p:nvPr>
            <p:ph type="dt" sz="half" idx="10"/>
          </p:nvPr>
        </p:nvSpPr>
        <p:spPr/>
        <p:txBody>
          <a:bodyPr/>
          <a:lstStyle/>
          <a:p>
            <a:r>
              <a:rPr lang="de-DE"/>
              <a:t>Short title</a:t>
            </a:r>
            <a:endParaRPr lang="de-DE" dirty="0"/>
          </a:p>
        </p:txBody>
      </p:sp>
      <p:sp>
        <p:nvSpPr>
          <p:cNvPr id="4" name="Fußzeilenplatzhalter 3"/>
          <p:cNvSpPr>
            <a:spLocks noGrp="1"/>
          </p:cNvSpPr>
          <p:nvPr>
            <p:ph type="ftr" sz="quarter" idx="11"/>
          </p:nvPr>
        </p:nvSpPr>
        <p:spPr/>
        <p:txBody>
          <a:bodyPr/>
          <a:lstStyle/>
          <a:p>
            <a:pPr algn="l">
              <a:tabLst>
                <a:tab pos="9775825" algn="r"/>
                <a:tab pos="10226675" algn="r"/>
              </a:tabLst>
            </a:pPr>
            <a:r>
              <a:rPr lang="de-DE"/>
              <a:t>Max-Planck-Institut für Plasmaphysik | Name | DD.MM.YYYY</a:t>
            </a:r>
            <a:endParaRPr lang="de-DE" dirty="0"/>
          </a:p>
        </p:txBody>
      </p:sp>
      <p:sp>
        <p:nvSpPr>
          <p:cNvPr id="5" name="Foliennummernplatzhalter 4"/>
          <p:cNvSpPr>
            <a:spLocks noGrp="1"/>
          </p:cNvSpPr>
          <p:nvPr>
            <p:ph type="sldNum" sz="quarter" idx="12"/>
          </p:nvPr>
        </p:nvSpPr>
        <p:spPr/>
        <p:txBody>
          <a:bodyPr/>
          <a:lstStyle/>
          <a:p>
            <a:fld id="{3B1A4699-952B-42DA-8DC4-38A59B49610C}" type="slidenum">
              <a:rPr lang="de-DE" smtClean="0"/>
              <a:pPr/>
              <a:t>‹Nr.›</a:t>
            </a:fld>
            <a:endParaRPr lang="de-DE" dirty="0"/>
          </a:p>
        </p:txBody>
      </p:sp>
      <p:pic>
        <p:nvPicPr>
          <p:cNvPr id="22" name="Grafik 21"/>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7592156" y="489668"/>
            <a:ext cx="3888000" cy="899494"/>
          </a:xfrm>
          <a:prstGeom prst="rect">
            <a:avLst/>
          </a:prstGeom>
        </p:spPr>
      </p:pic>
    </p:spTree>
    <p:extLst>
      <p:ext uri="{BB962C8B-B14F-4D97-AF65-F5344CB8AC3E}">
        <p14:creationId xmlns:p14="http://schemas.microsoft.com/office/powerpoint/2010/main" val="2309272461"/>
      </p:ext>
    </p:extLst>
  </p:cSld>
  <p:clrMapOvr>
    <a:masterClrMapping/>
  </p:clrMapOvr>
  <p:extLst>
    <p:ext uri="{DCECCB84-F9BA-43D5-87BE-67443E8EF086}">
      <p15:sldGuideLst xmlns:p15="http://schemas.microsoft.com/office/powerpoint/2012/main">
        <p15:guide id="1" pos="653">
          <p15:clr>
            <a:srgbClr val="FBAE40"/>
          </p15:clr>
        </p15:guide>
        <p15:guide id="2" pos="39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W7-X">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Rechteck 22"/>
          <p:cNvSpPr/>
          <p:nvPr userDrawn="1"/>
        </p:nvSpPr>
        <p:spPr>
          <a:xfrm>
            <a:off x="1034980" y="2029867"/>
            <a:ext cx="10132448" cy="4109676"/>
          </a:xfrm>
          <a:prstGeom prst="rect">
            <a:avLst/>
          </a:prstGeom>
          <a:solidFill>
            <a:srgbClr val="006C66"/>
          </a:solidFill>
          <a:ln w="19050" cmpd="sng">
            <a:noFill/>
            <a:prstDash val="dash"/>
            <a:tailEnd type="triangle" w="lg" len="med"/>
          </a:ln>
        </p:spPr>
        <p:style>
          <a:lnRef idx="1">
            <a:schemeClr val="accent1"/>
          </a:lnRef>
          <a:fillRef idx="0">
            <a:schemeClr val="accent1"/>
          </a:fillRef>
          <a:effectRef idx="0">
            <a:schemeClr val="accent1"/>
          </a:effectRef>
          <a:fontRef idx="minor">
            <a:schemeClr val="tx1"/>
          </a:fontRef>
        </p:style>
        <p:txBody>
          <a:bodyPr wrap="square" lIns="144000" tIns="108000" rIns="144000" bIns="144000" rtlCol="0" anchor="t" anchorCtr="0"/>
          <a:lstStyle/>
          <a:p>
            <a:pPr algn="l">
              <a:spcBef>
                <a:spcPts val="1150"/>
              </a:spcBef>
              <a:buClr>
                <a:srgbClr val="116656"/>
              </a:buClr>
              <a:buSzPct val="120000"/>
            </a:pPr>
            <a:endParaRPr lang="de-DE" sz="1300" b="1" dirty="0">
              <a:solidFill>
                <a:schemeClr val="bg1"/>
              </a:solidFill>
            </a:endParaRPr>
          </a:p>
        </p:txBody>
      </p:sp>
      <p:sp>
        <p:nvSpPr>
          <p:cNvPr id="25" name="Subtitle 2"/>
          <p:cNvSpPr>
            <a:spLocks noGrp="1"/>
          </p:cNvSpPr>
          <p:nvPr>
            <p:ph type="subTitle" idx="1"/>
          </p:nvPr>
        </p:nvSpPr>
        <p:spPr>
          <a:xfrm>
            <a:off x="1145512" y="3743999"/>
            <a:ext cx="7832233" cy="2274963"/>
          </a:xfrm>
        </p:spPr>
        <p:txBody>
          <a:bodyPr anchor="b" anchorCtr="0"/>
          <a:lstStyle>
            <a:lvl1pPr marL="0" indent="0" algn="l">
              <a:spcBef>
                <a:spcPts val="2300"/>
              </a:spcBef>
              <a:buNone/>
              <a:defRPr sz="1900" b="0" spc="0" baseline="0">
                <a:solidFill>
                  <a:schemeClr val="bg1"/>
                </a:solidFill>
              </a:defRPr>
            </a:lvl1pPr>
            <a:lvl2pPr marL="0" indent="252000" algn="l">
              <a:lnSpc>
                <a:spcPts val="1600"/>
              </a:lnSpc>
              <a:spcBef>
                <a:spcPts val="300"/>
              </a:spcBef>
              <a:buSzPct val="110000"/>
              <a:buFont typeface=".SF NS Symbols Regular"/>
              <a:buChar char="↘"/>
              <a:defRPr sz="1300" i="1" baseline="0">
                <a:solidFill>
                  <a:schemeClr val="bg1"/>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endParaRPr lang="en-US" dirty="0"/>
          </a:p>
        </p:txBody>
      </p:sp>
      <p:pic>
        <p:nvPicPr>
          <p:cNvPr id="29" name="Grafik 2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397688" y="5559136"/>
            <a:ext cx="1700546" cy="524971"/>
          </a:xfrm>
          <a:prstGeom prst="rect">
            <a:avLst/>
          </a:prstGeom>
        </p:spPr>
      </p:pic>
      <p:sp>
        <p:nvSpPr>
          <p:cNvPr id="5" name="Titel 4"/>
          <p:cNvSpPr>
            <a:spLocks noGrp="1"/>
          </p:cNvSpPr>
          <p:nvPr>
            <p:ph type="title"/>
          </p:nvPr>
        </p:nvSpPr>
        <p:spPr>
          <a:xfrm>
            <a:off x="1145838" y="2145471"/>
            <a:ext cx="7831907" cy="2094020"/>
          </a:xfrm>
        </p:spPr>
        <p:txBody>
          <a:bodyPr/>
          <a:lstStyle>
            <a:lvl1pPr>
              <a:defRPr sz="2400">
                <a:solidFill>
                  <a:schemeClr val="bg1"/>
                </a:solidFill>
              </a:defRPr>
            </a:lvl1pPr>
          </a:lstStyle>
          <a:p>
            <a:r>
              <a:rPr lang="de-DE"/>
              <a:t>Titelmasterformat durch Klicken bearbeiten</a:t>
            </a:r>
            <a:endParaRPr lang="de-DE" dirty="0"/>
          </a:p>
        </p:txBody>
      </p:sp>
      <p:sp>
        <p:nvSpPr>
          <p:cNvPr id="12" name="Datumsplatzhalter 11"/>
          <p:cNvSpPr>
            <a:spLocks noGrp="1"/>
          </p:cNvSpPr>
          <p:nvPr>
            <p:ph type="dt" sz="half" idx="10"/>
          </p:nvPr>
        </p:nvSpPr>
        <p:spPr/>
        <p:txBody>
          <a:bodyPr/>
          <a:lstStyle/>
          <a:p>
            <a:r>
              <a:rPr lang="de-DE"/>
              <a:t>Short title</a:t>
            </a:r>
            <a:endParaRPr lang="de-DE" dirty="0"/>
          </a:p>
        </p:txBody>
      </p:sp>
      <p:sp>
        <p:nvSpPr>
          <p:cNvPr id="13" name="Fußzeilenplatzhalter 12"/>
          <p:cNvSpPr>
            <a:spLocks noGrp="1"/>
          </p:cNvSpPr>
          <p:nvPr>
            <p:ph type="ftr" sz="quarter" idx="11"/>
          </p:nvPr>
        </p:nvSpPr>
        <p:spPr/>
        <p:txBody>
          <a:bodyPr/>
          <a:lstStyle/>
          <a:p>
            <a:pPr algn="l">
              <a:tabLst>
                <a:tab pos="9775825" algn="r"/>
                <a:tab pos="10226675" algn="r"/>
              </a:tabLst>
            </a:pPr>
            <a:r>
              <a:rPr lang="de-DE"/>
              <a:t>Max-Planck-Institut für Plasmaphysik | Name | DD.MM.YYYY</a:t>
            </a:r>
            <a:endParaRPr lang="de-DE" dirty="0"/>
          </a:p>
        </p:txBody>
      </p:sp>
      <p:sp>
        <p:nvSpPr>
          <p:cNvPr id="14" name="Foliennummernplatzhalter 13"/>
          <p:cNvSpPr>
            <a:spLocks noGrp="1"/>
          </p:cNvSpPr>
          <p:nvPr>
            <p:ph type="sldNum" sz="quarter" idx="12"/>
          </p:nvPr>
        </p:nvSpPr>
        <p:spPr/>
        <p:txBody>
          <a:bodyPr/>
          <a:lstStyle/>
          <a:p>
            <a:fld id="{3B1A4699-952B-42DA-8DC4-38A59B49610C}" type="slidenum">
              <a:rPr lang="de-DE" smtClean="0"/>
              <a:pPr/>
              <a:t>‹Nr.›</a:t>
            </a:fld>
            <a:endParaRPr lang="de-DE" dirty="0"/>
          </a:p>
        </p:txBody>
      </p:sp>
      <p:pic>
        <p:nvPicPr>
          <p:cNvPr id="26" name="Grafik 25"/>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592156" y="489668"/>
            <a:ext cx="3888000" cy="899494"/>
          </a:xfrm>
          <a:prstGeom prst="rect">
            <a:avLst/>
          </a:prstGeom>
        </p:spPr>
      </p:pic>
    </p:spTree>
    <p:extLst>
      <p:ext uri="{BB962C8B-B14F-4D97-AF65-F5344CB8AC3E}">
        <p14:creationId xmlns:p14="http://schemas.microsoft.com/office/powerpoint/2010/main" val="323952926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3E053EA-A9E0-4FC3-87BC-5CADB14D4D06}"/>
              </a:ext>
            </a:extLst>
          </p:cNvPr>
          <p:cNvGraphicFramePr>
            <a:graphicFrameLocks noChangeAspect="1"/>
          </p:cNvGraphicFramePr>
          <p:nvPr>
            <p:custDataLst>
              <p:tags r:id="rId2"/>
            </p:custDataLst>
            <p:extLst>
              <p:ext uri="{D42A27DB-BD31-4B8C-83A1-F6EECF244321}">
                <p14:modId xmlns:p14="http://schemas.microsoft.com/office/powerpoint/2010/main" val="3252753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70" name="think-cell Folie" r:id="rId5" imgW="384" imgH="385" progId="TCLayout.ActiveDocument.1">
                  <p:embed/>
                </p:oleObj>
              </mc:Choice>
              <mc:Fallback>
                <p:oleObj name="think-cell Folie" r:id="rId5" imgW="384" imgH="385" progId="TCLayout.ActiveDocument.1">
                  <p:embed/>
                  <p:pic>
                    <p:nvPicPr>
                      <p:cNvPr id="6" name="Object 5" hidden="1">
                        <a:extLst>
                          <a:ext uri="{FF2B5EF4-FFF2-40B4-BE49-F238E27FC236}">
                            <a16:creationId xmlns:a16="http://schemas.microsoft.com/office/drawing/2014/main" id="{E3E053EA-A9E0-4FC3-87BC-5CADB14D4D0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336F15A-9D0F-40C1-A205-2471F1ECE4E2}"/>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300" b="1" i="0" baseline="0" dirty="0">
              <a:latin typeface="Arial" panose="020B0604020202020204" pitchFamily="34" charset="0"/>
              <a:ea typeface="+mj-ea"/>
              <a:cs typeface="+mj-cs"/>
              <a:sym typeface="Arial" panose="020B0604020202020204" pitchFamily="34" charset="0"/>
            </a:endParaRPr>
          </a:p>
        </p:txBody>
      </p:sp>
      <p:sp>
        <p:nvSpPr>
          <p:cNvPr id="4" name="Inhaltsplatzhalter 3"/>
          <p:cNvSpPr>
            <a:spLocks noGrp="1"/>
          </p:cNvSpPr>
          <p:nvPr>
            <p:ph sz="quarter" idx="13"/>
          </p:nvPr>
        </p:nvSpPr>
        <p:spPr>
          <a:xfrm>
            <a:off x="695326" y="1609726"/>
            <a:ext cx="10801349" cy="4772024"/>
          </a:xfrm>
          <a:prstGeom prst="rect">
            <a:avLst/>
          </a:prstGeo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1" name="Titel 10"/>
          <p:cNvSpPr>
            <a:spLocks noGrp="1"/>
          </p:cNvSpPr>
          <p:nvPr>
            <p:ph type="title"/>
          </p:nvPr>
        </p:nvSpPr>
        <p:spPr>
          <a:xfrm>
            <a:off x="695326" y="441325"/>
            <a:ext cx="9576471" cy="894416"/>
          </a:xfrm>
        </p:spPr>
        <p:txBody>
          <a:bodyPr/>
          <a:lstStyle>
            <a:lvl1pPr>
              <a:defRPr/>
            </a:lvl1pPr>
          </a:lstStyle>
          <a:p>
            <a:r>
              <a:rPr lang="de-DE"/>
              <a:t>Titelmasterformat durch Klicken bearbeiten</a:t>
            </a:r>
            <a:endParaRPr lang="de-DE" dirty="0"/>
          </a:p>
        </p:txBody>
      </p:sp>
      <p:sp>
        <p:nvSpPr>
          <p:cNvPr id="2" name="Datumsplatzhalter 1"/>
          <p:cNvSpPr>
            <a:spLocks noGrp="1"/>
          </p:cNvSpPr>
          <p:nvPr>
            <p:ph type="dt" sz="half" idx="14"/>
          </p:nvPr>
        </p:nvSpPr>
        <p:spPr/>
        <p:txBody>
          <a:bodyPr/>
          <a:lstStyle/>
          <a:p>
            <a:r>
              <a:rPr lang="de-DE"/>
              <a:t>Short title</a:t>
            </a:r>
            <a:endParaRPr lang="de-DE" dirty="0"/>
          </a:p>
        </p:txBody>
      </p:sp>
      <p:sp>
        <p:nvSpPr>
          <p:cNvPr id="3" name="Fußzeilenplatzhalter 2"/>
          <p:cNvSpPr>
            <a:spLocks noGrp="1"/>
          </p:cNvSpPr>
          <p:nvPr>
            <p:ph type="ftr" sz="quarter" idx="15"/>
          </p:nvPr>
        </p:nvSpPr>
        <p:spPr/>
        <p:txBody>
          <a:bodyPr/>
          <a:lstStyle/>
          <a:p>
            <a:pPr algn="l">
              <a:tabLst>
                <a:tab pos="9775825" algn="r"/>
                <a:tab pos="10226675" algn="r"/>
              </a:tabLst>
            </a:pPr>
            <a:r>
              <a:rPr lang="de-DE"/>
              <a:t>Max-Planck-Institut für Plasmaphysik | Name | DD.MM.YYYY</a:t>
            </a:r>
            <a:endParaRPr lang="de-DE" dirty="0"/>
          </a:p>
        </p:txBody>
      </p:sp>
      <p:sp>
        <p:nvSpPr>
          <p:cNvPr id="9" name="Foliennummernplatzhalter 8"/>
          <p:cNvSpPr>
            <a:spLocks noGrp="1"/>
          </p:cNvSpPr>
          <p:nvPr>
            <p:ph type="sldNum" sz="quarter" idx="16"/>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2037685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Felder (Text/Bi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434D6FFE-C346-403E-A982-395E5408109F}"/>
              </a:ext>
            </a:extLst>
          </p:cNvPr>
          <p:cNvGraphicFramePr>
            <a:graphicFrameLocks noChangeAspect="1"/>
          </p:cNvGraphicFramePr>
          <p:nvPr>
            <p:custDataLst>
              <p:tags r:id="rId2"/>
            </p:custDataLst>
            <p:extLst>
              <p:ext uri="{D42A27DB-BD31-4B8C-83A1-F6EECF244321}">
                <p14:modId xmlns:p14="http://schemas.microsoft.com/office/powerpoint/2010/main" val="16294895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294" name="think-cell Folie" r:id="rId5" imgW="384" imgH="385" progId="TCLayout.ActiveDocument.1">
                  <p:embed/>
                </p:oleObj>
              </mc:Choice>
              <mc:Fallback>
                <p:oleObj name="think-cell Folie" r:id="rId5" imgW="384" imgH="385" progId="TCLayout.ActiveDocument.1">
                  <p:embed/>
                  <p:pic>
                    <p:nvPicPr>
                      <p:cNvPr id="7" name="Object 6" hidden="1">
                        <a:extLst>
                          <a:ext uri="{FF2B5EF4-FFF2-40B4-BE49-F238E27FC236}">
                            <a16:creationId xmlns:a16="http://schemas.microsoft.com/office/drawing/2014/main" id="{434D6FFE-C346-403E-A982-395E5408109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FC65B91-E784-4354-A701-802A4C59DD92}"/>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300" b="1" i="0" baseline="0" dirty="0">
              <a:latin typeface="Arial" panose="020B0604020202020204" pitchFamily="34" charset="0"/>
              <a:ea typeface="+mj-ea"/>
              <a:cs typeface="+mj-cs"/>
              <a:sym typeface="Arial" panose="020B0604020202020204" pitchFamily="34" charset="0"/>
            </a:endParaRPr>
          </a:p>
        </p:txBody>
      </p:sp>
      <p:sp>
        <p:nvSpPr>
          <p:cNvPr id="3" name="Content Placeholder 2"/>
          <p:cNvSpPr>
            <a:spLocks noGrp="1"/>
          </p:cNvSpPr>
          <p:nvPr>
            <p:ph sz="half" idx="1"/>
          </p:nvPr>
        </p:nvSpPr>
        <p:spPr>
          <a:xfrm>
            <a:off x="695325" y="1881188"/>
            <a:ext cx="5112414" cy="4500562"/>
          </a:xfrm>
          <a:prstGeom prst="rect">
            <a:avLst/>
          </a:prstGeom>
        </p:spPr>
        <p:txBody>
          <a:bodyPr/>
          <a:lstStyle>
            <a:lvl3pPr>
              <a:defRPr b="0">
                <a:solidFill>
                  <a:schemeClr val="tx1"/>
                </a:solidFill>
              </a:defRPr>
            </a:lvl3pPr>
            <a:lvl4pPr>
              <a:defRPr b="1">
                <a:solidFill>
                  <a:schemeClr val="tx2"/>
                </a:solidFill>
              </a:defRPr>
            </a:lvl4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6384263" y="1881188"/>
            <a:ext cx="5112412" cy="4500562"/>
          </a:xfrm>
          <a:prstGeom prst="rect">
            <a:avLst/>
          </a:prstGeom>
        </p:spPr>
        <p:txBody>
          <a:bodyPr/>
          <a:lstStyle>
            <a:lvl3pPr>
              <a:defRPr b="0">
                <a:solidFill>
                  <a:schemeClr val="tx1"/>
                </a:solidFill>
              </a:defRPr>
            </a:lvl3pPr>
            <a:lvl4pPr>
              <a:defRPr b="1">
                <a:solidFill>
                  <a:schemeClr val="tx2"/>
                </a:solidFill>
              </a:defRPr>
            </a:lvl4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4" name="Titel 13"/>
          <p:cNvSpPr>
            <a:spLocks noGrp="1"/>
          </p:cNvSpPr>
          <p:nvPr>
            <p:ph type="title"/>
          </p:nvPr>
        </p:nvSpPr>
        <p:spPr/>
        <p:txBody>
          <a:bodyPr/>
          <a:lstStyle/>
          <a:p>
            <a:r>
              <a:rPr lang="de-DE"/>
              <a:t>Titelmasterformat durch Klicken bearbeiten</a:t>
            </a:r>
          </a:p>
        </p:txBody>
      </p:sp>
      <p:sp>
        <p:nvSpPr>
          <p:cNvPr id="2" name="Datumsplatzhalter 1"/>
          <p:cNvSpPr>
            <a:spLocks noGrp="1"/>
          </p:cNvSpPr>
          <p:nvPr>
            <p:ph type="dt" sz="half" idx="10"/>
          </p:nvPr>
        </p:nvSpPr>
        <p:spPr/>
        <p:txBody>
          <a:bodyPr/>
          <a:lstStyle/>
          <a:p>
            <a:r>
              <a:rPr lang="de-DE"/>
              <a:t>Short title</a:t>
            </a:r>
            <a:endParaRPr lang="de-DE" dirty="0"/>
          </a:p>
        </p:txBody>
      </p:sp>
      <p:sp>
        <p:nvSpPr>
          <p:cNvPr id="6" name="Fußzeilenplatzhalter 5"/>
          <p:cNvSpPr>
            <a:spLocks noGrp="1"/>
          </p:cNvSpPr>
          <p:nvPr>
            <p:ph type="ftr" sz="quarter" idx="11"/>
          </p:nvPr>
        </p:nvSpPr>
        <p:spPr/>
        <p:txBody>
          <a:bodyPr/>
          <a:lstStyle/>
          <a:p>
            <a:pPr algn="l">
              <a:tabLst>
                <a:tab pos="9775825" algn="r"/>
                <a:tab pos="10226675" algn="r"/>
              </a:tabLst>
            </a:pPr>
            <a:r>
              <a:rPr lang="de-DE"/>
              <a:t>Max-Planck-Institut für Plasmaphysik | Name | DD.MM.YYYY</a:t>
            </a:r>
            <a:endParaRPr lang="de-DE" dirty="0"/>
          </a:p>
        </p:txBody>
      </p:sp>
      <p:sp>
        <p:nvSpPr>
          <p:cNvPr id="8" name="Foliennummernplatzhalter 7"/>
          <p:cNvSpPr>
            <a:spLocks noGrp="1"/>
          </p:cNvSpPr>
          <p:nvPr>
            <p:ph type="sldNum" sz="quarter" idx="12"/>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41530870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nur Text ohne Titel)">
    <p:spTree>
      <p:nvGrpSpPr>
        <p:cNvPr id="1" name=""/>
        <p:cNvGrpSpPr/>
        <p:nvPr/>
      </p:nvGrpSpPr>
      <p:grpSpPr>
        <a:xfrm>
          <a:off x="0" y="0"/>
          <a:ext cx="0" cy="0"/>
          <a:chOff x="0" y="0"/>
          <a:chExt cx="0" cy="0"/>
        </a:xfrm>
      </p:grpSpPr>
      <p:sp>
        <p:nvSpPr>
          <p:cNvPr id="7" name="Inhaltsplatzhalter 6"/>
          <p:cNvSpPr>
            <a:spLocks noGrp="1"/>
          </p:cNvSpPr>
          <p:nvPr>
            <p:ph sz="quarter" idx="13" hasCustomPrompt="1"/>
          </p:nvPr>
        </p:nvSpPr>
        <p:spPr>
          <a:xfrm>
            <a:off x="695325" y="481013"/>
            <a:ext cx="10801350" cy="5900737"/>
          </a:xfrm>
        </p:spPr>
        <p:txBody>
          <a:bodyPr/>
          <a:lstStyle>
            <a:lvl1pPr>
              <a:defRPr baseline="0"/>
            </a:lvl1pPr>
          </a:lstStyle>
          <a:p>
            <a:pPr lvl="0"/>
            <a:r>
              <a:rPr lang="de-DE" dirty="0"/>
              <a:t>Slide </a:t>
            </a:r>
            <a:r>
              <a:rPr lang="de-DE" dirty="0" err="1"/>
              <a:t>without</a:t>
            </a:r>
            <a:r>
              <a:rPr lang="de-DE" dirty="0"/>
              <a:t> title (</a:t>
            </a:r>
            <a:r>
              <a:rPr lang="de-DE" dirty="0" err="1"/>
              <a:t>exception</a:t>
            </a:r>
            <a:r>
              <a:rPr lang="de-DE" dirty="0"/>
              <a:t>)</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Datumsplatzhalter 8"/>
          <p:cNvSpPr>
            <a:spLocks noGrp="1"/>
          </p:cNvSpPr>
          <p:nvPr>
            <p:ph type="dt" sz="half" idx="14"/>
          </p:nvPr>
        </p:nvSpPr>
        <p:spPr/>
        <p:txBody>
          <a:bodyPr/>
          <a:lstStyle/>
          <a:p>
            <a:r>
              <a:rPr lang="de-DE"/>
              <a:t>Short title</a:t>
            </a:r>
            <a:endParaRPr lang="de-DE" dirty="0"/>
          </a:p>
        </p:txBody>
      </p:sp>
      <p:sp>
        <p:nvSpPr>
          <p:cNvPr id="10" name="Fußzeilenplatzhalter 9"/>
          <p:cNvSpPr>
            <a:spLocks noGrp="1"/>
          </p:cNvSpPr>
          <p:nvPr>
            <p:ph type="ftr" sz="quarter" idx="15"/>
          </p:nvPr>
        </p:nvSpPr>
        <p:spPr/>
        <p:txBody>
          <a:bodyPr/>
          <a:lstStyle/>
          <a:p>
            <a:pPr algn="l">
              <a:tabLst>
                <a:tab pos="9775825" algn="r"/>
                <a:tab pos="10226675" algn="r"/>
              </a:tabLst>
            </a:pPr>
            <a:r>
              <a:rPr lang="de-DE"/>
              <a:t>Max-Planck-Institut für Plasmaphysik | Name | DD.MM.YYYY</a:t>
            </a:r>
            <a:endParaRPr lang="de-DE" dirty="0"/>
          </a:p>
        </p:txBody>
      </p:sp>
      <p:sp>
        <p:nvSpPr>
          <p:cNvPr id="11" name="Foliennummernplatzhalter 10"/>
          <p:cNvSpPr>
            <a:spLocks noGrp="1"/>
          </p:cNvSpPr>
          <p:nvPr>
            <p:ph type="sldNum" sz="quarter" idx="16"/>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30333715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5" name="Datumsplatzhalter 4"/>
          <p:cNvSpPr>
            <a:spLocks noGrp="1"/>
          </p:cNvSpPr>
          <p:nvPr>
            <p:ph type="dt" sz="half" idx="10"/>
          </p:nvPr>
        </p:nvSpPr>
        <p:spPr/>
        <p:txBody>
          <a:bodyPr/>
          <a:lstStyle/>
          <a:p>
            <a:r>
              <a:rPr lang="de-DE"/>
              <a:t>Short title</a:t>
            </a:r>
            <a:endParaRPr lang="de-DE" dirty="0"/>
          </a:p>
        </p:txBody>
      </p:sp>
      <p:sp>
        <p:nvSpPr>
          <p:cNvPr id="6" name="Fußzeilenplatzhalter 5"/>
          <p:cNvSpPr>
            <a:spLocks noGrp="1"/>
          </p:cNvSpPr>
          <p:nvPr>
            <p:ph type="ftr" sz="quarter" idx="11"/>
          </p:nvPr>
        </p:nvSpPr>
        <p:spPr/>
        <p:txBody>
          <a:bodyPr/>
          <a:lstStyle/>
          <a:p>
            <a:pPr algn="l">
              <a:tabLst>
                <a:tab pos="9775825" algn="r"/>
                <a:tab pos="10226675" algn="r"/>
              </a:tabLst>
            </a:pPr>
            <a:r>
              <a:rPr lang="de-DE"/>
              <a:t>Max-Planck-Institut für Plasmaphysik | Name | DD.MM.YYYY</a:t>
            </a:r>
            <a:endParaRPr lang="de-DE" dirty="0"/>
          </a:p>
        </p:txBody>
      </p:sp>
      <p:sp>
        <p:nvSpPr>
          <p:cNvPr id="7" name="Foliennummernplatzhalter 6"/>
          <p:cNvSpPr>
            <a:spLocks noGrp="1"/>
          </p:cNvSpPr>
          <p:nvPr>
            <p:ph type="sldNum" sz="quarter" idx="12"/>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4848988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Nur Titel">
    <p:bg>
      <p:bgPr>
        <a:solidFill>
          <a:schemeClr val="bg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3E053EA-A9E0-4FC3-87BC-5CADB14D4D06}"/>
              </a:ext>
            </a:extLst>
          </p:cNvPr>
          <p:cNvGraphicFramePr>
            <a:graphicFrameLocks noChangeAspect="1"/>
          </p:cNvGraphicFramePr>
          <p:nvPr>
            <p:custDataLst>
              <p:tags r:id="rId2"/>
            </p:custDataLst>
            <p:extLst>
              <p:ext uri="{D42A27DB-BD31-4B8C-83A1-F6EECF244321}">
                <p14:modId xmlns:p14="http://schemas.microsoft.com/office/powerpoint/2010/main" val="28111399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318" name="think-cell Folie" r:id="rId5" imgW="384" imgH="385" progId="TCLayout.ActiveDocument.1">
                  <p:embed/>
                </p:oleObj>
              </mc:Choice>
              <mc:Fallback>
                <p:oleObj name="think-cell Folie" r:id="rId5" imgW="384" imgH="385" progId="TCLayout.ActiveDocument.1">
                  <p:embed/>
                  <p:pic>
                    <p:nvPicPr>
                      <p:cNvPr id="6" name="Object 5" hidden="1">
                        <a:extLst>
                          <a:ext uri="{FF2B5EF4-FFF2-40B4-BE49-F238E27FC236}">
                            <a16:creationId xmlns:a16="http://schemas.microsoft.com/office/drawing/2014/main" id="{E3E053EA-A9E0-4FC3-87BC-5CADB14D4D0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336F15A-9D0F-40C1-A205-2471F1ECE4E2}"/>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300" b="1" i="0" baseline="0" dirty="0">
              <a:latin typeface="Arial" panose="020B0604020202020204" pitchFamily="34" charset="0"/>
              <a:ea typeface="+mj-ea"/>
              <a:cs typeface="+mj-cs"/>
              <a:sym typeface="Arial" panose="020B0604020202020204" pitchFamily="34" charset="0"/>
            </a:endParaRPr>
          </a:p>
        </p:txBody>
      </p:sp>
      <p:sp>
        <p:nvSpPr>
          <p:cNvPr id="9" name="Title 8">
            <a:extLst>
              <a:ext uri="{FF2B5EF4-FFF2-40B4-BE49-F238E27FC236}">
                <a16:creationId xmlns:a16="http://schemas.microsoft.com/office/drawing/2014/main" id="{F207ED94-DB68-4986-A95E-F302E26D3A38}"/>
              </a:ext>
            </a:extLst>
          </p:cNvPr>
          <p:cNvSpPr>
            <a:spLocks noGrp="1"/>
          </p:cNvSpPr>
          <p:nvPr>
            <p:ph type="title"/>
          </p:nvPr>
        </p:nvSpPr>
        <p:spPr/>
        <p:txBody>
          <a:bodyPr/>
          <a:lstStyle/>
          <a:p>
            <a:r>
              <a:rPr lang="de-DE"/>
              <a:t>Titelmasterformat durch Klicken bearbeiten</a:t>
            </a:r>
          </a:p>
        </p:txBody>
      </p:sp>
      <p:sp>
        <p:nvSpPr>
          <p:cNvPr id="4" name="Datumsplatzhalter 3"/>
          <p:cNvSpPr>
            <a:spLocks noGrp="1"/>
          </p:cNvSpPr>
          <p:nvPr>
            <p:ph type="dt" sz="half" idx="10"/>
          </p:nvPr>
        </p:nvSpPr>
        <p:spPr/>
        <p:txBody>
          <a:bodyPr/>
          <a:lstStyle/>
          <a:p>
            <a:r>
              <a:rPr lang="de-DE"/>
              <a:t>Short title</a:t>
            </a:r>
            <a:endParaRPr lang="de-DE" dirty="0"/>
          </a:p>
        </p:txBody>
      </p:sp>
      <p:sp>
        <p:nvSpPr>
          <p:cNvPr id="7" name="Fußzeilenplatzhalter 6"/>
          <p:cNvSpPr>
            <a:spLocks noGrp="1"/>
          </p:cNvSpPr>
          <p:nvPr>
            <p:ph type="ftr" sz="quarter" idx="11"/>
          </p:nvPr>
        </p:nvSpPr>
        <p:spPr/>
        <p:txBody>
          <a:bodyPr/>
          <a:lstStyle/>
          <a:p>
            <a:pPr algn="l">
              <a:tabLst>
                <a:tab pos="9775825" algn="r"/>
                <a:tab pos="10226675" algn="r"/>
              </a:tabLst>
            </a:pPr>
            <a:r>
              <a:rPr lang="de-DE"/>
              <a:t>Max-Planck-Institut für Plasmaphysik | Name | DD.MM.YYYY</a:t>
            </a:r>
            <a:endParaRPr lang="de-DE" dirty="0"/>
          </a:p>
        </p:txBody>
      </p:sp>
      <p:sp>
        <p:nvSpPr>
          <p:cNvPr id="8" name="Foliennummernplatzhalter 7"/>
          <p:cNvSpPr>
            <a:spLocks noGrp="1"/>
          </p:cNvSpPr>
          <p:nvPr>
            <p:ph type="sldNum" sz="quarter" idx="12"/>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32319204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Kapiteltrenner">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3E053EA-A9E0-4FC3-87BC-5CADB14D4D06}"/>
              </a:ext>
            </a:extLst>
          </p:cNvPr>
          <p:cNvGraphicFramePr>
            <a:graphicFrameLocks noChangeAspect="1"/>
          </p:cNvGraphicFramePr>
          <p:nvPr>
            <p:custDataLst>
              <p:tags r:id="rId2"/>
            </p:custDataLst>
            <p:extLst>
              <p:ext uri="{D42A27DB-BD31-4B8C-83A1-F6EECF244321}">
                <p14:modId xmlns:p14="http://schemas.microsoft.com/office/powerpoint/2010/main" val="15356004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342" name="think-cell Folie" r:id="rId6" imgW="384" imgH="385" progId="TCLayout.ActiveDocument.1">
                  <p:embed/>
                </p:oleObj>
              </mc:Choice>
              <mc:Fallback>
                <p:oleObj name="think-cell Folie" r:id="rId6" imgW="384" imgH="385" progId="TCLayout.ActiveDocument.1">
                  <p:embed/>
                  <p:pic>
                    <p:nvPicPr>
                      <p:cNvPr id="6" name="Object 5" hidden="1">
                        <a:extLst>
                          <a:ext uri="{FF2B5EF4-FFF2-40B4-BE49-F238E27FC236}">
                            <a16:creationId xmlns:a16="http://schemas.microsoft.com/office/drawing/2014/main" id="{E3E053EA-A9E0-4FC3-87BC-5CADB14D4D06}"/>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336F15A-9D0F-40C1-A205-2471F1ECE4E2}"/>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300" b="1" i="0" baseline="0" dirty="0">
              <a:latin typeface="Arial" panose="020B0604020202020204" pitchFamily="34" charset="0"/>
              <a:ea typeface="+mj-ea"/>
              <a:cs typeface="+mj-cs"/>
              <a:sym typeface="Arial" panose="020B0604020202020204" pitchFamily="34" charset="0"/>
            </a:endParaRPr>
          </a:p>
        </p:txBody>
      </p:sp>
      <p:sp>
        <p:nvSpPr>
          <p:cNvPr id="11" name="Titel 10"/>
          <p:cNvSpPr>
            <a:spLocks noGrp="1"/>
          </p:cNvSpPr>
          <p:nvPr>
            <p:ph type="title"/>
          </p:nvPr>
        </p:nvSpPr>
        <p:spPr>
          <a:xfrm>
            <a:off x="695325" y="3714698"/>
            <a:ext cx="10801350" cy="2667051"/>
          </a:xfrm>
        </p:spPr>
        <p:txBody>
          <a:bodyPr/>
          <a:lstStyle/>
          <a:p>
            <a:r>
              <a:rPr lang="de-DE"/>
              <a:t>Titelmasterformat durch Klicken bearbeiten</a:t>
            </a:r>
            <a:endParaRPr lang="de-DE" dirty="0"/>
          </a:p>
        </p:txBody>
      </p:sp>
      <p:sp>
        <p:nvSpPr>
          <p:cNvPr id="2" name="Datumsplatzhalter 1"/>
          <p:cNvSpPr>
            <a:spLocks noGrp="1"/>
          </p:cNvSpPr>
          <p:nvPr>
            <p:ph type="dt" sz="half" idx="10"/>
          </p:nvPr>
        </p:nvSpPr>
        <p:spPr/>
        <p:txBody>
          <a:bodyPr/>
          <a:lstStyle/>
          <a:p>
            <a:r>
              <a:rPr lang="de-DE"/>
              <a:t>Short title</a:t>
            </a:r>
            <a:endParaRPr lang="de-DE" dirty="0"/>
          </a:p>
        </p:txBody>
      </p:sp>
      <p:sp>
        <p:nvSpPr>
          <p:cNvPr id="3" name="Fußzeilenplatzhalter 2"/>
          <p:cNvSpPr>
            <a:spLocks noGrp="1"/>
          </p:cNvSpPr>
          <p:nvPr>
            <p:ph type="ftr" sz="quarter" idx="11"/>
          </p:nvPr>
        </p:nvSpPr>
        <p:spPr/>
        <p:txBody>
          <a:bodyPr/>
          <a:lstStyle/>
          <a:p>
            <a:pPr algn="l">
              <a:tabLst>
                <a:tab pos="9775825" algn="r"/>
                <a:tab pos="10226675" algn="r"/>
              </a:tabLst>
            </a:pPr>
            <a:r>
              <a:rPr lang="de-DE"/>
              <a:t>Max-Planck-Institut für Plasmaphysik | Name | DD.MM.YYYY</a:t>
            </a:r>
            <a:endParaRPr lang="de-DE" dirty="0"/>
          </a:p>
        </p:txBody>
      </p:sp>
      <p:sp>
        <p:nvSpPr>
          <p:cNvPr id="4" name="Foliennummernplatzhalter 3"/>
          <p:cNvSpPr>
            <a:spLocks noGrp="1"/>
          </p:cNvSpPr>
          <p:nvPr>
            <p:ph type="sldNum" sz="quarter" idx="12"/>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27977423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chlussfolie">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3E053EA-A9E0-4FC3-87BC-5CADB14D4D06}"/>
              </a:ext>
            </a:extLst>
          </p:cNvPr>
          <p:cNvGraphicFramePr>
            <a:graphicFrameLocks noChangeAspect="1"/>
          </p:cNvGraphicFramePr>
          <p:nvPr>
            <p:custDataLst>
              <p:tags r:id="rId2"/>
            </p:custDataLst>
            <p:extLst>
              <p:ext uri="{D42A27DB-BD31-4B8C-83A1-F6EECF244321}">
                <p14:modId xmlns:p14="http://schemas.microsoft.com/office/powerpoint/2010/main" val="6817841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366" name="think-cell Folie" r:id="rId6" imgW="384" imgH="385" progId="TCLayout.ActiveDocument.1">
                  <p:embed/>
                </p:oleObj>
              </mc:Choice>
              <mc:Fallback>
                <p:oleObj name="think-cell Folie" r:id="rId6" imgW="384" imgH="385" progId="TCLayout.ActiveDocument.1">
                  <p:embed/>
                  <p:pic>
                    <p:nvPicPr>
                      <p:cNvPr id="6" name="Object 5" hidden="1">
                        <a:extLst>
                          <a:ext uri="{FF2B5EF4-FFF2-40B4-BE49-F238E27FC236}">
                            <a16:creationId xmlns:a16="http://schemas.microsoft.com/office/drawing/2014/main" id="{E3E053EA-A9E0-4FC3-87BC-5CADB14D4D06}"/>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336F15A-9D0F-40C1-A205-2471F1ECE4E2}"/>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300" b="1" i="0" baseline="0" dirty="0">
              <a:latin typeface="Arial" panose="020B0604020202020204" pitchFamily="34" charset="0"/>
              <a:ea typeface="+mj-ea"/>
              <a:cs typeface="+mj-cs"/>
              <a:sym typeface="Arial" panose="020B0604020202020204" pitchFamily="34" charset="0"/>
            </a:endParaRPr>
          </a:p>
        </p:txBody>
      </p:sp>
      <p:sp>
        <p:nvSpPr>
          <p:cNvPr id="4" name="Inhaltsplatzhalter 3"/>
          <p:cNvSpPr>
            <a:spLocks noGrp="1"/>
          </p:cNvSpPr>
          <p:nvPr>
            <p:ph sz="quarter" idx="13"/>
          </p:nvPr>
        </p:nvSpPr>
        <p:spPr>
          <a:xfrm>
            <a:off x="695325" y="1881188"/>
            <a:ext cx="10472102" cy="4500561"/>
          </a:xfrm>
          <a:prstGeom prst="rect">
            <a:avLst/>
          </a:prstGeo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1" name="Titel 10"/>
          <p:cNvSpPr>
            <a:spLocks noGrp="1"/>
          </p:cNvSpPr>
          <p:nvPr>
            <p:ph type="title"/>
          </p:nvPr>
        </p:nvSpPr>
        <p:spPr/>
        <p:txBody>
          <a:bodyPr/>
          <a:lstStyle/>
          <a:p>
            <a:r>
              <a:rPr lang="de-DE"/>
              <a:t>Titelmasterformat durch Klicken bearbeiten</a:t>
            </a:r>
            <a:endParaRPr lang="de-DE" dirty="0"/>
          </a:p>
        </p:txBody>
      </p:sp>
      <p:sp>
        <p:nvSpPr>
          <p:cNvPr id="2" name="Datumsplatzhalter 1"/>
          <p:cNvSpPr>
            <a:spLocks noGrp="1"/>
          </p:cNvSpPr>
          <p:nvPr>
            <p:ph type="dt" sz="half" idx="14"/>
          </p:nvPr>
        </p:nvSpPr>
        <p:spPr/>
        <p:txBody>
          <a:bodyPr/>
          <a:lstStyle/>
          <a:p>
            <a:r>
              <a:rPr lang="de-DE"/>
              <a:t>Short title</a:t>
            </a:r>
            <a:endParaRPr lang="de-DE" dirty="0"/>
          </a:p>
        </p:txBody>
      </p:sp>
      <p:sp>
        <p:nvSpPr>
          <p:cNvPr id="3" name="Fußzeilenplatzhalter 2"/>
          <p:cNvSpPr>
            <a:spLocks noGrp="1"/>
          </p:cNvSpPr>
          <p:nvPr>
            <p:ph type="ftr" sz="quarter" idx="15"/>
          </p:nvPr>
        </p:nvSpPr>
        <p:spPr/>
        <p:txBody>
          <a:bodyPr/>
          <a:lstStyle/>
          <a:p>
            <a:pPr algn="l">
              <a:tabLst>
                <a:tab pos="9775825" algn="r"/>
                <a:tab pos="10226675" algn="r"/>
              </a:tabLst>
            </a:pPr>
            <a:r>
              <a:rPr lang="de-DE"/>
              <a:t>Max-Planck-Institut für Plasmaphysik | Name | DD.MM.YYYY</a:t>
            </a:r>
            <a:endParaRPr lang="de-DE" dirty="0"/>
          </a:p>
        </p:txBody>
      </p:sp>
      <p:sp>
        <p:nvSpPr>
          <p:cNvPr id="9" name="Foliennummernplatzhalter 8"/>
          <p:cNvSpPr>
            <a:spLocks noGrp="1"/>
          </p:cNvSpPr>
          <p:nvPr>
            <p:ph type="sldNum" sz="quarter" idx="16"/>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3169698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image" Target="../media/image3.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1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ags" Target="../tags/tag13.xml"/><Relationship Id="rId2" Type="http://schemas.openxmlformats.org/officeDocument/2006/relationships/slideLayout" Target="../slideLayouts/slideLayout13.xml"/><Relationship Id="rId16" Type="http://schemas.openxmlformats.org/officeDocument/2006/relationships/image" Target="../media/image1.emf"/><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vmlDrawing" Target="../drawings/vmlDrawing7.vml"/><Relationship Id="rId5" Type="http://schemas.openxmlformats.org/officeDocument/2006/relationships/slideLayout" Target="../slideLayouts/slideLayout16.xml"/><Relationship Id="rId15" Type="http://schemas.openxmlformats.org/officeDocument/2006/relationships/oleObject" Target="../embeddings/oleObject1.bin"/><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Grafik 10"/>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11366923" y="170923"/>
            <a:ext cx="630153" cy="630153"/>
          </a:xfrm>
          <a:prstGeom prst="rect">
            <a:avLst/>
          </a:prstGeom>
        </p:spPr>
      </p:pic>
      <p:graphicFrame>
        <p:nvGraphicFramePr>
          <p:cNvPr id="6" name="Object 5" hidden="1">
            <a:extLst>
              <a:ext uri="{FF2B5EF4-FFF2-40B4-BE49-F238E27FC236}">
                <a16:creationId xmlns:a16="http://schemas.microsoft.com/office/drawing/2014/main" id="{E3FBFD33-14B0-4B26-8D25-D9E05002D480}"/>
              </a:ext>
            </a:extLst>
          </p:cNvPr>
          <p:cNvGraphicFramePr>
            <a:graphicFrameLocks noChangeAspect="1"/>
          </p:cNvGraphicFramePr>
          <p:nvPr>
            <p:custDataLst>
              <p:tags r:id="rId14"/>
            </p:custDataLst>
            <p:extLst>
              <p:ext uri="{D42A27DB-BD31-4B8C-83A1-F6EECF244321}">
                <p14:modId xmlns:p14="http://schemas.microsoft.com/office/powerpoint/2010/main" val="39495321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04" name="think-cell Folie" r:id="rId17" imgW="384" imgH="385" progId="TCLayout.ActiveDocument.1">
                  <p:embed/>
                </p:oleObj>
              </mc:Choice>
              <mc:Fallback>
                <p:oleObj name="think-cell Folie" r:id="rId17" imgW="384" imgH="385" progId="TCLayout.ActiveDocument.1">
                  <p:embed/>
                  <p:pic>
                    <p:nvPicPr>
                      <p:cNvPr id="0" name=""/>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58354E6-9E0E-44B9-83E8-1963A1EC88F1}"/>
              </a:ext>
            </a:extLst>
          </p:cNvPr>
          <p:cNvSpPr/>
          <p:nvPr>
            <p:custDataLst>
              <p:tags r:id="rId1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de-DE" sz="2300" b="1" i="0" baseline="0" dirty="0">
              <a:latin typeface="Arial" panose="020B0604020202020204" pitchFamily="34" charset="0"/>
              <a:ea typeface="+mj-ea"/>
              <a:cs typeface="+mj-cs"/>
              <a:sym typeface="Arial" panose="020B0604020202020204" pitchFamily="34" charset="0"/>
            </a:endParaRPr>
          </a:p>
        </p:txBody>
      </p:sp>
      <p:sp>
        <p:nvSpPr>
          <p:cNvPr id="2" name="Title Placeholder 1"/>
          <p:cNvSpPr>
            <a:spLocks noGrp="1"/>
          </p:cNvSpPr>
          <p:nvPr>
            <p:ph type="title"/>
          </p:nvPr>
        </p:nvSpPr>
        <p:spPr>
          <a:xfrm>
            <a:off x="695325" y="441325"/>
            <a:ext cx="9576472" cy="782638"/>
          </a:xfrm>
          <a:prstGeom prst="rect">
            <a:avLst/>
          </a:prstGeom>
        </p:spPr>
        <p:txBody>
          <a:bodyPr vert="horz" lIns="0" tIns="0" rIns="0" bIns="0" rtlCol="0" anchor="t" anchorCtr="0">
            <a:noAutofit/>
          </a:bodyPr>
          <a:lstStyle/>
          <a:p>
            <a:r>
              <a:rPr lang="de-DE" dirty="0"/>
              <a:t>Headline Arial </a:t>
            </a:r>
            <a:r>
              <a:rPr lang="de-DE" dirty="0" err="1"/>
              <a:t>MPG_green_dark</a:t>
            </a:r>
            <a:r>
              <a:rPr lang="de-DE" dirty="0"/>
              <a:t>, 25 </a:t>
            </a:r>
            <a:r>
              <a:rPr lang="de-DE" dirty="0" err="1"/>
              <a:t>pt</a:t>
            </a:r>
            <a:r>
              <a:rPr lang="de-DE" dirty="0"/>
              <a:t>, ZAB 28 </a:t>
            </a:r>
            <a:r>
              <a:rPr lang="de-DE" dirty="0" err="1"/>
              <a:t>pt</a:t>
            </a:r>
            <a:r>
              <a:rPr lang="de-DE" dirty="0"/>
              <a:t/>
            </a:r>
            <a:br>
              <a:rPr lang="de-DE" dirty="0"/>
            </a:br>
            <a:endParaRPr lang="en-US" dirty="0"/>
          </a:p>
        </p:txBody>
      </p:sp>
      <p:sp>
        <p:nvSpPr>
          <p:cNvPr id="5" name="Footer Placeholder 4"/>
          <p:cNvSpPr>
            <a:spLocks noGrp="1"/>
          </p:cNvSpPr>
          <p:nvPr>
            <p:ph type="ftr" sz="quarter" idx="3"/>
          </p:nvPr>
        </p:nvSpPr>
        <p:spPr>
          <a:xfrm>
            <a:off x="695325" y="6489699"/>
            <a:ext cx="10477499" cy="142876"/>
          </a:xfrm>
          <a:prstGeom prst="rect">
            <a:avLst/>
          </a:prstGeom>
        </p:spPr>
        <p:txBody>
          <a:bodyPr vert="horz" wrap="none" lIns="0" tIns="0" rIns="0" bIns="0" rtlCol="0" anchor="b" anchorCtr="0">
            <a:normAutofit/>
          </a:bodyPr>
          <a:lstStyle>
            <a:lvl1pPr algn="r">
              <a:defRPr sz="600" kern="600" cap="all" spc="90" baseline="0">
                <a:solidFill>
                  <a:schemeClr val="tx1">
                    <a:tint val="75000"/>
                  </a:schemeClr>
                </a:solidFill>
              </a:defRPr>
            </a:lvl1pPr>
          </a:lstStyle>
          <a:p>
            <a:pPr algn="l">
              <a:tabLst>
                <a:tab pos="9775825" algn="r"/>
                <a:tab pos="10226675" algn="r"/>
              </a:tabLst>
            </a:pPr>
            <a:r>
              <a:rPr lang="de-DE" dirty="0"/>
              <a:t>Max-Planck-Institut für Plasmaphysik | Name | DD.MM.YYYY</a:t>
            </a:r>
          </a:p>
        </p:txBody>
      </p:sp>
      <p:sp>
        <p:nvSpPr>
          <p:cNvPr id="13" name="Datumsplatzhalter 12"/>
          <p:cNvSpPr>
            <a:spLocks noGrp="1"/>
          </p:cNvSpPr>
          <p:nvPr>
            <p:ph type="dt" sz="half" idx="2"/>
          </p:nvPr>
        </p:nvSpPr>
        <p:spPr>
          <a:xfrm>
            <a:off x="947738" y="6489700"/>
            <a:ext cx="10225087" cy="142874"/>
          </a:xfrm>
          <a:prstGeom prst="rect">
            <a:avLst/>
          </a:prstGeom>
        </p:spPr>
        <p:txBody>
          <a:bodyPr vert="horz" lIns="0" tIns="0" rIns="0" bIns="0" rtlCol="0" anchor="b" anchorCtr="0"/>
          <a:lstStyle>
            <a:lvl1pPr algn="r">
              <a:defRPr lang="de-DE" sz="600" kern="600" cap="all" spc="90" baseline="0" smtClean="0">
                <a:solidFill>
                  <a:schemeClr val="tx1">
                    <a:tint val="75000"/>
                  </a:schemeClr>
                </a:solidFill>
                <a:latin typeface="+mn-lt"/>
                <a:ea typeface="+mn-ea"/>
                <a:cs typeface="+mn-cs"/>
              </a:defRPr>
            </a:lvl1pPr>
          </a:lstStyle>
          <a:p>
            <a:r>
              <a:rPr lang="de-DE"/>
              <a:t>Short title</a:t>
            </a:r>
            <a:endParaRPr lang="de-DE" dirty="0"/>
          </a:p>
        </p:txBody>
      </p:sp>
      <p:sp>
        <p:nvSpPr>
          <p:cNvPr id="14" name="Foliennummernplatzhalter 13"/>
          <p:cNvSpPr>
            <a:spLocks noGrp="1"/>
          </p:cNvSpPr>
          <p:nvPr>
            <p:ph type="sldNum" sz="quarter" idx="4"/>
          </p:nvPr>
        </p:nvSpPr>
        <p:spPr>
          <a:xfrm>
            <a:off x="11167427" y="6489699"/>
            <a:ext cx="329248" cy="142876"/>
          </a:xfrm>
          <a:prstGeom prst="rect">
            <a:avLst/>
          </a:prstGeom>
        </p:spPr>
        <p:txBody>
          <a:bodyPr vert="horz" lIns="0" tIns="0" rIns="0" bIns="0" rtlCol="0" anchor="b" anchorCtr="0"/>
          <a:lstStyle>
            <a:lvl1pPr algn="r">
              <a:defRPr lang="de-DE" sz="600" kern="600" cap="all" spc="90" baseline="0" smtClean="0">
                <a:solidFill>
                  <a:schemeClr val="tx1">
                    <a:tint val="75000"/>
                  </a:schemeClr>
                </a:solidFill>
                <a:latin typeface="+mn-lt"/>
                <a:ea typeface="+mn-ea"/>
                <a:cs typeface="+mn-cs"/>
              </a:defRPr>
            </a:lvl1pPr>
          </a:lstStyle>
          <a:p>
            <a:fld id="{3B1A4699-952B-42DA-8DC4-38A59B49610C}" type="slidenum">
              <a:rPr lang="de-DE" smtClean="0"/>
              <a:pPr/>
              <a:t>‹Nr.›</a:t>
            </a:fld>
            <a:endParaRPr lang="de-DE" dirty="0"/>
          </a:p>
        </p:txBody>
      </p:sp>
      <p:sp>
        <p:nvSpPr>
          <p:cNvPr id="7" name="Textplatzhalter 6"/>
          <p:cNvSpPr>
            <a:spLocks noGrp="1"/>
          </p:cNvSpPr>
          <p:nvPr>
            <p:ph type="body" idx="1"/>
          </p:nvPr>
        </p:nvSpPr>
        <p:spPr>
          <a:xfrm>
            <a:off x="695326" y="1609725"/>
            <a:ext cx="10801350" cy="4567237"/>
          </a:xfrm>
          <a:prstGeom prst="rect">
            <a:avLst/>
          </a:prstGeom>
        </p:spPr>
        <p:txBody>
          <a:bodyPr vert="horz" lIns="0" tIns="45720" rIns="0" bIns="45720" rtlCol="0">
            <a:normAutofit/>
          </a:bodyPr>
          <a:lstStyle/>
          <a:p>
            <a:pPr lvl="0"/>
            <a:r>
              <a:rPr lang="de-DE" dirty="0"/>
              <a:t>Ebene 1: Headlines</a:t>
            </a:r>
          </a:p>
          <a:p>
            <a:pPr lvl="1"/>
            <a:r>
              <a:rPr lang="de-DE" dirty="0"/>
              <a:t>Ebene 2: Fließtext</a:t>
            </a:r>
          </a:p>
          <a:p>
            <a:pPr lvl="2"/>
            <a:r>
              <a:rPr lang="de-DE" dirty="0"/>
              <a:t>Ebene 3: </a:t>
            </a:r>
            <a:r>
              <a:rPr lang="de-DE" dirty="0" smtClean="0"/>
              <a:t>Stichpunkte</a:t>
            </a:r>
            <a:endParaRPr lang="de-DE" dirty="0"/>
          </a:p>
          <a:p>
            <a:pPr lvl="3"/>
            <a:r>
              <a:rPr lang="de-DE" dirty="0"/>
              <a:t>Ebene 4: Stichpunkte hervorgehoben</a:t>
            </a:r>
          </a:p>
          <a:p>
            <a:pPr lvl="4"/>
            <a:r>
              <a:rPr lang="de-DE" dirty="0"/>
              <a:t>Ebene 5: Stichpunkte eingerückt</a:t>
            </a:r>
          </a:p>
          <a:p>
            <a:pPr lvl="5"/>
            <a:r>
              <a:rPr lang="de-DE" dirty="0"/>
              <a:t>Ebene 6: Stichpunkte weiter eingerückt</a:t>
            </a:r>
          </a:p>
          <a:p>
            <a:pPr lvl="6"/>
            <a:r>
              <a:rPr lang="de-DE" dirty="0"/>
              <a:t>Ebene 7: Zusatzinfo</a:t>
            </a:r>
          </a:p>
          <a:p>
            <a:pPr lvl="7"/>
            <a:r>
              <a:rPr lang="de-DE" dirty="0"/>
              <a:t>Ebene 8: Bildunterschrift</a:t>
            </a:r>
          </a:p>
        </p:txBody>
      </p:sp>
      <p:pic>
        <p:nvPicPr>
          <p:cNvPr id="8" name="Grafik 7"/>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10591799" y="240771"/>
            <a:ext cx="581025" cy="516467"/>
          </a:xfrm>
          <a:prstGeom prst="rect">
            <a:avLst/>
          </a:prstGeom>
        </p:spPr>
      </p:pic>
    </p:spTree>
    <p:extLst>
      <p:ext uri="{BB962C8B-B14F-4D97-AF65-F5344CB8AC3E}">
        <p14:creationId xmlns:p14="http://schemas.microsoft.com/office/powerpoint/2010/main" val="2120465908"/>
      </p:ext>
    </p:extLst>
  </p:cSld>
  <p:clrMap bg1="lt1" tx1="dk1" bg2="lt2" tx2="dk2" accent1="accent1" accent2="accent2" accent3="accent3" accent4="accent4" accent5="accent5" accent6="accent6" hlink="hlink" folHlink="folHlink"/>
  <p:sldLayoutIdLst>
    <p:sldLayoutId id="2147483702" r:id="rId1"/>
    <p:sldLayoutId id="2147483709" r:id="rId2"/>
    <p:sldLayoutId id="2147483708" r:id="rId3"/>
    <p:sldLayoutId id="2147483713" r:id="rId4"/>
    <p:sldLayoutId id="2147483669" r:id="rId5"/>
    <p:sldLayoutId id="2147483664" r:id="rId6"/>
    <p:sldLayoutId id="2147483696" r:id="rId7"/>
    <p:sldLayoutId id="2147483667" r:id="rId8"/>
    <p:sldLayoutId id="2147483700" r:id="rId9"/>
    <p:sldLayoutId id="2147483711" r:id="rId10"/>
    <p:sldLayoutId id="2147483701" r:id="rId11"/>
  </p:sldLayoutIdLst>
  <p:hf hdr="0"/>
  <p:txStyles>
    <p:titleStyle>
      <a:lvl1pPr algn="l" defTabSz="914400" rtl="0" eaLnBrk="1" latinLnBrk="0" hangingPunct="1">
        <a:lnSpc>
          <a:spcPts val="2800"/>
        </a:lnSpc>
        <a:spcBef>
          <a:spcPct val="0"/>
        </a:spcBef>
        <a:spcAft>
          <a:spcPts val="1800"/>
        </a:spcAft>
        <a:buNone/>
        <a:defRPr sz="2500" b="1" kern="600" cap="none" spc="0" baseline="0">
          <a:solidFill>
            <a:srgbClr val="005555"/>
          </a:solidFill>
          <a:latin typeface="+mj-lt"/>
          <a:ea typeface="+mj-ea"/>
          <a:cs typeface="+mj-cs"/>
        </a:defRPr>
      </a:lvl1pPr>
    </p:titleStyle>
    <p:bodyStyle>
      <a:lvl1pPr marL="0" marR="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lang="de-DE" sz="1800" b="1" i="0" kern="600" spc="40" baseline="0" dirty="0" smtClean="0">
          <a:solidFill>
            <a:srgbClr val="005555"/>
          </a:solidFill>
          <a:latin typeface="+mn-lt"/>
          <a:ea typeface="+mn-ea"/>
          <a:cs typeface="+mn-cs"/>
        </a:defRPr>
      </a:lvl1pPr>
      <a:lvl2pPr marL="0" indent="0" algn="l" defTabSz="914400" rtl="0" eaLnBrk="1" latinLnBrk="0" hangingPunct="1">
        <a:lnSpc>
          <a:spcPct val="120000"/>
        </a:lnSpc>
        <a:spcBef>
          <a:spcPts val="600"/>
        </a:spcBef>
        <a:spcAft>
          <a:spcPts val="0"/>
        </a:spcAft>
        <a:buFont typeface="Arial" panose="020B0604020202020204" pitchFamily="34" charset="0"/>
        <a:buNone/>
        <a:defRPr sz="1800" kern="600" spc="40" baseline="0">
          <a:solidFill>
            <a:schemeClr val="tx1"/>
          </a:solidFill>
          <a:latin typeface="+mn-lt"/>
          <a:ea typeface="+mn-ea"/>
          <a:cs typeface="+mn-cs"/>
        </a:defRPr>
      </a:lvl2pPr>
      <a:lvl3pPr marL="179388" indent="-179388" algn="l" defTabSz="914400" rtl="0" eaLnBrk="1" latinLnBrk="0" hangingPunct="1">
        <a:lnSpc>
          <a:spcPct val="120000"/>
        </a:lnSpc>
        <a:spcBef>
          <a:spcPts val="600"/>
        </a:spcBef>
        <a:buFont typeface="Arial" panose="020B0604020202020204" pitchFamily="34" charset="0"/>
        <a:buChar char="•"/>
        <a:defRPr sz="1800" b="1" kern="400" spc="40" baseline="0">
          <a:solidFill>
            <a:schemeClr val="accent3"/>
          </a:solidFill>
          <a:latin typeface="+mn-lt"/>
          <a:ea typeface="+mn-ea"/>
          <a:cs typeface="+mn-cs"/>
        </a:defRPr>
      </a:lvl3pPr>
      <a:lvl4pPr marL="179388" indent="-179388" algn="l" defTabSz="914400" rtl="0" eaLnBrk="1" latinLnBrk="0" hangingPunct="1">
        <a:lnSpc>
          <a:spcPct val="120000"/>
        </a:lnSpc>
        <a:spcBef>
          <a:spcPts val="600"/>
        </a:spcBef>
        <a:buFont typeface="Arial" panose="020B0604020202020204" pitchFamily="34" charset="0"/>
        <a:buChar char="•"/>
        <a:defRPr sz="1800" kern="600" spc="40" baseline="0">
          <a:solidFill>
            <a:schemeClr val="tx1"/>
          </a:solidFill>
          <a:latin typeface="+mn-lt"/>
          <a:ea typeface="+mn-ea"/>
          <a:cs typeface="+mn-cs"/>
        </a:defRPr>
      </a:lvl4pPr>
      <a:lvl5pPr marL="357188" indent="-179388" algn="l" defTabSz="914400" rtl="0" eaLnBrk="1" latinLnBrk="0" hangingPunct="1">
        <a:lnSpc>
          <a:spcPct val="120000"/>
        </a:lnSpc>
        <a:spcBef>
          <a:spcPts val="600"/>
        </a:spcBef>
        <a:buFont typeface="Arial" panose="020B0604020202020204" pitchFamily="34" charset="0"/>
        <a:buChar char="•"/>
        <a:defRPr lang="de-DE" sz="1800" b="0" i="0" kern="600" spc="40" baseline="0" dirty="0" smtClean="0">
          <a:solidFill>
            <a:schemeClr val="tx1"/>
          </a:solidFill>
          <a:latin typeface="+mn-lt"/>
          <a:ea typeface="+mn-ea"/>
          <a:cs typeface="+mn-cs"/>
        </a:defRPr>
      </a:lvl5pPr>
      <a:lvl6pPr marL="645750" indent="-285750" algn="l" defTabSz="914400" rtl="0" eaLnBrk="1" latinLnBrk="0" hangingPunct="1">
        <a:lnSpc>
          <a:spcPct val="100000"/>
        </a:lnSpc>
        <a:spcBef>
          <a:spcPts val="300"/>
        </a:spcBef>
        <a:spcAft>
          <a:spcPts val="0"/>
        </a:spcAft>
        <a:buClr>
          <a:schemeClr val="tx1"/>
        </a:buClr>
        <a:buSzPct val="110000"/>
        <a:buFont typeface="Symbol" panose="05050102010706020507" pitchFamily="18" charset="2"/>
        <a:buChar char=""/>
        <a:defRPr sz="1800" b="0" i="0" kern="600" spc="40" baseline="0">
          <a:solidFill>
            <a:schemeClr val="tx1"/>
          </a:solidFill>
          <a:latin typeface="+mn-lt"/>
          <a:ea typeface="+mn-ea"/>
          <a:cs typeface="+mn-cs"/>
        </a:defRPr>
      </a:lvl6pPr>
      <a:lvl7pPr marL="0" indent="215900" algn="l" defTabSz="914400" rtl="0" eaLnBrk="1" latinLnBrk="0" hangingPunct="1">
        <a:lnSpc>
          <a:spcPct val="100000"/>
        </a:lnSpc>
        <a:spcBef>
          <a:spcPts val="600"/>
        </a:spcBef>
        <a:spcAft>
          <a:spcPts val="0"/>
        </a:spcAft>
        <a:buClr>
          <a:schemeClr val="tx2"/>
        </a:buClr>
        <a:buFont typeface="Wingdings 3" panose="05040102010807070707" pitchFamily="18" charset="2"/>
        <a:buChar char=""/>
        <a:defRPr sz="1500" b="0" i="1" kern="600" spc="40" baseline="0">
          <a:solidFill>
            <a:schemeClr val="tx2"/>
          </a:solidFill>
          <a:latin typeface="+mn-lt"/>
          <a:ea typeface="+mn-ea"/>
          <a:cs typeface="+mn-cs"/>
        </a:defRPr>
      </a:lvl7pPr>
      <a:lvl8pPr marL="0" indent="0" algn="l" defTabSz="914400" rtl="0" eaLnBrk="1" latinLnBrk="0" hangingPunct="1">
        <a:lnSpc>
          <a:spcPct val="100000"/>
        </a:lnSpc>
        <a:spcBef>
          <a:spcPts val="525"/>
        </a:spcBef>
        <a:spcAft>
          <a:spcPts val="0"/>
        </a:spcAft>
        <a:buSzPct val="110000"/>
        <a:buFont typeface=".SF NS Symbols Regular"/>
        <a:buNone/>
        <a:defRPr sz="1000" b="0" i="1" kern="600" spc="120" baseline="0">
          <a:solidFill>
            <a:schemeClr val="tx1">
              <a:lumMod val="50000"/>
              <a:lumOff val="50000"/>
            </a:schemeClr>
          </a:solidFill>
          <a:latin typeface="+mn-lt"/>
          <a:ea typeface="+mn-ea"/>
          <a:cs typeface="+mn-cs"/>
        </a:defRPr>
      </a:lvl8pPr>
      <a:lvl9pPr marL="0" indent="0" algn="l" defTabSz="914400" rtl="0" eaLnBrk="1" latinLnBrk="0" hangingPunct="1">
        <a:lnSpc>
          <a:spcPts val="1100"/>
        </a:lnSpc>
        <a:spcBef>
          <a:spcPts val="525"/>
        </a:spcBef>
        <a:buFont typeface="Arial" panose="020B0604020202020204" pitchFamily="34" charset="0"/>
        <a:buNone/>
        <a:defRPr sz="800" b="0" i="1" kern="600" spc="120" baseline="0">
          <a:solidFill>
            <a:schemeClr val="tx1">
              <a:lumMod val="50000"/>
              <a:lumOff val="50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orient="horz" pos="777" userDrawn="1">
          <p15:clr>
            <a:srgbClr val="F26B43"/>
          </p15:clr>
        </p15:guide>
        <p15:guide id="3" pos="7038" userDrawn="1">
          <p15:clr>
            <a:srgbClr val="F26B43"/>
          </p15:clr>
        </p15:guide>
        <p15:guide id="4" orient="horz" pos="4020" userDrawn="1">
          <p15:clr>
            <a:srgbClr val="F26B43"/>
          </p15:clr>
        </p15:guide>
        <p15:guide id="6" orient="horz" pos="1014" userDrawn="1">
          <p15:clr>
            <a:srgbClr val="F26B43"/>
          </p15:clr>
        </p15:guide>
        <p15:guide id="7" orient="horz" pos="4088" userDrawn="1">
          <p15:clr>
            <a:srgbClr val="F26B43"/>
          </p15:clr>
        </p15:guide>
        <p15:guide id="8" orient="horz" pos="4178">
          <p15:clr>
            <a:srgbClr val="F26B43"/>
          </p15:clr>
        </p15:guide>
        <p15:guide id="9" pos="143" userDrawn="1">
          <p15:clr>
            <a:srgbClr val="F26B43"/>
          </p15:clr>
        </p15:guide>
        <p15:guide id="11" orient="horz" pos="503">
          <p15:clr>
            <a:srgbClr val="F26B43"/>
          </p15:clr>
        </p15:guide>
        <p15:guide id="12" pos="7537" userDrawn="1">
          <p15:clr>
            <a:srgbClr val="F26B43"/>
          </p15:clr>
        </p15:guide>
        <p15:guide id="14" orient="horz" pos="459" userDrawn="1">
          <p15:clr>
            <a:srgbClr val="F26B43"/>
          </p15:clr>
        </p15:guide>
        <p15:guide id="15" orient="horz" pos="153" userDrawn="1">
          <p15:clr>
            <a:srgbClr val="F26B43"/>
          </p15:clr>
        </p15:guide>
        <p15:guide id="16" orient="horz" pos="278" userDrawn="1">
          <p15:clr>
            <a:srgbClr val="F26B43"/>
          </p15:clr>
        </p15:guide>
        <p15:guide id="18" pos="7242" userDrawn="1">
          <p15:clr>
            <a:srgbClr val="F26B43"/>
          </p15:clr>
        </p15:guide>
        <p15:guide id="19" pos="43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Grafik 10"/>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11366923" y="170923"/>
            <a:ext cx="630153" cy="630153"/>
          </a:xfrm>
          <a:prstGeom prst="rect">
            <a:avLst/>
          </a:prstGeom>
        </p:spPr>
      </p:pic>
      <p:graphicFrame>
        <p:nvGraphicFramePr>
          <p:cNvPr id="6" name="Object 5" hidden="1">
            <a:extLst>
              <a:ext uri="{FF2B5EF4-FFF2-40B4-BE49-F238E27FC236}">
                <a16:creationId xmlns:a16="http://schemas.microsoft.com/office/drawing/2014/main" id="{E3FBFD33-14B0-4B26-8D25-D9E05002D480}"/>
              </a:ext>
            </a:extLst>
          </p:cNvPr>
          <p:cNvGraphicFramePr>
            <a:graphicFrameLocks noChangeAspect="1"/>
          </p:cNvGraphicFramePr>
          <p:nvPr>
            <p:custDataLst>
              <p:tags r:id="rId12"/>
            </p:custDataLst>
            <p:extLst>
              <p:ext uri="{D42A27DB-BD31-4B8C-83A1-F6EECF244321}">
                <p14:modId xmlns:p14="http://schemas.microsoft.com/office/powerpoint/2010/main" val="37282196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246" name="think-cell Folie" r:id="rId15" imgW="384" imgH="385" progId="TCLayout.ActiveDocument.1">
                  <p:embed/>
                </p:oleObj>
              </mc:Choice>
              <mc:Fallback>
                <p:oleObj name="think-cell Folie" r:id="rId15" imgW="384" imgH="385" progId="TCLayout.ActiveDocument.1">
                  <p:embed/>
                  <p:pic>
                    <p:nvPicPr>
                      <p:cNvPr id="6" name="Object 5" hidden="1">
                        <a:extLst>
                          <a:ext uri="{FF2B5EF4-FFF2-40B4-BE49-F238E27FC236}">
                            <a16:creationId xmlns:a16="http://schemas.microsoft.com/office/drawing/2014/main" id="{E3FBFD33-14B0-4B26-8D25-D9E05002D480}"/>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58354E6-9E0E-44B9-83E8-1963A1EC88F1}"/>
              </a:ext>
            </a:extLst>
          </p:cNvPr>
          <p:cNvSpPr/>
          <p:nvPr>
            <p:custDataLst>
              <p:tags r:id="rId1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de-DE" sz="2300" b="1" i="0" baseline="0" dirty="0">
              <a:latin typeface="Arial" panose="020B0604020202020204" pitchFamily="34" charset="0"/>
              <a:ea typeface="+mj-ea"/>
              <a:cs typeface="+mj-cs"/>
              <a:sym typeface="Arial" panose="020B0604020202020204" pitchFamily="34" charset="0"/>
            </a:endParaRPr>
          </a:p>
        </p:txBody>
      </p:sp>
      <p:sp>
        <p:nvSpPr>
          <p:cNvPr id="2" name="Title Placeholder 1"/>
          <p:cNvSpPr>
            <a:spLocks noGrp="1"/>
          </p:cNvSpPr>
          <p:nvPr>
            <p:ph type="title"/>
          </p:nvPr>
        </p:nvSpPr>
        <p:spPr>
          <a:xfrm>
            <a:off x="695325" y="441325"/>
            <a:ext cx="9576472" cy="782638"/>
          </a:xfrm>
          <a:prstGeom prst="rect">
            <a:avLst/>
          </a:prstGeom>
        </p:spPr>
        <p:txBody>
          <a:bodyPr vert="horz" lIns="0" tIns="0" rIns="0" bIns="0" rtlCol="0" anchor="t" anchorCtr="0">
            <a:noAutofit/>
          </a:bodyPr>
          <a:lstStyle/>
          <a:p>
            <a:r>
              <a:rPr lang="de-DE" dirty="0"/>
              <a:t>Headline Arial </a:t>
            </a:r>
            <a:r>
              <a:rPr lang="de-DE" dirty="0" err="1"/>
              <a:t>MPG_green_dark</a:t>
            </a:r>
            <a:r>
              <a:rPr lang="de-DE" dirty="0"/>
              <a:t>, 25 </a:t>
            </a:r>
            <a:r>
              <a:rPr lang="de-DE" dirty="0" err="1"/>
              <a:t>pt</a:t>
            </a:r>
            <a:r>
              <a:rPr lang="de-DE" dirty="0"/>
              <a:t>, ZAB 28 </a:t>
            </a:r>
            <a:r>
              <a:rPr lang="de-DE" dirty="0" err="1"/>
              <a:t>pt</a:t>
            </a:r>
            <a:r>
              <a:rPr lang="de-DE" dirty="0"/>
              <a:t/>
            </a:r>
            <a:br>
              <a:rPr lang="de-DE" dirty="0"/>
            </a:br>
            <a:endParaRPr lang="en-US" dirty="0"/>
          </a:p>
        </p:txBody>
      </p:sp>
      <p:sp>
        <p:nvSpPr>
          <p:cNvPr id="5" name="Footer Placeholder 4"/>
          <p:cNvSpPr>
            <a:spLocks noGrp="1"/>
          </p:cNvSpPr>
          <p:nvPr>
            <p:ph type="ftr" sz="quarter" idx="3"/>
          </p:nvPr>
        </p:nvSpPr>
        <p:spPr>
          <a:xfrm>
            <a:off x="695325" y="6489699"/>
            <a:ext cx="10477499" cy="142876"/>
          </a:xfrm>
          <a:prstGeom prst="rect">
            <a:avLst/>
          </a:prstGeom>
        </p:spPr>
        <p:txBody>
          <a:bodyPr vert="horz" wrap="none" lIns="0" tIns="0" rIns="0" bIns="0" rtlCol="0" anchor="b" anchorCtr="0">
            <a:normAutofit/>
          </a:bodyPr>
          <a:lstStyle>
            <a:lvl1pPr algn="r">
              <a:defRPr sz="600" kern="600" cap="all" spc="90" baseline="0">
                <a:solidFill>
                  <a:schemeClr val="tx1">
                    <a:tint val="75000"/>
                  </a:schemeClr>
                </a:solidFill>
              </a:defRPr>
            </a:lvl1pPr>
          </a:lstStyle>
          <a:p>
            <a:pPr algn="l">
              <a:tabLst>
                <a:tab pos="9775825" algn="r"/>
                <a:tab pos="10226675" algn="r"/>
              </a:tabLst>
            </a:pPr>
            <a:r>
              <a:rPr lang="de-DE" dirty="0"/>
              <a:t>Max-Planck-Institut für Plasmaphysik | Name | DD.MM.YYYY</a:t>
            </a:r>
          </a:p>
        </p:txBody>
      </p:sp>
      <p:sp>
        <p:nvSpPr>
          <p:cNvPr id="13" name="Datumsplatzhalter 12"/>
          <p:cNvSpPr>
            <a:spLocks noGrp="1"/>
          </p:cNvSpPr>
          <p:nvPr>
            <p:ph type="dt" sz="half" idx="2"/>
          </p:nvPr>
        </p:nvSpPr>
        <p:spPr>
          <a:xfrm>
            <a:off x="947738" y="6489700"/>
            <a:ext cx="10225087" cy="142874"/>
          </a:xfrm>
          <a:prstGeom prst="rect">
            <a:avLst/>
          </a:prstGeom>
        </p:spPr>
        <p:txBody>
          <a:bodyPr vert="horz" lIns="0" tIns="0" rIns="0" bIns="0" rtlCol="0" anchor="b" anchorCtr="0"/>
          <a:lstStyle>
            <a:lvl1pPr algn="r">
              <a:defRPr lang="de-DE" sz="600" kern="600" cap="all" spc="90" baseline="0" smtClean="0">
                <a:solidFill>
                  <a:schemeClr val="tx1">
                    <a:tint val="75000"/>
                  </a:schemeClr>
                </a:solidFill>
                <a:latin typeface="+mn-lt"/>
                <a:ea typeface="+mn-ea"/>
                <a:cs typeface="+mn-cs"/>
              </a:defRPr>
            </a:lvl1pPr>
          </a:lstStyle>
          <a:p>
            <a:r>
              <a:rPr lang="de-DE"/>
              <a:t>Short title</a:t>
            </a:r>
            <a:endParaRPr lang="de-DE" dirty="0"/>
          </a:p>
        </p:txBody>
      </p:sp>
      <p:sp>
        <p:nvSpPr>
          <p:cNvPr id="14" name="Foliennummernplatzhalter 13"/>
          <p:cNvSpPr>
            <a:spLocks noGrp="1"/>
          </p:cNvSpPr>
          <p:nvPr>
            <p:ph type="sldNum" sz="quarter" idx="4"/>
          </p:nvPr>
        </p:nvSpPr>
        <p:spPr>
          <a:xfrm>
            <a:off x="11167427" y="6489699"/>
            <a:ext cx="329248" cy="142876"/>
          </a:xfrm>
          <a:prstGeom prst="rect">
            <a:avLst/>
          </a:prstGeom>
        </p:spPr>
        <p:txBody>
          <a:bodyPr vert="horz" lIns="0" tIns="0" rIns="0" bIns="0" rtlCol="0" anchor="b" anchorCtr="0"/>
          <a:lstStyle>
            <a:lvl1pPr algn="r">
              <a:defRPr lang="de-DE" sz="600" kern="600" cap="all" spc="90" baseline="0" smtClean="0">
                <a:solidFill>
                  <a:schemeClr val="tx1">
                    <a:tint val="75000"/>
                  </a:schemeClr>
                </a:solidFill>
                <a:latin typeface="+mn-lt"/>
                <a:ea typeface="+mn-ea"/>
                <a:cs typeface="+mn-cs"/>
              </a:defRPr>
            </a:lvl1pPr>
          </a:lstStyle>
          <a:p>
            <a:fld id="{3B1A4699-952B-42DA-8DC4-38A59B49610C}" type="slidenum">
              <a:rPr lang="de-DE" smtClean="0"/>
              <a:pPr/>
              <a:t>‹Nr.›</a:t>
            </a:fld>
            <a:endParaRPr lang="de-DE" dirty="0"/>
          </a:p>
        </p:txBody>
      </p:sp>
      <p:sp>
        <p:nvSpPr>
          <p:cNvPr id="7" name="Textplatzhalter 6"/>
          <p:cNvSpPr>
            <a:spLocks noGrp="1"/>
          </p:cNvSpPr>
          <p:nvPr>
            <p:ph type="body" idx="1"/>
          </p:nvPr>
        </p:nvSpPr>
        <p:spPr>
          <a:xfrm>
            <a:off x="695326" y="1609725"/>
            <a:ext cx="10801350" cy="4567237"/>
          </a:xfrm>
          <a:prstGeom prst="rect">
            <a:avLst/>
          </a:prstGeom>
        </p:spPr>
        <p:txBody>
          <a:bodyPr vert="horz" lIns="0" tIns="45720" rIns="0" bIns="45720" rtlCol="0">
            <a:normAutofit/>
          </a:bodyPr>
          <a:lstStyle/>
          <a:p>
            <a:pPr marL="0" marR="0" lvl="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kumimoji="0" lang="de-DE" sz="1800" b="1" i="0" u="none" strike="noStrike" kern="600" cap="none" spc="40" normalizeH="0" baseline="0" noProof="0" dirty="0" smtClean="0">
                <a:ln>
                  <a:noFill/>
                </a:ln>
                <a:solidFill>
                  <a:srgbClr val="005555"/>
                </a:solidFill>
                <a:effectLst/>
                <a:uLnTx/>
                <a:uFillTx/>
                <a:latin typeface="+mn-lt"/>
                <a:ea typeface="+mn-ea"/>
                <a:cs typeface="+mn-cs"/>
              </a:rPr>
              <a:t>Ebene 1: Headlines</a:t>
            </a:r>
          </a:p>
          <a:p>
            <a:pPr marL="0" marR="0" lvl="1"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kumimoji="0" lang="de-DE" sz="1800" b="0" i="0" u="none" strike="noStrike" kern="600" cap="none" spc="40" normalizeH="0" baseline="0" noProof="0" dirty="0" smtClean="0">
                <a:ln>
                  <a:noFill/>
                </a:ln>
                <a:solidFill>
                  <a:srgbClr val="000000"/>
                </a:solidFill>
                <a:effectLst/>
                <a:uLnTx/>
                <a:uFillTx/>
                <a:latin typeface="+mn-lt"/>
                <a:ea typeface="+mn-ea"/>
                <a:cs typeface="+mn-cs"/>
              </a:rPr>
              <a:t>Ebene 2: Fließtext</a:t>
            </a:r>
          </a:p>
          <a:p>
            <a:pPr marL="179388" marR="0" lvl="2" indent="-179388" algn="l" defTabSz="914400" rtl="0" eaLnBrk="1" fontAlgn="auto" latinLnBrk="0" hangingPunct="1">
              <a:lnSpc>
                <a:spcPct val="120000"/>
              </a:lnSpc>
              <a:spcBef>
                <a:spcPts val="600"/>
              </a:spcBef>
              <a:spcAft>
                <a:spcPts val="0"/>
              </a:spcAft>
              <a:buClrTx/>
              <a:buSzTx/>
              <a:buFont typeface="Arial" panose="020B0604020202020204" pitchFamily="34" charset="0"/>
              <a:buChar char="•"/>
              <a:tabLst/>
              <a:defRPr/>
            </a:pPr>
            <a:r>
              <a:rPr kumimoji="0" lang="de-DE" sz="1800" b="1" i="0" u="none" strike="noStrike" kern="400" cap="none" spc="40" normalizeH="0" baseline="0" noProof="0" dirty="0" smtClean="0">
                <a:ln>
                  <a:noFill/>
                </a:ln>
                <a:solidFill>
                  <a:srgbClr val="29485D"/>
                </a:solidFill>
                <a:effectLst/>
                <a:uLnTx/>
                <a:uFillTx/>
                <a:latin typeface="+mn-lt"/>
                <a:ea typeface="+mn-ea"/>
                <a:cs typeface="+mn-cs"/>
              </a:rPr>
              <a:t>Ebene 3: Stichpunkte</a:t>
            </a:r>
          </a:p>
          <a:p>
            <a:pPr marL="179388" marR="0" lvl="3" indent="-179388" algn="l" defTabSz="914400" rtl="0" eaLnBrk="1" fontAlgn="auto" latinLnBrk="0" hangingPunct="1">
              <a:lnSpc>
                <a:spcPct val="120000"/>
              </a:lnSpc>
              <a:spcBef>
                <a:spcPts val="600"/>
              </a:spcBef>
              <a:spcAft>
                <a:spcPts val="0"/>
              </a:spcAft>
              <a:buClrTx/>
              <a:buSzTx/>
              <a:buFont typeface="Arial" panose="020B0604020202020204" pitchFamily="34" charset="0"/>
              <a:buChar char="•"/>
              <a:tabLst/>
              <a:defRPr/>
            </a:pPr>
            <a:r>
              <a:rPr kumimoji="0" lang="de-DE" sz="1800" b="0" i="0" u="none" strike="noStrike" kern="600" cap="none" spc="40" normalizeH="0" baseline="0" noProof="0" dirty="0" smtClean="0">
                <a:ln>
                  <a:noFill/>
                </a:ln>
                <a:solidFill>
                  <a:srgbClr val="000000"/>
                </a:solidFill>
                <a:effectLst/>
                <a:uLnTx/>
                <a:uFillTx/>
                <a:latin typeface="+mn-lt"/>
                <a:ea typeface="+mn-ea"/>
                <a:cs typeface="+mn-cs"/>
              </a:rPr>
              <a:t>Ebene 4: Stichpunkte hervorgehoben</a:t>
            </a:r>
          </a:p>
          <a:p>
            <a:pPr marL="357188" marR="0" lvl="4" indent="-179388" algn="l" defTabSz="914400" rtl="0" eaLnBrk="1" fontAlgn="auto" latinLnBrk="0" hangingPunct="1">
              <a:lnSpc>
                <a:spcPct val="120000"/>
              </a:lnSpc>
              <a:spcBef>
                <a:spcPts val="600"/>
              </a:spcBef>
              <a:spcAft>
                <a:spcPts val="0"/>
              </a:spcAft>
              <a:buClrTx/>
              <a:buSzTx/>
              <a:buFont typeface="Arial" panose="020B0604020202020204" pitchFamily="34" charset="0"/>
              <a:buChar char="•"/>
              <a:tabLst/>
              <a:defRPr/>
            </a:pPr>
            <a:r>
              <a:rPr kumimoji="0" lang="de-DE" sz="1800" b="0" i="0" u="none" strike="noStrike" kern="600" cap="none" spc="40" normalizeH="0" baseline="0" noProof="0" dirty="0" smtClean="0">
                <a:ln>
                  <a:noFill/>
                </a:ln>
                <a:solidFill>
                  <a:srgbClr val="000000"/>
                </a:solidFill>
                <a:effectLst/>
                <a:uLnTx/>
                <a:uFillTx/>
                <a:latin typeface="+mn-lt"/>
                <a:ea typeface="+mn-ea"/>
                <a:cs typeface="+mn-cs"/>
              </a:rPr>
              <a:t>Ebene 5: Stichpunkte eingerückt</a:t>
            </a:r>
          </a:p>
          <a:p>
            <a:pPr marL="645750" marR="0" lvl="5" indent="-285750" algn="l" defTabSz="914400" rtl="0" eaLnBrk="1" fontAlgn="auto" latinLnBrk="0" hangingPunct="1">
              <a:lnSpc>
                <a:spcPct val="100000"/>
              </a:lnSpc>
              <a:spcBef>
                <a:spcPts val="300"/>
              </a:spcBef>
              <a:spcAft>
                <a:spcPts val="0"/>
              </a:spcAft>
              <a:buClr>
                <a:srgbClr val="000000"/>
              </a:buClr>
              <a:buSzPct val="110000"/>
              <a:buFont typeface="Symbol" panose="05050102010706020507" pitchFamily="18" charset="2"/>
              <a:buChar char=""/>
              <a:tabLst/>
              <a:defRPr/>
            </a:pPr>
            <a:r>
              <a:rPr kumimoji="0" lang="de-DE" sz="1800" b="0" i="0" u="none" strike="noStrike" kern="600" cap="none" spc="40" normalizeH="0" baseline="0" noProof="0" dirty="0" smtClean="0">
                <a:ln>
                  <a:noFill/>
                </a:ln>
                <a:solidFill>
                  <a:srgbClr val="000000"/>
                </a:solidFill>
                <a:effectLst/>
                <a:uLnTx/>
                <a:uFillTx/>
                <a:latin typeface="+mn-lt"/>
                <a:ea typeface="+mn-ea"/>
                <a:cs typeface="+mn-cs"/>
              </a:rPr>
              <a:t>Ebene 6: Stichpunkte weiter eingerückt</a:t>
            </a:r>
          </a:p>
          <a:p>
            <a:pPr marL="0" marR="0" lvl="6" indent="215900" algn="l" defTabSz="914400" rtl="0" eaLnBrk="1" fontAlgn="auto" latinLnBrk="0" hangingPunct="1">
              <a:lnSpc>
                <a:spcPct val="100000"/>
              </a:lnSpc>
              <a:spcBef>
                <a:spcPts val="600"/>
              </a:spcBef>
              <a:spcAft>
                <a:spcPts val="0"/>
              </a:spcAft>
              <a:buClr>
                <a:srgbClr val="005555"/>
              </a:buClr>
              <a:buSzTx/>
              <a:buFont typeface="Wingdings 3" panose="05040102010807070707" pitchFamily="18" charset="2"/>
              <a:buChar char=""/>
              <a:tabLst/>
              <a:defRPr/>
            </a:pPr>
            <a:r>
              <a:rPr kumimoji="0" lang="de-DE" sz="1500" b="0" i="1" u="none" strike="noStrike" kern="600" cap="none" spc="40" normalizeH="0" baseline="0" noProof="0" dirty="0" smtClean="0">
                <a:ln>
                  <a:noFill/>
                </a:ln>
                <a:solidFill>
                  <a:srgbClr val="005555"/>
                </a:solidFill>
                <a:effectLst/>
                <a:uLnTx/>
                <a:uFillTx/>
                <a:latin typeface="+mn-lt"/>
                <a:ea typeface="+mn-ea"/>
                <a:cs typeface="+mn-cs"/>
              </a:rPr>
              <a:t>Ebene 7: Zusatzinfo</a:t>
            </a:r>
          </a:p>
          <a:p>
            <a:pPr marL="0" marR="0" lvl="7" indent="0" algn="l" defTabSz="914400" rtl="0" eaLnBrk="1" fontAlgn="auto" latinLnBrk="0" hangingPunct="1">
              <a:lnSpc>
                <a:spcPct val="100000"/>
              </a:lnSpc>
              <a:spcBef>
                <a:spcPts val="525"/>
              </a:spcBef>
              <a:spcAft>
                <a:spcPts val="0"/>
              </a:spcAft>
              <a:buClrTx/>
              <a:buSzPct val="110000"/>
              <a:buFont typeface=".SF NS Symbols Regular"/>
              <a:buNone/>
              <a:tabLst/>
              <a:defRPr/>
            </a:pPr>
            <a:r>
              <a:rPr kumimoji="0" lang="de-DE" sz="1000" b="0" i="1" u="none" strike="noStrike" kern="600" cap="none" spc="120" normalizeH="0" baseline="0" noProof="0" dirty="0" smtClean="0">
                <a:ln>
                  <a:noFill/>
                </a:ln>
                <a:solidFill>
                  <a:srgbClr val="000000">
                    <a:lumMod val="50000"/>
                    <a:lumOff val="50000"/>
                  </a:srgbClr>
                </a:solidFill>
                <a:effectLst/>
                <a:uLnTx/>
                <a:uFillTx/>
                <a:latin typeface="+mn-lt"/>
                <a:ea typeface="+mn-ea"/>
                <a:cs typeface="+mn-cs"/>
              </a:rPr>
              <a:t>Ebene 8: Bildunterschrift</a:t>
            </a:r>
          </a:p>
          <a:p>
            <a:pPr lvl="0"/>
            <a:endParaRPr lang="de-DE" dirty="0"/>
          </a:p>
        </p:txBody>
      </p:sp>
    </p:spTree>
    <p:extLst>
      <p:ext uri="{BB962C8B-B14F-4D97-AF65-F5344CB8AC3E}">
        <p14:creationId xmlns:p14="http://schemas.microsoft.com/office/powerpoint/2010/main" val="1607065832"/>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9" r:id="rId3"/>
    <p:sldLayoutId id="2147483720" r:id="rId4"/>
    <p:sldLayoutId id="2147483721" r:id="rId5"/>
    <p:sldLayoutId id="2147483722" r:id="rId6"/>
    <p:sldLayoutId id="2147483723" r:id="rId7"/>
    <p:sldLayoutId id="2147483724" r:id="rId8"/>
    <p:sldLayoutId id="2147483725" r:id="rId9"/>
  </p:sldLayoutIdLst>
  <p:hf hdr="0"/>
  <p:txStyles>
    <p:titleStyle>
      <a:lvl1pPr algn="l" defTabSz="914400" rtl="0" eaLnBrk="1" latinLnBrk="0" hangingPunct="1">
        <a:lnSpc>
          <a:spcPts val="2800"/>
        </a:lnSpc>
        <a:spcBef>
          <a:spcPct val="0"/>
        </a:spcBef>
        <a:spcAft>
          <a:spcPts val="1800"/>
        </a:spcAft>
        <a:buNone/>
        <a:defRPr sz="2500" b="1" kern="600" cap="none" spc="0" baseline="0">
          <a:solidFill>
            <a:srgbClr val="005555"/>
          </a:solidFill>
          <a:latin typeface="+mj-lt"/>
          <a:ea typeface="+mj-ea"/>
          <a:cs typeface="+mj-cs"/>
        </a:defRPr>
      </a:lvl1pPr>
    </p:titleStyle>
    <p:bodyStyle>
      <a:lvl1pPr marL="0" marR="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lang="de-DE" sz="1800" b="1" i="0" kern="600" spc="40" baseline="0" dirty="0" smtClean="0">
          <a:solidFill>
            <a:srgbClr val="005555"/>
          </a:solidFill>
          <a:latin typeface="+mn-lt"/>
          <a:ea typeface="+mn-ea"/>
          <a:cs typeface="+mn-cs"/>
        </a:defRPr>
      </a:lvl1pPr>
      <a:lvl2pPr marL="0" marR="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sz="1800" kern="600" spc="40" baseline="0">
          <a:solidFill>
            <a:schemeClr val="tx1"/>
          </a:solidFill>
          <a:latin typeface="+mn-lt"/>
          <a:ea typeface="+mn-ea"/>
          <a:cs typeface="+mn-cs"/>
        </a:defRPr>
      </a:lvl2pPr>
      <a:lvl3pPr marL="179388" marR="0" indent="-179388" algn="l" defTabSz="914400" rtl="0" eaLnBrk="1" fontAlgn="auto" latinLnBrk="0" hangingPunct="1">
        <a:lnSpc>
          <a:spcPct val="120000"/>
        </a:lnSpc>
        <a:spcBef>
          <a:spcPts val="600"/>
        </a:spcBef>
        <a:spcAft>
          <a:spcPts val="0"/>
        </a:spcAft>
        <a:buClrTx/>
        <a:buSzTx/>
        <a:buFont typeface="Arial" panose="020B0604020202020204" pitchFamily="34" charset="0"/>
        <a:buChar char="•"/>
        <a:tabLst/>
        <a:defRPr sz="1800" b="1" kern="400" spc="40" baseline="0">
          <a:solidFill>
            <a:schemeClr val="accent3"/>
          </a:solidFill>
          <a:latin typeface="+mn-lt"/>
          <a:ea typeface="+mn-ea"/>
          <a:cs typeface="+mn-cs"/>
        </a:defRPr>
      </a:lvl3pPr>
      <a:lvl4pPr marL="179388" marR="0" indent="-179388" algn="l" defTabSz="914400" rtl="0" eaLnBrk="1" fontAlgn="auto" latinLnBrk="0" hangingPunct="1">
        <a:lnSpc>
          <a:spcPct val="120000"/>
        </a:lnSpc>
        <a:spcBef>
          <a:spcPts val="600"/>
        </a:spcBef>
        <a:spcAft>
          <a:spcPts val="0"/>
        </a:spcAft>
        <a:buClrTx/>
        <a:buSzTx/>
        <a:buFont typeface="Arial" panose="020B0604020202020204" pitchFamily="34" charset="0"/>
        <a:buChar char="•"/>
        <a:tabLst/>
        <a:defRPr sz="1800" kern="600" spc="40" baseline="0">
          <a:solidFill>
            <a:schemeClr val="tx1"/>
          </a:solidFill>
          <a:latin typeface="+mn-lt"/>
          <a:ea typeface="+mn-ea"/>
          <a:cs typeface="+mn-cs"/>
        </a:defRPr>
      </a:lvl4pPr>
      <a:lvl5pPr marL="357188" marR="0" indent="-179388" algn="l" defTabSz="914400" rtl="0" eaLnBrk="1" fontAlgn="auto" latinLnBrk="0" hangingPunct="1">
        <a:lnSpc>
          <a:spcPct val="120000"/>
        </a:lnSpc>
        <a:spcBef>
          <a:spcPts val="600"/>
        </a:spcBef>
        <a:spcAft>
          <a:spcPts val="0"/>
        </a:spcAft>
        <a:buClrTx/>
        <a:buSzTx/>
        <a:buFont typeface="Arial" panose="020B0604020202020204" pitchFamily="34" charset="0"/>
        <a:buChar char="•"/>
        <a:tabLst/>
        <a:defRPr lang="de-DE" sz="1800" b="0" i="0" kern="600" spc="40" baseline="0" dirty="0" smtClean="0">
          <a:solidFill>
            <a:schemeClr val="tx1"/>
          </a:solidFill>
          <a:latin typeface="+mn-lt"/>
          <a:ea typeface="+mn-ea"/>
          <a:cs typeface="+mn-cs"/>
        </a:defRPr>
      </a:lvl5pPr>
      <a:lvl6pPr marL="645750" marR="0" indent="-285750" algn="l" defTabSz="914400" rtl="0" eaLnBrk="1" fontAlgn="auto" latinLnBrk="0" hangingPunct="1">
        <a:lnSpc>
          <a:spcPct val="100000"/>
        </a:lnSpc>
        <a:spcBef>
          <a:spcPts val="300"/>
        </a:spcBef>
        <a:spcAft>
          <a:spcPts val="0"/>
        </a:spcAft>
        <a:buClr>
          <a:srgbClr val="000000"/>
        </a:buClr>
        <a:buSzPct val="110000"/>
        <a:buFont typeface="Symbol" panose="05050102010706020507" pitchFamily="18" charset="2"/>
        <a:buChar char=""/>
        <a:tabLst/>
        <a:defRPr sz="1800" b="0" i="0" kern="600" spc="40" baseline="0">
          <a:solidFill>
            <a:schemeClr val="tx1"/>
          </a:solidFill>
          <a:latin typeface="+mn-lt"/>
          <a:ea typeface="+mn-ea"/>
          <a:cs typeface="+mn-cs"/>
        </a:defRPr>
      </a:lvl6pPr>
      <a:lvl7pPr marL="0" marR="0" indent="215900" algn="l" defTabSz="914400" rtl="0" eaLnBrk="1" fontAlgn="auto" latinLnBrk="0" hangingPunct="1">
        <a:lnSpc>
          <a:spcPct val="100000"/>
        </a:lnSpc>
        <a:spcBef>
          <a:spcPts val="600"/>
        </a:spcBef>
        <a:spcAft>
          <a:spcPts val="0"/>
        </a:spcAft>
        <a:buClr>
          <a:srgbClr val="005555"/>
        </a:buClr>
        <a:buSzTx/>
        <a:buFont typeface="Wingdings 3" panose="05040102010807070707" pitchFamily="18" charset="2"/>
        <a:buChar char=""/>
        <a:tabLst/>
        <a:defRPr sz="1500" b="0" i="1" kern="600" spc="40" baseline="0">
          <a:solidFill>
            <a:schemeClr val="tx2"/>
          </a:solidFill>
          <a:latin typeface="+mn-lt"/>
          <a:ea typeface="+mn-ea"/>
          <a:cs typeface="+mn-cs"/>
        </a:defRPr>
      </a:lvl7pPr>
      <a:lvl8pPr marL="0" marR="0" indent="0" algn="l" defTabSz="914400" rtl="0" eaLnBrk="1" fontAlgn="auto" latinLnBrk="0" hangingPunct="1">
        <a:lnSpc>
          <a:spcPct val="100000"/>
        </a:lnSpc>
        <a:spcBef>
          <a:spcPts val="525"/>
        </a:spcBef>
        <a:spcAft>
          <a:spcPts val="0"/>
        </a:spcAft>
        <a:buClrTx/>
        <a:buSzPct val="110000"/>
        <a:buFont typeface=".SF NS Symbols Regular"/>
        <a:buNone/>
        <a:tabLst/>
        <a:defRPr sz="1000" b="0" i="1" kern="600" spc="120" baseline="0">
          <a:solidFill>
            <a:schemeClr val="tx1">
              <a:lumMod val="50000"/>
              <a:lumOff val="50000"/>
            </a:schemeClr>
          </a:solidFill>
          <a:latin typeface="+mn-lt"/>
          <a:ea typeface="+mn-ea"/>
          <a:cs typeface="+mn-cs"/>
        </a:defRPr>
      </a:lvl8pPr>
      <a:lvl9pPr marL="0" indent="0" algn="l" defTabSz="914400" rtl="0" eaLnBrk="1" latinLnBrk="0" hangingPunct="1">
        <a:lnSpc>
          <a:spcPts val="1100"/>
        </a:lnSpc>
        <a:spcBef>
          <a:spcPts val="525"/>
        </a:spcBef>
        <a:buFont typeface="Arial" panose="020B0604020202020204" pitchFamily="34" charset="0"/>
        <a:buNone/>
        <a:defRPr sz="800" b="0" i="1" kern="600" spc="120" baseline="0">
          <a:solidFill>
            <a:schemeClr val="tx1">
              <a:lumMod val="50000"/>
              <a:lumOff val="50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orient="horz" pos="777">
          <p15:clr>
            <a:srgbClr val="F26B43"/>
          </p15:clr>
        </p15:guide>
        <p15:guide id="3" pos="7038">
          <p15:clr>
            <a:srgbClr val="F26B43"/>
          </p15:clr>
        </p15:guide>
        <p15:guide id="4" orient="horz" pos="4020">
          <p15:clr>
            <a:srgbClr val="F26B43"/>
          </p15:clr>
        </p15:guide>
        <p15:guide id="6" orient="horz" pos="1014">
          <p15:clr>
            <a:srgbClr val="F26B43"/>
          </p15:clr>
        </p15:guide>
        <p15:guide id="7" orient="horz" pos="4088">
          <p15:clr>
            <a:srgbClr val="F26B43"/>
          </p15:clr>
        </p15:guide>
        <p15:guide id="8" orient="horz" pos="4178">
          <p15:clr>
            <a:srgbClr val="F26B43"/>
          </p15:clr>
        </p15:guide>
        <p15:guide id="9" pos="143">
          <p15:clr>
            <a:srgbClr val="F26B43"/>
          </p15:clr>
        </p15:guide>
        <p15:guide id="11" orient="horz" pos="503">
          <p15:clr>
            <a:srgbClr val="F26B43"/>
          </p15:clr>
        </p15:guide>
        <p15:guide id="12" pos="7537">
          <p15:clr>
            <a:srgbClr val="F26B43"/>
          </p15:clr>
        </p15:guide>
        <p15:guide id="14" orient="horz" pos="459">
          <p15:clr>
            <a:srgbClr val="F26B43"/>
          </p15:clr>
        </p15:guide>
        <p15:guide id="15" orient="horz" pos="153">
          <p15:clr>
            <a:srgbClr val="F26B43"/>
          </p15:clr>
        </p15:guide>
        <p15:guide id="16" orient="horz" pos="278">
          <p15:clr>
            <a:srgbClr val="F26B43"/>
          </p15:clr>
        </p15:guide>
        <p15:guide id="18" pos="7242">
          <p15:clr>
            <a:srgbClr val="F26B43"/>
          </p15:clr>
        </p15:guide>
        <p15:guide id="19" pos="43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5.xml"/><Relationship Id="rId4" Type="http://schemas.openxmlformats.org/officeDocument/2006/relationships/comments" Target="../comments/comment4.xml"/></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xml"/><Relationship Id="rId4" Type="http://schemas.openxmlformats.org/officeDocument/2006/relationships/comments" Target="../comments/comment5.xml"/></Relationships>
</file>

<file path=ppt/slides/_rels/slide2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49.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title"/>
          </p:nvPr>
        </p:nvSpPr>
        <p:spPr/>
        <p:txBody>
          <a:bodyPr/>
          <a:lstStyle/>
          <a:p>
            <a:r>
              <a:rPr lang="en-GB" dirty="0" smtClean="0"/>
              <a:t>Thermal analysis of </a:t>
            </a:r>
            <a:r>
              <a:rPr lang="en-GB" dirty="0"/>
              <a:t>the </a:t>
            </a:r>
            <a:r>
              <a:rPr lang="en-GB" dirty="0" err="1" smtClean="0"/>
              <a:t>diam</a:t>
            </a:r>
            <a:r>
              <a:rPr lang="en-GB" dirty="0" smtClean="0"/>
              <a:t> loop in HM31</a:t>
            </a:r>
            <a:br>
              <a:rPr lang="en-GB" dirty="0" smtClean="0"/>
            </a:br>
            <a:r>
              <a:rPr lang="en-GB" dirty="0" smtClean="0"/>
              <a:t>	and Baffle module 9v analysis</a:t>
            </a:r>
            <a:endParaRPr lang="en-GB" dirty="0">
              <a:solidFill>
                <a:srgbClr val="FF0000"/>
              </a:solidFill>
            </a:endParaRPr>
          </a:p>
        </p:txBody>
      </p:sp>
      <p:sp>
        <p:nvSpPr>
          <p:cNvPr id="3" name="Datumsplatzhalter 2"/>
          <p:cNvSpPr>
            <a:spLocks noGrp="1"/>
          </p:cNvSpPr>
          <p:nvPr>
            <p:ph type="dt" sz="half" idx="10"/>
          </p:nvPr>
        </p:nvSpPr>
        <p:spPr/>
        <p:txBody>
          <a:bodyPr/>
          <a:lstStyle/>
          <a:p>
            <a:r>
              <a:rPr lang="de-DE"/>
              <a:t>Short title</a:t>
            </a:r>
            <a:endParaRPr lang="de-DE" dirty="0"/>
          </a:p>
        </p:txBody>
      </p:sp>
      <p:sp>
        <p:nvSpPr>
          <p:cNvPr id="2" name="Fußzeilenplatzhalter 1"/>
          <p:cNvSpPr>
            <a:spLocks noGrp="1"/>
          </p:cNvSpPr>
          <p:nvPr>
            <p:ph type="ftr" sz="quarter" idx="11"/>
          </p:nvPr>
        </p:nvSpPr>
        <p:spPr/>
        <p:txBody>
          <a:bodyPr/>
          <a:lstStyle/>
          <a:p>
            <a:pPr algn="l">
              <a:tabLst>
                <a:tab pos="9775825" algn="r"/>
                <a:tab pos="10226675" algn="r"/>
              </a:tabLst>
            </a:pPr>
            <a:r>
              <a:rPr lang="de-DE" dirty="0"/>
              <a:t>Max-Planck-Institut für Plasmaphysik | </a:t>
            </a:r>
            <a:r>
              <a:rPr lang="de-DE" dirty="0" smtClean="0"/>
              <a:t>Vojtech Smolik </a:t>
            </a:r>
            <a:r>
              <a:rPr lang="de-DE" dirty="0"/>
              <a:t>| </a:t>
            </a:r>
            <a:r>
              <a:rPr lang="de-DE" dirty="0" smtClean="0"/>
              <a:t>15.1. 2024</a:t>
            </a:r>
            <a:endParaRPr lang="de-DE" dirty="0"/>
          </a:p>
        </p:txBody>
      </p:sp>
      <p:sp>
        <p:nvSpPr>
          <p:cNvPr id="4" name="Foliennummernplatzhalter 3"/>
          <p:cNvSpPr>
            <a:spLocks noGrp="1"/>
          </p:cNvSpPr>
          <p:nvPr>
            <p:ph type="sldNum" sz="quarter" idx="12"/>
          </p:nvPr>
        </p:nvSpPr>
        <p:spPr/>
        <p:txBody>
          <a:bodyPr/>
          <a:lstStyle/>
          <a:p>
            <a:fld id="{3B1A4699-952B-42DA-8DC4-38A59B49610C}" type="slidenum">
              <a:rPr lang="de-DE" smtClean="0"/>
              <a:pPr/>
              <a:t>1</a:t>
            </a:fld>
            <a:endParaRPr lang="de-DE" dirty="0"/>
          </a:p>
        </p:txBody>
      </p:sp>
      <p:sp>
        <p:nvSpPr>
          <p:cNvPr id="9" name="Titel 6"/>
          <p:cNvSpPr txBox="1">
            <a:spLocks/>
          </p:cNvSpPr>
          <p:nvPr/>
        </p:nvSpPr>
        <p:spPr>
          <a:xfrm>
            <a:off x="6060281" y="4480096"/>
            <a:ext cx="5350662" cy="1766455"/>
          </a:xfrm>
          <a:prstGeom prst="rect">
            <a:avLst/>
          </a:prstGeom>
        </p:spPr>
        <p:txBody>
          <a:bodyPr vert="horz" lIns="0" tIns="0" rIns="0" bIns="0" rtlCol="0" anchor="ctr" anchorCtr="0">
            <a:noAutofit/>
          </a:bodyPr>
          <a:lstStyle>
            <a:lvl1pPr algn="l" defTabSz="914400" rtl="0" eaLnBrk="1" latinLnBrk="0" hangingPunct="1">
              <a:lnSpc>
                <a:spcPts val="2800"/>
              </a:lnSpc>
              <a:spcBef>
                <a:spcPct val="0"/>
              </a:spcBef>
              <a:spcAft>
                <a:spcPts val="1800"/>
              </a:spcAft>
              <a:buNone/>
              <a:defRPr sz="2300" b="1" kern="600" cap="none" spc="0" baseline="0">
                <a:solidFill>
                  <a:schemeClr val="bg1"/>
                </a:solidFill>
                <a:latin typeface="+mj-lt"/>
                <a:ea typeface="+mj-ea"/>
                <a:cs typeface="+mj-cs"/>
              </a:defRPr>
            </a:lvl1pPr>
          </a:lstStyle>
          <a:p>
            <a:pPr algn="ctr"/>
            <a:r>
              <a:rPr lang="en-GB" dirty="0" smtClean="0"/>
              <a:t>Mikhail </a:t>
            </a:r>
            <a:r>
              <a:rPr lang="en-GB" dirty="0" err="1" smtClean="0"/>
              <a:t>Khokhlov</a:t>
            </a:r>
            <a:endParaRPr lang="en-GB" dirty="0" smtClean="0"/>
          </a:p>
          <a:p>
            <a:pPr algn="ctr"/>
            <a:r>
              <a:rPr lang="en-GB" dirty="0" err="1" smtClean="0"/>
              <a:t>Vojtěch</a:t>
            </a:r>
            <a:r>
              <a:rPr lang="en-GB" dirty="0" smtClean="0"/>
              <a:t> </a:t>
            </a:r>
            <a:r>
              <a:rPr lang="en-GB" dirty="0" err="1"/>
              <a:t>Smolík</a:t>
            </a:r>
            <a:endParaRPr lang="en-GB" dirty="0">
              <a:solidFill>
                <a:srgbClr val="FF0000"/>
              </a:solidFill>
            </a:endParaRPr>
          </a:p>
        </p:txBody>
      </p:sp>
    </p:spTree>
    <p:extLst>
      <p:ext uri="{BB962C8B-B14F-4D97-AF65-F5344CB8AC3E}">
        <p14:creationId xmlns:p14="http://schemas.microsoft.com/office/powerpoint/2010/main" val="884112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13"/>
          </p:nvPr>
        </p:nvSpPr>
        <p:spPr>
          <a:xfrm>
            <a:off x="695326" y="1335741"/>
            <a:ext cx="10801349" cy="4772024"/>
          </a:xfrm>
        </p:spPr>
        <p:txBody>
          <a:bodyPr/>
          <a:lstStyle/>
          <a:p>
            <a:pPr marL="285750" indent="-285750">
              <a:buFont typeface="Arial" panose="020B0604020202020204" pitchFamily="34" charset="0"/>
              <a:buChar char="•"/>
            </a:pPr>
            <a:r>
              <a:rPr lang="de-DE" b="0" dirty="0" err="1" smtClean="0"/>
              <a:t>Workbench</a:t>
            </a:r>
            <a:r>
              <a:rPr lang="de-DE" b="0" dirty="0" smtClean="0"/>
              <a:t> </a:t>
            </a:r>
            <a:r>
              <a:rPr lang="de-DE" b="0" dirty="0" err="1" smtClean="0"/>
              <a:t>simulation</a:t>
            </a:r>
            <a:r>
              <a:rPr lang="de-DE" b="0" dirty="0" smtClean="0"/>
              <a:t> </a:t>
            </a:r>
            <a:r>
              <a:rPr lang="de-DE" b="0" dirty="0" err="1" smtClean="0"/>
              <a:t>is</a:t>
            </a:r>
            <a:r>
              <a:rPr lang="de-DE" b="0" dirty="0" smtClean="0"/>
              <a:t> </a:t>
            </a:r>
            <a:r>
              <a:rPr lang="de-DE" b="0" dirty="0" err="1" smtClean="0"/>
              <a:t>developed</a:t>
            </a:r>
            <a:r>
              <a:rPr lang="de-DE" b="0" dirty="0" smtClean="0"/>
              <a:t> </a:t>
            </a:r>
            <a:r>
              <a:rPr lang="de-DE" b="0" dirty="0" err="1" smtClean="0"/>
              <a:t>to</a:t>
            </a:r>
            <a:r>
              <a:rPr lang="de-DE" b="0" dirty="0" smtClean="0"/>
              <a:t> </a:t>
            </a:r>
            <a:r>
              <a:rPr lang="de-DE" b="0" dirty="0" err="1" smtClean="0"/>
              <a:t>examine</a:t>
            </a:r>
            <a:r>
              <a:rPr lang="de-DE" b="0" dirty="0" smtClean="0"/>
              <a:t> </a:t>
            </a:r>
            <a:r>
              <a:rPr lang="de-DE" b="0" dirty="0" err="1" smtClean="0"/>
              <a:t>radiation</a:t>
            </a:r>
            <a:r>
              <a:rPr lang="de-DE" b="0" dirty="0" smtClean="0"/>
              <a:t> </a:t>
            </a:r>
            <a:r>
              <a:rPr lang="de-DE" b="0" dirty="0" err="1" smtClean="0"/>
              <a:t>heat</a:t>
            </a:r>
            <a:r>
              <a:rPr lang="de-DE" b="0" dirty="0" smtClean="0"/>
              <a:t> </a:t>
            </a:r>
            <a:r>
              <a:rPr lang="de-DE" b="0" dirty="0" err="1" smtClean="0"/>
              <a:t>load</a:t>
            </a:r>
            <a:r>
              <a:rPr lang="de-DE" b="0" dirty="0" smtClean="0"/>
              <a:t> </a:t>
            </a:r>
            <a:r>
              <a:rPr lang="de-DE" b="0" dirty="0" err="1" smtClean="0"/>
              <a:t>to</a:t>
            </a:r>
            <a:r>
              <a:rPr lang="de-DE" b="0" dirty="0" smtClean="0"/>
              <a:t> </a:t>
            </a:r>
            <a:r>
              <a:rPr lang="de-DE" b="0" dirty="0" err="1" smtClean="0"/>
              <a:t>diam</a:t>
            </a:r>
            <a:r>
              <a:rPr lang="de-DE" b="0" dirty="0" smtClean="0"/>
              <a:t> </a:t>
            </a:r>
            <a:r>
              <a:rPr lang="de-DE" b="0" dirty="0" err="1" smtClean="0"/>
              <a:t>loop</a:t>
            </a:r>
            <a:r>
              <a:rPr lang="de-DE" b="0" dirty="0" smtClean="0"/>
              <a:t> in HM31</a:t>
            </a:r>
          </a:p>
          <a:p>
            <a:pPr marL="285750" indent="-285750">
              <a:buFont typeface="Arial" panose="020B0604020202020204" pitchFamily="34" charset="0"/>
              <a:buChar char="•"/>
            </a:pPr>
            <a:r>
              <a:rPr lang="de-DE" b="0" dirty="0" err="1" smtClean="0"/>
              <a:t>Cooling</a:t>
            </a:r>
            <a:r>
              <a:rPr lang="de-DE" b="0" dirty="0" smtClean="0"/>
              <a:t> </a:t>
            </a:r>
            <a:r>
              <a:rPr lang="de-DE" b="0" dirty="0" err="1" smtClean="0"/>
              <a:t>water</a:t>
            </a:r>
            <a:r>
              <a:rPr lang="de-DE" b="0" dirty="0" smtClean="0"/>
              <a:t> </a:t>
            </a:r>
            <a:r>
              <a:rPr lang="de-DE" b="0" dirty="0" err="1" smtClean="0"/>
              <a:t>is</a:t>
            </a:r>
            <a:r>
              <a:rPr lang="de-DE" b="0" dirty="0" smtClean="0"/>
              <a:t> </a:t>
            </a:r>
            <a:r>
              <a:rPr lang="de-DE" b="0" dirty="0" err="1" smtClean="0"/>
              <a:t>simulated</a:t>
            </a:r>
            <a:r>
              <a:rPr lang="de-DE" b="0" dirty="0" smtClean="0"/>
              <a:t> </a:t>
            </a:r>
            <a:r>
              <a:rPr lang="de-DE" b="0" dirty="0" err="1" smtClean="0"/>
              <a:t>as</a:t>
            </a:r>
            <a:r>
              <a:rPr lang="de-DE" b="0" dirty="0" smtClean="0"/>
              <a:t> a thermal liquid beam –</a:t>
            </a:r>
            <a:r>
              <a:rPr lang="de-DE" b="0" dirty="0" err="1" smtClean="0"/>
              <a:t>temperature</a:t>
            </a:r>
            <a:r>
              <a:rPr lang="de-DE" b="0" dirty="0" smtClean="0"/>
              <a:t> </a:t>
            </a:r>
            <a:r>
              <a:rPr lang="de-DE" b="0" dirty="0" err="1" smtClean="0"/>
              <a:t>increase</a:t>
            </a:r>
            <a:r>
              <a:rPr lang="de-DE" b="0" dirty="0" smtClean="0"/>
              <a:t> </a:t>
            </a:r>
            <a:r>
              <a:rPr lang="de-DE" b="0" dirty="0" err="1" smtClean="0"/>
              <a:t>along</a:t>
            </a:r>
            <a:r>
              <a:rPr lang="de-DE" b="0" dirty="0" smtClean="0"/>
              <a:t> </a:t>
            </a:r>
            <a:r>
              <a:rPr lang="de-DE" b="0" dirty="0" err="1" smtClean="0"/>
              <a:t>the</a:t>
            </a:r>
            <a:r>
              <a:rPr lang="de-DE" b="0" dirty="0" smtClean="0"/>
              <a:t> </a:t>
            </a:r>
            <a:r>
              <a:rPr lang="de-DE" b="0" dirty="0" err="1" smtClean="0"/>
              <a:t>channel</a:t>
            </a:r>
            <a:r>
              <a:rPr lang="de-DE" b="0" dirty="0" smtClean="0"/>
              <a:t> </a:t>
            </a:r>
          </a:p>
          <a:p>
            <a:pPr marL="285750" indent="-285750">
              <a:buFont typeface="Arial" panose="020B0604020202020204" pitchFamily="34" charset="0"/>
              <a:buChar char="•"/>
            </a:pPr>
            <a:r>
              <a:rPr lang="de-DE" b="0" dirty="0" err="1" smtClean="0"/>
              <a:t>Steady-state</a:t>
            </a:r>
            <a:r>
              <a:rPr lang="de-DE" b="0" dirty="0" smtClean="0"/>
              <a:t> </a:t>
            </a:r>
            <a:r>
              <a:rPr lang="de-DE" b="0" dirty="0" err="1" smtClean="0"/>
              <a:t>simulation</a:t>
            </a:r>
            <a:endParaRPr lang="de-DE" b="0" dirty="0" smtClean="0"/>
          </a:p>
          <a:p>
            <a:pPr marL="285750" indent="-285750">
              <a:buFont typeface="Arial" panose="020B0604020202020204" pitchFamily="34" charset="0"/>
              <a:buChar char="•"/>
            </a:pPr>
            <a:r>
              <a:rPr lang="de-DE" b="0" dirty="0" smtClean="0"/>
              <a:t>Uniform </a:t>
            </a:r>
            <a:r>
              <a:rPr lang="de-DE" b="0" dirty="0" err="1" smtClean="0"/>
              <a:t>heat</a:t>
            </a:r>
            <a:r>
              <a:rPr lang="de-DE" b="0" dirty="0" smtClean="0"/>
              <a:t> </a:t>
            </a:r>
            <a:r>
              <a:rPr lang="de-DE" b="0" dirty="0" err="1" smtClean="0"/>
              <a:t>flux</a:t>
            </a:r>
            <a:endParaRPr lang="de-DE" b="0" dirty="0" smtClean="0"/>
          </a:p>
          <a:p>
            <a:endParaRPr lang="de-DE" b="0" dirty="0" smtClean="0"/>
          </a:p>
        </p:txBody>
      </p:sp>
      <p:sp>
        <p:nvSpPr>
          <p:cNvPr id="3" name="Titel 2"/>
          <p:cNvSpPr>
            <a:spLocks noGrp="1"/>
          </p:cNvSpPr>
          <p:nvPr>
            <p:ph type="title"/>
          </p:nvPr>
        </p:nvSpPr>
        <p:spPr/>
        <p:txBody>
          <a:bodyPr/>
          <a:lstStyle/>
          <a:p>
            <a:r>
              <a:rPr lang="de-DE" dirty="0" err="1" smtClean="0"/>
              <a:t>Introduction</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2</a:t>
            </a:fld>
            <a:endParaRPr lang="de-DE" dirty="0"/>
          </a:p>
        </p:txBody>
      </p:sp>
      <p:pic>
        <p:nvPicPr>
          <p:cNvPr id="7" name="Grafik 6"/>
          <p:cNvPicPr>
            <a:picLocks noChangeAspect="1"/>
          </p:cNvPicPr>
          <p:nvPr/>
        </p:nvPicPr>
        <p:blipFill>
          <a:blip r:embed="rId2"/>
          <a:stretch>
            <a:fillRect/>
          </a:stretch>
        </p:blipFill>
        <p:spPr>
          <a:xfrm>
            <a:off x="3878433" y="2173867"/>
            <a:ext cx="7870655" cy="4684133"/>
          </a:xfrm>
          <a:prstGeom prst="rect">
            <a:avLst/>
          </a:prstGeom>
        </p:spPr>
      </p:pic>
    </p:spTree>
    <p:extLst>
      <p:ext uri="{BB962C8B-B14F-4D97-AF65-F5344CB8AC3E}">
        <p14:creationId xmlns:p14="http://schemas.microsoft.com/office/powerpoint/2010/main" val="9091300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nhaltsplatzhalter 1"/>
              <p:cNvSpPr>
                <a:spLocks noGrp="1"/>
              </p:cNvSpPr>
              <p:nvPr>
                <p:ph sz="quarter" idx="13"/>
              </p:nvPr>
            </p:nvSpPr>
            <p:spPr>
              <a:xfrm>
                <a:off x="228525" y="1370533"/>
                <a:ext cx="11663512" cy="4772024"/>
              </a:xfrm>
            </p:spPr>
            <p:txBody>
              <a:bodyPr/>
              <a:lstStyle/>
              <a:p>
                <a:pPr marL="342900" indent="-342900" algn="just">
                  <a:buAutoNum type="arabicPeriod"/>
                </a:pPr>
                <a:r>
                  <a:rPr lang="de-DE" b="0" dirty="0" smtClean="0"/>
                  <a:t>Materials</a:t>
                </a:r>
              </a:p>
              <a:p>
                <a:pPr marL="522288" lvl="2" indent="-342900" algn="just"/>
                <a:r>
                  <a:rPr lang="de-DE" b="0" dirty="0" smtClean="0"/>
                  <a:t>Material </a:t>
                </a:r>
                <a:r>
                  <a:rPr lang="de-DE" b="0" dirty="0" err="1" smtClean="0"/>
                  <a:t>properties</a:t>
                </a:r>
                <a:r>
                  <a:rPr lang="de-DE" b="0" dirty="0" smtClean="0"/>
                  <a:t> </a:t>
                </a:r>
                <a:r>
                  <a:rPr lang="de-DE" b="0" dirty="0" err="1" smtClean="0"/>
                  <a:t>imported</a:t>
                </a:r>
                <a:r>
                  <a:rPr lang="de-DE" b="0" dirty="0" smtClean="0"/>
                  <a:t> </a:t>
                </a:r>
                <a:r>
                  <a:rPr lang="de-DE" b="0" dirty="0" err="1" smtClean="0"/>
                  <a:t>from</a:t>
                </a:r>
                <a:r>
                  <a:rPr lang="de-DE" b="0" dirty="0" smtClean="0"/>
                  <a:t> W 7-X </a:t>
                </a:r>
                <a:r>
                  <a:rPr lang="de-DE" b="0" dirty="0" err="1" smtClean="0"/>
                  <a:t>library</a:t>
                </a:r>
                <a:r>
                  <a:rPr lang="de-DE" b="0" dirty="0" smtClean="0"/>
                  <a:t> </a:t>
                </a:r>
              </a:p>
              <a:p>
                <a:pPr marL="342900" indent="-342900" algn="just">
                  <a:buAutoNum type="arabicPeriod"/>
                </a:pPr>
                <a:r>
                  <a:rPr lang="de-DE" b="0" dirty="0" smtClean="0"/>
                  <a:t>Initial </a:t>
                </a:r>
                <a:r>
                  <a:rPr lang="de-DE" b="0" dirty="0" err="1" smtClean="0"/>
                  <a:t>temperatures</a:t>
                </a:r>
                <a:r>
                  <a:rPr lang="de-DE" b="0" dirty="0" smtClean="0"/>
                  <a:t> </a:t>
                </a:r>
                <a:r>
                  <a:rPr lang="de-DE" b="0" dirty="0" err="1" smtClean="0"/>
                  <a:t>and</a:t>
                </a:r>
                <a:r>
                  <a:rPr lang="de-DE" b="0" dirty="0" smtClean="0"/>
                  <a:t> </a:t>
                </a:r>
                <a:r>
                  <a:rPr lang="de-DE" b="0" dirty="0" err="1" smtClean="0"/>
                  <a:t>flow</a:t>
                </a:r>
                <a:r>
                  <a:rPr lang="de-DE" b="0" dirty="0" smtClean="0"/>
                  <a:t> </a:t>
                </a:r>
                <a:r>
                  <a:rPr lang="de-DE" b="0" dirty="0" err="1" smtClean="0"/>
                  <a:t>rates</a:t>
                </a:r>
                <a:endParaRPr lang="de-DE" b="0" dirty="0"/>
              </a:p>
              <a:p>
                <a:pPr marL="522288" lvl="2" indent="-342900" algn="just"/>
                <a:r>
                  <a:rPr lang="de-DE" b="0" dirty="0" err="1" smtClean="0"/>
                  <a:t>Inlet</a:t>
                </a:r>
                <a:r>
                  <a:rPr lang="de-DE" b="0" dirty="0" smtClean="0"/>
                  <a:t> </a:t>
                </a:r>
                <a:r>
                  <a:rPr lang="de-DE" b="0" dirty="0" err="1" smtClean="0"/>
                  <a:t>temperature</a:t>
                </a:r>
                <a:r>
                  <a:rPr lang="de-DE" b="0" dirty="0" smtClean="0"/>
                  <a:t> 30 °C , </a:t>
                </a:r>
                <a:r>
                  <a:rPr lang="de-DE" b="0" dirty="0" err="1" smtClean="0"/>
                  <a:t>pipe</a:t>
                </a:r>
                <a:r>
                  <a:rPr lang="de-DE" b="0" dirty="0" smtClean="0"/>
                  <a:t> </a:t>
                </a:r>
                <a:r>
                  <a:rPr lang="de-DE" b="0" dirty="0" err="1" smtClean="0"/>
                  <a:t>convection</a:t>
                </a:r>
                <a:r>
                  <a:rPr lang="de-DE" b="0" dirty="0" smtClean="0"/>
                  <a:t> 17 000 W/m2C</a:t>
                </a:r>
              </a:p>
              <a:p>
                <a:pPr marL="522288" lvl="2" indent="-342900" algn="just"/>
                <a:r>
                  <a:rPr lang="de-DE" b="0" dirty="0" err="1"/>
                  <a:t>f</a:t>
                </a:r>
                <a:r>
                  <a:rPr lang="de-DE" b="0" dirty="0" err="1" smtClean="0"/>
                  <a:t>low</a:t>
                </a:r>
                <a:r>
                  <a:rPr lang="de-DE" b="0" dirty="0" smtClean="0"/>
                  <a:t> </a:t>
                </a:r>
                <a:r>
                  <a:rPr lang="de-DE" b="0" dirty="0" err="1" smtClean="0"/>
                  <a:t>rates</a:t>
                </a:r>
                <a:r>
                  <a:rPr lang="de-DE" b="0" dirty="0" smtClean="0"/>
                  <a:t> </a:t>
                </a:r>
                <a:r>
                  <a:rPr lang="de-DE" b="0" dirty="0" err="1" smtClean="0"/>
                  <a:t>predicted</a:t>
                </a:r>
                <a:r>
                  <a:rPr lang="de-DE" b="0" dirty="0" smtClean="0"/>
                  <a:t> </a:t>
                </a:r>
                <a:r>
                  <a:rPr lang="de-DE" b="0" dirty="0" err="1" smtClean="0"/>
                  <a:t>by</a:t>
                </a:r>
                <a:r>
                  <a:rPr lang="de-DE" b="0" dirty="0" smtClean="0"/>
                  <a:t> </a:t>
                </a:r>
                <a:r>
                  <a:rPr lang="en-US" dirty="0" err="1"/>
                  <a:t>KiP</a:t>
                </a:r>
                <a:r>
                  <a:rPr lang="en-US" dirty="0"/>
                  <a:t>: Hydraulic calculation of 1st wall cooling loops (OP1 and OP2) </a:t>
                </a:r>
                <a:r>
                  <a:rPr lang="de-DE" b="0" i="1" u="sng" dirty="0" smtClean="0"/>
                  <a:t>29HDQV </a:t>
                </a:r>
                <a:r>
                  <a:rPr lang="de-DE" b="0" i="1" u="sng" dirty="0"/>
                  <a:t>v2.0 </a:t>
                </a:r>
                <a:endParaRPr lang="de-DE" b="0" i="1" u="sng" dirty="0" smtClean="0"/>
              </a:p>
              <a:p>
                <a:pPr marL="342900" indent="-342900" algn="just">
                  <a:buAutoNum type="arabicPeriod"/>
                </a:pPr>
                <a:r>
                  <a:rPr lang="de-DE" b="0" dirty="0" err="1" smtClean="0"/>
                  <a:t>Heat</a:t>
                </a:r>
                <a:r>
                  <a:rPr lang="de-DE" b="0" dirty="0" smtClean="0"/>
                  <a:t> </a:t>
                </a:r>
                <a:r>
                  <a:rPr lang="de-DE" b="0" dirty="0" err="1" smtClean="0"/>
                  <a:t>flux</a:t>
                </a:r>
                <a:endParaRPr lang="de-DE" b="0" dirty="0" smtClean="0"/>
              </a:p>
              <a:p>
                <a:pPr marL="522288" lvl="2" indent="-342900" algn="just"/>
                <a:r>
                  <a:rPr lang="de-DE" b="0" dirty="0" smtClean="0"/>
                  <a:t>Uniform </a:t>
                </a:r>
                <a:r>
                  <a:rPr lang="de-DE" b="0" dirty="0" err="1" smtClean="0"/>
                  <a:t>heat</a:t>
                </a:r>
                <a:r>
                  <a:rPr lang="de-DE" b="0" dirty="0" smtClean="0"/>
                  <a:t> </a:t>
                </a:r>
                <a:r>
                  <a:rPr lang="de-DE" b="0" dirty="0" err="1" smtClean="0"/>
                  <a:t>flux</a:t>
                </a:r>
                <a:r>
                  <a:rPr lang="de-DE" b="0" dirty="0" smtClean="0"/>
                  <a:t> </a:t>
                </a:r>
                <a14:m>
                  <m:oMath xmlns:m="http://schemas.openxmlformats.org/officeDocument/2006/math">
                    <m:sSup>
                      <m:sSupPr>
                        <m:ctrlPr>
                          <a:rPr lang="de-DE" b="0" i="1" smtClean="0">
                            <a:latin typeface="Cambria Math" panose="02040503050406030204" pitchFamily="18" charset="0"/>
                          </a:rPr>
                        </m:ctrlPr>
                      </m:sSupPr>
                      <m:e>
                        <m:r>
                          <a:rPr lang="de-DE" b="0" i="1" smtClean="0">
                            <a:latin typeface="Cambria Math" panose="02040503050406030204" pitchFamily="18" charset="0"/>
                          </a:rPr>
                          <m:t>250 </m:t>
                        </m:r>
                        <m:r>
                          <a:rPr lang="de-DE" b="0" i="1" smtClean="0">
                            <a:latin typeface="Cambria Math" panose="02040503050406030204" pitchFamily="18" charset="0"/>
                          </a:rPr>
                          <m:t>𝑘𝑊</m:t>
                        </m:r>
                        <m:r>
                          <a:rPr lang="de-DE" b="0" i="1" smtClean="0">
                            <a:latin typeface="Cambria Math" panose="02040503050406030204" pitchFamily="18" charset="0"/>
                          </a:rPr>
                          <m:t>/</m:t>
                        </m:r>
                        <m:r>
                          <a:rPr lang="de-DE" b="0" i="1" smtClean="0">
                            <a:latin typeface="Cambria Math" panose="02040503050406030204" pitchFamily="18" charset="0"/>
                          </a:rPr>
                          <m:t>𝑚</m:t>
                        </m:r>
                      </m:e>
                      <m:sup>
                        <m:r>
                          <a:rPr lang="de-DE" b="0" i="1" smtClean="0">
                            <a:latin typeface="Cambria Math" panose="02040503050406030204" pitchFamily="18" charset="0"/>
                          </a:rPr>
                          <m:t>2</m:t>
                        </m:r>
                      </m:sup>
                    </m:sSup>
                  </m:oMath>
                </a14:m>
                <a:r>
                  <a:rPr lang="de-DE" b="0" dirty="0" smtClean="0"/>
                  <a:t> </a:t>
                </a:r>
                <a:r>
                  <a:rPr lang="de-DE" b="0" dirty="0" err="1"/>
                  <a:t>by</a:t>
                </a:r>
                <a:r>
                  <a:rPr lang="de-DE" b="0" dirty="0"/>
                  <a:t> </a:t>
                </a:r>
                <a:r>
                  <a:rPr lang="en-US" dirty="0"/>
                  <a:t>Specification of Design Loads for In-vessel Components of W7-X </a:t>
                </a:r>
                <a:r>
                  <a:rPr lang="de-DE" b="0" i="1" u="sng" dirty="0" smtClean="0"/>
                  <a:t>2AYMBW</a:t>
                </a:r>
                <a:r>
                  <a:rPr lang="de-DE" b="0" dirty="0" smtClean="0"/>
                  <a:t> + </a:t>
                </a:r>
                <a14:m>
                  <m:oMath xmlns:m="http://schemas.openxmlformats.org/officeDocument/2006/math">
                    <m:sSup>
                      <m:sSupPr>
                        <m:ctrlPr>
                          <a:rPr lang="de-DE" b="0" i="1">
                            <a:latin typeface="Cambria Math" panose="02040503050406030204" pitchFamily="18" charset="0"/>
                          </a:rPr>
                        </m:ctrlPr>
                      </m:sSupPr>
                      <m:e>
                        <m:r>
                          <a:rPr lang="de-DE" b="0" i="1" smtClean="0">
                            <a:latin typeface="Cambria Math" panose="02040503050406030204" pitchFamily="18" charset="0"/>
                          </a:rPr>
                          <m:t>1</m:t>
                        </m:r>
                        <m:r>
                          <a:rPr lang="de-DE" b="0" i="1">
                            <a:latin typeface="Cambria Math" panose="02040503050406030204" pitchFamily="18" charset="0"/>
                          </a:rPr>
                          <m:t>50 </m:t>
                        </m:r>
                        <m:r>
                          <a:rPr lang="de-DE" b="0" i="1">
                            <a:latin typeface="Cambria Math" panose="02040503050406030204" pitchFamily="18" charset="0"/>
                          </a:rPr>
                          <m:t>𝑘𝑊</m:t>
                        </m:r>
                        <m:r>
                          <a:rPr lang="de-DE" b="0" i="1">
                            <a:latin typeface="Cambria Math" panose="02040503050406030204" pitchFamily="18" charset="0"/>
                          </a:rPr>
                          <m:t>/</m:t>
                        </m:r>
                        <m:r>
                          <a:rPr lang="de-DE" b="0" i="1">
                            <a:latin typeface="Cambria Math" panose="02040503050406030204" pitchFamily="18" charset="0"/>
                          </a:rPr>
                          <m:t>𝑚</m:t>
                        </m:r>
                      </m:e>
                      <m:sup>
                        <m:r>
                          <a:rPr lang="de-DE" b="0" i="1">
                            <a:latin typeface="Cambria Math" panose="02040503050406030204" pitchFamily="18" charset="0"/>
                          </a:rPr>
                          <m:t>2</m:t>
                        </m:r>
                      </m:sup>
                    </m:sSup>
                  </m:oMath>
                </a14:m>
                <a:r>
                  <a:rPr lang="de-DE" b="0" dirty="0" smtClean="0"/>
                  <a:t>solution</a:t>
                </a:r>
                <a:endParaRPr lang="de-DE" b="0" dirty="0"/>
              </a:p>
              <a:p>
                <a:pPr marL="342900" indent="-342900" algn="just">
                  <a:buAutoNum type="arabicPeriod"/>
                </a:pPr>
                <a:r>
                  <a:rPr lang="de-DE" b="0" dirty="0" smtClean="0"/>
                  <a:t>Radiation </a:t>
                </a:r>
                <a:r>
                  <a:rPr lang="de-DE" b="0" dirty="0" err="1" smtClean="0"/>
                  <a:t>towards</a:t>
                </a:r>
                <a:r>
                  <a:rPr lang="de-DE" b="0" dirty="0" smtClean="0"/>
                  <a:t> PV</a:t>
                </a:r>
              </a:p>
              <a:p>
                <a:pPr marL="522288" lvl="2" indent="-342900" algn="just"/>
                <a:r>
                  <a:rPr lang="de-DE" b="0" dirty="0" err="1" smtClean="0"/>
                  <a:t>Ambient</a:t>
                </a:r>
                <a:r>
                  <a:rPr lang="de-DE" b="0" dirty="0" smtClean="0"/>
                  <a:t> </a:t>
                </a:r>
                <a:r>
                  <a:rPr lang="de-DE" b="0" dirty="0" err="1" smtClean="0"/>
                  <a:t>temperature</a:t>
                </a:r>
                <a:r>
                  <a:rPr lang="de-DE" b="0" dirty="0" smtClean="0"/>
                  <a:t> </a:t>
                </a:r>
                <a:r>
                  <a:rPr lang="de-DE" b="0" dirty="0" err="1" smtClean="0"/>
                  <a:t>used</a:t>
                </a:r>
                <a:r>
                  <a:rPr lang="de-DE" b="0" dirty="0" smtClean="0"/>
                  <a:t> </a:t>
                </a:r>
                <a:r>
                  <a:rPr lang="de-DE" b="0" dirty="0" err="1" smtClean="0"/>
                  <a:t>for</a:t>
                </a:r>
                <a:r>
                  <a:rPr lang="de-DE" b="0" dirty="0" smtClean="0"/>
                  <a:t> </a:t>
                </a:r>
                <a:r>
                  <a:rPr lang="de-DE" b="0" dirty="0" err="1" smtClean="0"/>
                  <a:t>radiation</a:t>
                </a:r>
                <a:r>
                  <a:rPr lang="de-DE" b="0" dirty="0" smtClean="0"/>
                  <a:t> </a:t>
                </a:r>
                <a:r>
                  <a:rPr lang="de-DE" b="0" dirty="0" err="1" smtClean="0"/>
                  <a:t>solver</a:t>
                </a:r>
                <a:r>
                  <a:rPr lang="de-DE" b="0" dirty="0" smtClean="0"/>
                  <a:t>: 30 </a:t>
                </a:r>
                <a:r>
                  <a:rPr lang="de-DE" b="0" dirty="0"/>
                  <a:t>°C </a:t>
                </a:r>
              </a:p>
              <a:p>
                <a:endParaRPr lang="de-DE" dirty="0" smtClean="0"/>
              </a:p>
            </p:txBody>
          </p:sp>
        </mc:Choice>
        <mc:Fallback xmlns="">
          <p:sp>
            <p:nvSpPr>
              <p:cNvPr id="2" name="Inhaltsplatzhalter 1"/>
              <p:cNvSpPr>
                <a:spLocks noGrp="1" noRot="1" noChangeAspect="1" noMove="1" noResize="1" noEditPoints="1" noAdjustHandles="1" noChangeArrowheads="1" noChangeShapeType="1" noTextEdit="1"/>
              </p:cNvSpPr>
              <p:nvPr>
                <p:ph sz="quarter" idx="13"/>
              </p:nvPr>
            </p:nvSpPr>
            <p:spPr>
              <a:xfrm>
                <a:off x="228525" y="1370533"/>
                <a:ext cx="11663512" cy="4772024"/>
              </a:xfrm>
              <a:blipFill>
                <a:blip r:embed="rId2"/>
                <a:stretch>
                  <a:fillRect l="-1097" t="-128" r="-1202"/>
                </a:stretch>
              </a:blipFill>
            </p:spPr>
            <p:txBody>
              <a:bodyPr/>
              <a:lstStyle/>
              <a:p>
                <a:r>
                  <a:rPr lang="de-DE">
                    <a:noFill/>
                  </a:rPr>
                  <a:t> </a:t>
                </a:r>
              </a:p>
            </p:txBody>
          </p:sp>
        </mc:Fallback>
      </mc:AlternateContent>
      <p:sp>
        <p:nvSpPr>
          <p:cNvPr id="3" name="Titel 2"/>
          <p:cNvSpPr>
            <a:spLocks noGrp="1"/>
          </p:cNvSpPr>
          <p:nvPr>
            <p:ph type="title"/>
          </p:nvPr>
        </p:nvSpPr>
        <p:spPr/>
        <p:txBody>
          <a:bodyPr/>
          <a:lstStyle/>
          <a:p>
            <a:r>
              <a:rPr lang="de-DE" dirty="0" err="1" smtClean="0"/>
              <a:t>Boundary</a:t>
            </a:r>
            <a:r>
              <a:rPr lang="de-DE" dirty="0" smtClean="0"/>
              <a:t> </a:t>
            </a:r>
            <a:r>
              <a:rPr lang="de-DE" dirty="0" err="1" smtClean="0"/>
              <a:t>conditions</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3</a:t>
            </a:fld>
            <a:endParaRPr lang="de-DE" dirty="0"/>
          </a:p>
        </p:txBody>
      </p:sp>
    </p:spTree>
    <p:extLst>
      <p:ext uri="{BB962C8B-B14F-4D97-AF65-F5344CB8AC3E}">
        <p14:creationId xmlns:p14="http://schemas.microsoft.com/office/powerpoint/2010/main" val="23843064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p:cNvPicPr>
            <a:picLocks noChangeAspect="1"/>
          </p:cNvPicPr>
          <p:nvPr/>
        </p:nvPicPr>
        <p:blipFill rotWithShape="1">
          <a:blip r:embed="rId2"/>
          <a:srcRect t="412" r="24661"/>
          <a:stretch/>
        </p:blipFill>
        <p:spPr>
          <a:xfrm>
            <a:off x="2948677" y="3363045"/>
            <a:ext cx="5965399" cy="3543531"/>
          </a:xfrm>
          <a:prstGeom prst="rect">
            <a:avLst/>
          </a:prstGeom>
        </p:spPr>
      </p:pic>
      <p:graphicFrame>
        <p:nvGraphicFramePr>
          <p:cNvPr id="9" name="Inhaltsplatzhalter 8"/>
          <p:cNvGraphicFramePr>
            <a:graphicFrameLocks noGrp="1"/>
          </p:cNvGraphicFramePr>
          <p:nvPr>
            <p:ph sz="quarter" idx="13"/>
            <p:extLst>
              <p:ext uri="{D42A27DB-BD31-4B8C-83A1-F6EECF244321}">
                <p14:modId xmlns:p14="http://schemas.microsoft.com/office/powerpoint/2010/main" val="3224553788"/>
              </p:ext>
            </p:extLst>
          </p:nvPr>
        </p:nvGraphicFramePr>
        <p:xfrm>
          <a:off x="142413" y="888533"/>
          <a:ext cx="11958320" cy="2560320"/>
        </p:xfrm>
        <a:graphic>
          <a:graphicData uri="http://schemas.openxmlformats.org/drawingml/2006/table">
            <a:tbl>
              <a:tblPr firstRow="1" bandRow="1">
                <a:tableStyleId>{5C22544A-7EE6-4342-B048-85BDC9FD1C3A}</a:tableStyleId>
              </a:tblPr>
              <a:tblGrid>
                <a:gridCol w="2002706">
                  <a:extLst>
                    <a:ext uri="{9D8B030D-6E8A-4147-A177-3AD203B41FA5}">
                      <a16:colId xmlns:a16="http://schemas.microsoft.com/office/drawing/2014/main" val="4175661464"/>
                    </a:ext>
                  </a:extLst>
                </a:gridCol>
                <a:gridCol w="2042830">
                  <a:extLst>
                    <a:ext uri="{9D8B030D-6E8A-4147-A177-3AD203B41FA5}">
                      <a16:colId xmlns:a16="http://schemas.microsoft.com/office/drawing/2014/main" val="2858066201"/>
                    </a:ext>
                  </a:extLst>
                </a:gridCol>
                <a:gridCol w="2291464">
                  <a:extLst>
                    <a:ext uri="{9D8B030D-6E8A-4147-A177-3AD203B41FA5}">
                      <a16:colId xmlns:a16="http://schemas.microsoft.com/office/drawing/2014/main" val="749316236"/>
                    </a:ext>
                  </a:extLst>
                </a:gridCol>
                <a:gridCol w="2291464">
                  <a:extLst>
                    <a:ext uri="{9D8B030D-6E8A-4147-A177-3AD203B41FA5}">
                      <a16:colId xmlns:a16="http://schemas.microsoft.com/office/drawing/2014/main" val="2766650352"/>
                    </a:ext>
                  </a:extLst>
                </a:gridCol>
                <a:gridCol w="3329856">
                  <a:extLst>
                    <a:ext uri="{9D8B030D-6E8A-4147-A177-3AD203B41FA5}">
                      <a16:colId xmlns:a16="http://schemas.microsoft.com/office/drawing/2014/main" val="1552399456"/>
                    </a:ext>
                  </a:extLst>
                </a:gridCol>
              </a:tblGrid>
              <a:tr h="370840">
                <a:tc>
                  <a:txBody>
                    <a:bodyPr/>
                    <a:lstStyle/>
                    <a:p>
                      <a:endParaRPr lang="de-DE" dirty="0"/>
                    </a:p>
                  </a:txBody>
                  <a:tcPr/>
                </a:tc>
                <a:tc>
                  <a:txBody>
                    <a:bodyPr/>
                    <a:lstStyle/>
                    <a:p>
                      <a:r>
                        <a:rPr lang="de-DE" dirty="0" smtClean="0"/>
                        <a:t>DT [K] </a:t>
                      </a:r>
                      <a:r>
                        <a:rPr lang="de-DE" dirty="0" err="1" smtClean="0"/>
                        <a:t>predicted</a:t>
                      </a:r>
                      <a:r>
                        <a:rPr lang="de-DE" baseline="0" dirty="0" smtClean="0"/>
                        <a:t> </a:t>
                      </a:r>
                      <a:r>
                        <a:rPr lang="de-DE" baseline="0" dirty="0" err="1" smtClean="0"/>
                        <a:t>by</a:t>
                      </a:r>
                      <a:r>
                        <a:rPr lang="de-DE" baseline="0" dirty="0" smtClean="0"/>
                        <a:t> </a:t>
                      </a:r>
                      <a:r>
                        <a:rPr lang="de-DE" dirty="0" smtClean="0"/>
                        <a:t>29HDQV v2.0 </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DT [K] </a:t>
                      </a:r>
                      <a:r>
                        <a:rPr lang="de-DE" dirty="0" err="1" smtClean="0"/>
                        <a:t>Workbench</a:t>
                      </a:r>
                      <a:r>
                        <a:rPr lang="de-DE" baseline="0" dirty="0" smtClean="0"/>
                        <a:t> </a:t>
                      </a:r>
                      <a:r>
                        <a:rPr lang="de-DE" baseline="0" dirty="0" err="1" smtClean="0"/>
                        <a:t>result</a:t>
                      </a:r>
                      <a:r>
                        <a:rPr lang="de-DE" baseline="0" dirty="0" smtClean="0"/>
                        <a:t> 250 kW/m2</a:t>
                      </a:r>
                      <a:endParaRPr lang="de-D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DT [K] </a:t>
                      </a:r>
                      <a:r>
                        <a:rPr lang="de-DE" dirty="0" err="1" smtClean="0"/>
                        <a:t>Workbench</a:t>
                      </a:r>
                      <a:r>
                        <a:rPr lang="de-DE" baseline="0" dirty="0" smtClean="0"/>
                        <a:t> </a:t>
                      </a:r>
                      <a:r>
                        <a:rPr lang="de-DE" baseline="0" dirty="0" err="1" smtClean="0"/>
                        <a:t>result</a:t>
                      </a:r>
                      <a:r>
                        <a:rPr lang="de-DE" baseline="0" dirty="0" smtClean="0"/>
                        <a:t> 150 kW/m2</a:t>
                      </a:r>
                      <a:endParaRPr lang="de-D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Flow</a:t>
                      </a:r>
                      <a:r>
                        <a:rPr lang="de-DE" baseline="0" dirty="0" smtClean="0"/>
                        <a:t> rate </a:t>
                      </a:r>
                      <a:r>
                        <a:rPr lang="de-DE" dirty="0" smtClean="0"/>
                        <a:t>[l/s]</a:t>
                      </a:r>
                    </a:p>
                  </a:txBody>
                  <a:tcPr/>
                </a:tc>
                <a:extLst>
                  <a:ext uri="{0D108BD9-81ED-4DB2-BD59-A6C34878D82A}">
                    <a16:rowId xmlns:a16="http://schemas.microsoft.com/office/drawing/2014/main" val="4124498501"/>
                  </a:ext>
                </a:extLst>
              </a:tr>
              <a:tr h="370840">
                <a:tc>
                  <a:txBody>
                    <a:bodyPr/>
                    <a:lstStyle/>
                    <a:p>
                      <a:r>
                        <a:rPr lang="de-DE" dirty="0" smtClean="0"/>
                        <a:t>H77 1-ACH31AC610b</a:t>
                      </a:r>
                      <a:endParaRPr lang="de-DE" dirty="0"/>
                    </a:p>
                  </a:txBody>
                  <a:tcPr/>
                </a:tc>
                <a:tc>
                  <a:txBody>
                    <a:bodyPr/>
                    <a:lstStyle/>
                    <a:p>
                      <a:pPr algn="ctr"/>
                      <a:r>
                        <a:rPr lang="de-DE" dirty="0" smtClean="0"/>
                        <a:t>10</a:t>
                      </a:r>
                      <a:endParaRPr lang="de-DE" dirty="0"/>
                    </a:p>
                  </a:txBody>
                  <a:tcPr/>
                </a:tc>
                <a:tc>
                  <a:txBody>
                    <a:bodyPr/>
                    <a:lstStyle/>
                    <a:p>
                      <a:pPr algn="ctr"/>
                      <a:r>
                        <a:rPr lang="de-DE" dirty="0" smtClean="0"/>
                        <a:t>18,5</a:t>
                      </a:r>
                      <a:endParaRPr lang="de-DE" dirty="0"/>
                    </a:p>
                  </a:txBody>
                  <a:tcPr/>
                </a:tc>
                <a:tc>
                  <a:txBody>
                    <a:bodyPr/>
                    <a:lstStyle/>
                    <a:p>
                      <a:pPr algn="ctr"/>
                      <a:r>
                        <a:rPr lang="de-DE" dirty="0" smtClean="0"/>
                        <a:t>11,1</a:t>
                      </a:r>
                      <a:endParaRPr lang="de-DE" dirty="0"/>
                    </a:p>
                  </a:txBody>
                  <a:tcPr/>
                </a:tc>
                <a:tc>
                  <a:txBody>
                    <a:bodyPr/>
                    <a:lstStyle/>
                    <a:p>
                      <a:pPr algn="ctr"/>
                      <a:r>
                        <a:rPr lang="de-DE" dirty="0" smtClean="0"/>
                        <a:t>0,48</a:t>
                      </a:r>
                      <a:endParaRPr lang="de-DE" dirty="0"/>
                    </a:p>
                  </a:txBody>
                  <a:tcPr/>
                </a:tc>
                <a:extLst>
                  <a:ext uri="{0D108BD9-81ED-4DB2-BD59-A6C34878D82A}">
                    <a16:rowId xmlns:a16="http://schemas.microsoft.com/office/drawing/2014/main" val="552040801"/>
                  </a:ext>
                </a:extLst>
              </a:tr>
              <a:tr h="370840">
                <a:tc>
                  <a:txBody>
                    <a:bodyPr/>
                    <a:lstStyle/>
                    <a:p>
                      <a:r>
                        <a:rPr lang="de-DE" dirty="0" smtClean="0"/>
                        <a:t>H34 1-ACH31AC560b</a:t>
                      </a:r>
                      <a:endParaRPr lang="de-DE" dirty="0"/>
                    </a:p>
                  </a:txBody>
                  <a:tcPr/>
                </a:tc>
                <a:tc>
                  <a:txBody>
                    <a:bodyPr/>
                    <a:lstStyle/>
                    <a:p>
                      <a:pPr algn="ctr"/>
                      <a:r>
                        <a:rPr lang="de-DE" dirty="0" smtClean="0"/>
                        <a:t>16</a:t>
                      </a:r>
                      <a:endParaRPr lang="de-DE" dirty="0"/>
                    </a:p>
                  </a:txBody>
                  <a:tcPr/>
                </a:tc>
                <a:tc>
                  <a:txBody>
                    <a:bodyPr/>
                    <a:lstStyle/>
                    <a:p>
                      <a:pPr algn="ctr"/>
                      <a:r>
                        <a:rPr lang="de-DE" dirty="0" smtClean="0"/>
                        <a:t>27,1</a:t>
                      </a:r>
                      <a:endParaRPr lang="de-DE" dirty="0"/>
                    </a:p>
                  </a:txBody>
                  <a:tcPr/>
                </a:tc>
                <a:tc>
                  <a:txBody>
                    <a:bodyPr/>
                    <a:lstStyle/>
                    <a:p>
                      <a:pPr algn="ctr"/>
                      <a:r>
                        <a:rPr lang="de-DE" dirty="0" smtClean="0"/>
                        <a:t>16,4</a:t>
                      </a:r>
                      <a:endParaRPr lang="de-DE" dirty="0"/>
                    </a:p>
                  </a:txBody>
                  <a:tcPr/>
                </a:tc>
                <a:tc>
                  <a:txBody>
                    <a:bodyPr/>
                    <a:lstStyle/>
                    <a:p>
                      <a:pPr algn="ctr"/>
                      <a:r>
                        <a:rPr lang="de-DE" dirty="0" smtClean="0"/>
                        <a:t>0,45</a:t>
                      </a:r>
                      <a:endParaRPr lang="de-DE" dirty="0"/>
                    </a:p>
                  </a:txBody>
                  <a:tcPr/>
                </a:tc>
                <a:extLst>
                  <a:ext uri="{0D108BD9-81ED-4DB2-BD59-A6C34878D82A}">
                    <a16:rowId xmlns:a16="http://schemas.microsoft.com/office/drawing/2014/main" val="3190753439"/>
                  </a:ext>
                </a:extLst>
              </a:tr>
              <a:tr h="370840">
                <a:tc>
                  <a:txBody>
                    <a:bodyPr/>
                    <a:lstStyle/>
                    <a:p>
                      <a:r>
                        <a:rPr lang="de-DE" dirty="0" smtClean="0"/>
                        <a:t>H81 1-ACH31AC570b</a:t>
                      </a:r>
                      <a:endParaRPr lang="de-DE" dirty="0"/>
                    </a:p>
                  </a:txBody>
                  <a:tcPr/>
                </a:tc>
                <a:tc>
                  <a:txBody>
                    <a:bodyPr/>
                    <a:lstStyle/>
                    <a:p>
                      <a:pPr algn="ctr"/>
                      <a:r>
                        <a:rPr lang="de-DE" dirty="0" smtClean="0"/>
                        <a:t>19</a:t>
                      </a:r>
                      <a:endParaRPr lang="de-DE" dirty="0"/>
                    </a:p>
                  </a:txBody>
                  <a:tcPr/>
                </a:tc>
                <a:tc>
                  <a:txBody>
                    <a:bodyPr/>
                    <a:lstStyle/>
                    <a:p>
                      <a:pPr algn="ctr"/>
                      <a:r>
                        <a:rPr lang="de-DE" dirty="0" smtClean="0"/>
                        <a:t>27,1</a:t>
                      </a:r>
                      <a:endParaRPr lang="de-DE" dirty="0"/>
                    </a:p>
                  </a:txBody>
                  <a:tcPr/>
                </a:tc>
                <a:tc>
                  <a:txBody>
                    <a:bodyPr/>
                    <a:lstStyle/>
                    <a:p>
                      <a:pPr algn="ctr"/>
                      <a:r>
                        <a:rPr lang="de-DE" dirty="0" smtClean="0"/>
                        <a:t>16,4</a:t>
                      </a:r>
                      <a:endParaRPr lang="de-DE" dirty="0"/>
                    </a:p>
                  </a:txBody>
                  <a:tcPr/>
                </a:tc>
                <a:tc>
                  <a:txBody>
                    <a:bodyPr/>
                    <a:lstStyle/>
                    <a:p>
                      <a:pPr algn="ctr"/>
                      <a:r>
                        <a:rPr lang="de-DE" dirty="0" smtClean="0"/>
                        <a:t>0,7</a:t>
                      </a:r>
                      <a:endParaRPr lang="de-DE" dirty="0"/>
                    </a:p>
                  </a:txBody>
                  <a:tcPr/>
                </a:tc>
                <a:extLst>
                  <a:ext uri="{0D108BD9-81ED-4DB2-BD59-A6C34878D82A}">
                    <a16:rowId xmlns:a16="http://schemas.microsoft.com/office/drawing/2014/main" val="3208294858"/>
                  </a:ext>
                </a:extLst>
              </a:tr>
            </a:tbl>
          </a:graphicData>
        </a:graphic>
      </p:graphicFrame>
      <p:sp>
        <p:nvSpPr>
          <p:cNvPr id="3" name="Titel 2"/>
          <p:cNvSpPr>
            <a:spLocks noGrp="1"/>
          </p:cNvSpPr>
          <p:nvPr>
            <p:ph type="title"/>
          </p:nvPr>
        </p:nvSpPr>
        <p:spPr/>
        <p:txBody>
          <a:bodyPr/>
          <a:lstStyle/>
          <a:p>
            <a:r>
              <a:rPr lang="en-US" dirty="0" smtClean="0"/>
              <a:t>Results: cooling water heat up</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4</a:t>
            </a:fld>
            <a:endParaRPr lang="de-DE" dirty="0"/>
          </a:p>
        </p:txBody>
      </p:sp>
      <p:sp>
        <p:nvSpPr>
          <p:cNvPr id="2" name="Rechteck 1"/>
          <p:cNvSpPr/>
          <p:nvPr/>
        </p:nvSpPr>
        <p:spPr>
          <a:xfrm>
            <a:off x="4952541" y="4107872"/>
            <a:ext cx="2492990" cy="369332"/>
          </a:xfrm>
          <a:prstGeom prst="rect">
            <a:avLst/>
          </a:prstGeom>
          <a:solidFill>
            <a:srgbClr val="EEEEEE">
              <a:alpha val="45882"/>
            </a:srgbClr>
          </a:solidFill>
        </p:spPr>
        <p:txBody>
          <a:bodyPr wrap="none">
            <a:spAutoFit/>
          </a:bodyPr>
          <a:lstStyle/>
          <a:p>
            <a:r>
              <a:rPr lang="de-DE" b="1" dirty="0" smtClean="0"/>
              <a:t>H81 1-ACH31AC570b</a:t>
            </a:r>
            <a:endParaRPr lang="de-DE" b="1" dirty="0"/>
          </a:p>
        </p:txBody>
      </p:sp>
      <p:sp>
        <p:nvSpPr>
          <p:cNvPr id="11" name="Rechteck 10"/>
          <p:cNvSpPr/>
          <p:nvPr/>
        </p:nvSpPr>
        <p:spPr>
          <a:xfrm rot="283101">
            <a:off x="4875078" y="5876766"/>
            <a:ext cx="2492990" cy="369332"/>
          </a:xfrm>
          <a:prstGeom prst="rect">
            <a:avLst/>
          </a:prstGeom>
          <a:solidFill>
            <a:srgbClr val="EEEEEE">
              <a:alpha val="45882"/>
            </a:srgbClr>
          </a:solidFill>
        </p:spPr>
        <p:txBody>
          <a:bodyPr wrap="none">
            <a:spAutoFit/>
          </a:bodyPr>
          <a:lstStyle/>
          <a:p>
            <a:r>
              <a:rPr lang="de-DE" b="1" dirty="0" smtClean="0"/>
              <a:t>H34 1-ACH31AC560b</a:t>
            </a:r>
            <a:endParaRPr lang="de-DE" b="1" dirty="0"/>
          </a:p>
        </p:txBody>
      </p:sp>
      <p:sp>
        <p:nvSpPr>
          <p:cNvPr id="12" name="Rechteck 11"/>
          <p:cNvSpPr/>
          <p:nvPr/>
        </p:nvSpPr>
        <p:spPr>
          <a:xfrm rot="21434812">
            <a:off x="5494398" y="5083577"/>
            <a:ext cx="2492990" cy="369332"/>
          </a:xfrm>
          <a:prstGeom prst="rect">
            <a:avLst/>
          </a:prstGeom>
          <a:solidFill>
            <a:srgbClr val="EEEEEE">
              <a:alpha val="45882"/>
            </a:srgbClr>
          </a:solidFill>
        </p:spPr>
        <p:txBody>
          <a:bodyPr wrap="none">
            <a:spAutoFit/>
          </a:bodyPr>
          <a:lstStyle/>
          <a:p>
            <a:r>
              <a:rPr lang="de-DE" b="1" dirty="0" smtClean="0"/>
              <a:t>H77 </a:t>
            </a:r>
            <a:r>
              <a:rPr lang="de-DE" b="1" dirty="0"/>
              <a:t>1-ACH31AC610b</a:t>
            </a:r>
          </a:p>
        </p:txBody>
      </p:sp>
    </p:spTree>
    <p:extLst>
      <p:ext uri="{BB962C8B-B14F-4D97-AF65-F5344CB8AC3E}">
        <p14:creationId xmlns:p14="http://schemas.microsoft.com/office/powerpoint/2010/main" val="651336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dirty="0" smtClean="0"/>
              <a:t>Results temperatures in HSs </a:t>
            </a:r>
            <a:r>
              <a:rPr lang="en-US" dirty="0"/>
              <a:t>- 250 kW/m2</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5</a:t>
            </a:fld>
            <a:endParaRPr lang="de-DE" dirty="0"/>
          </a:p>
        </p:txBody>
      </p:sp>
      <p:pic>
        <p:nvPicPr>
          <p:cNvPr id="7" name="Grafik 6"/>
          <p:cNvPicPr>
            <a:picLocks noChangeAspect="1"/>
          </p:cNvPicPr>
          <p:nvPr/>
        </p:nvPicPr>
        <p:blipFill rotWithShape="1">
          <a:blip r:embed="rId2"/>
          <a:srcRect t="782" r="30601"/>
          <a:stretch/>
        </p:blipFill>
        <p:spPr>
          <a:xfrm>
            <a:off x="1168065" y="888533"/>
            <a:ext cx="9532018" cy="6123939"/>
          </a:xfrm>
          <a:prstGeom prst="rect">
            <a:avLst/>
          </a:prstGeom>
        </p:spPr>
      </p:pic>
      <p:pic>
        <p:nvPicPr>
          <p:cNvPr id="9" name="Grafik 8"/>
          <p:cNvPicPr>
            <a:picLocks noChangeAspect="1"/>
          </p:cNvPicPr>
          <p:nvPr/>
        </p:nvPicPr>
        <p:blipFill rotWithShape="1">
          <a:blip r:embed="rId2"/>
          <a:srcRect t="24306" r="94197" b="46376"/>
          <a:stretch/>
        </p:blipFill>
        <p:spPr>
          <a:xfrm>
            <a:off x="1168065" y="2252310"/>
            <a:ext cx="1151623" cy="2614401"/>
          </a:xfrm>
          <a:prstGeom prst="rect">
            <a:avLst/>
          </a:prstGeom>
        </p:spPr>
      </p:pic>
    </p:spTree>
    <p:extLst>
      <p:ext uri="{BB962C8B-B14F-4D97-AF65-F5344CB8AC3E}">
        <p14:creationId xmlns:p14="http://schemas.microsoft.com/office/powerpoint/2010/main" val="17946169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dirty="0" smtClean="0"/>
              <a:t>Results temperatures in HSs </a:t>
            </a:r>
            <a:r>
              <a:rPr lang="en-US" dirty="0"/>
              <a:t>- </a:t>
            </a:r>
            <a:r>
              <a:rPr lang="en-US" dirty="0" smtClean="0"/>
              <a:t>150 </a:t>
            </a:r>
            <a:r>
              <a:rPr lang="en-US" dirty="0"/>
              <a:t>kW/m2</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6</a:t>
            </a:fld>
            <a:endParaRPr lang="de-DE" dirty="0"/>
          </a:p>
        </p:txBody>
      </p:sp>
      <p:pic>
        <p:nvPicPr>
          <p:cNvPr id="2" name="Grafik 1"/>
          <p:cNvPicPr>
            <a:picLocks noChangeAspect="1"/>
          </p:cNvPicPr>
          <p:nvPr/>
        </p:nvPicPr>
        <p:blipFill rotWithShape="1">
          <a:blip r:embed="rId2"/>
          <a:srcRect r="30500"/>
          <a:stretch/>
        </p:blipFill>
        <p:spPr>
          <a:xfrm>
            <a:off x="1284613" y="826620"/>
            <a:ext cx="9545939" cy="6172200"/>
          </a:xfrm>
          <a:prstGeom prst="rect">
            <a:avLst/>
          </a:prstGeom>
        </p:spPr>
      </p:pic>
      <p:pic>
        <p:nvPicPr>
          <p:cNvPr id="10" name="Grafik 9"/>
          <p:cNvPicPr>
            <a:picLocks noChangeAspect="1"/>
          </p:cNvPicPr>
          <p:nvPr/>
        </p:nvPicPr>
        <p:blipFill rotWithShape="1">
          <a:blip r:embed="rId2"/>
          <a:srcRect t="23748" r="93854" b="47714"/>
          <a:stretch/>
        </p:blipFill>
        <p:spPr>
          <a:xfrm>
            <a:off x="1284613" y="2300438"/>
            <a:ext cx="1070210" cy="2233062"/>
          </a:xfrm>
          <a:prstGeom prst="rect">
            <a:avLst/>
          </a:prstGeom>
        </p:spPr>
      </p:pic>
    </p:spTree>
    <p:extLst>
      <p:ext uri="{BB962C8B-B14F-4D97-AF65-F5344CB8AC3E}">
        <p14:creationId xmlns:p14="http://schemas.microsoft.com/office/powerpoint/2010/main" val="16535247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dirty="0" smtClean="0"/>
              <a:t>Results temperatures in </a:t>
            </a:r>
            <a:r>
              <a:rPr lang="en-US" dirty="0"/>
              <a:t>HSs - 250 kW/m2</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7</a:t>
            </a:fld>
            <a:endParaRPr lang="de-DE" dirty="0"/>
          </a:p>
        </p:txBody>
      </p:sp>
      <p:pic>
        <p:nvPicPr>
          <p:cNvPr id="7" name="Grafik 6"/>
          <p:cNvPicPr>
            <a:picLocks noChangeAspect="1"/>
          </p:cNvPicPr>
          <p:nvPr/>
        </p:nvPicPr>
        <p:blipFill rotWithShape="1">
          <a:blip r:embed="rId2"/>
          <a:srcRect r="41123"/>
          <a:stretch/>
        </p:blipFill>
        <p:spPr>
          <a:xfrm>
            <a:off x="1890711" y="888533"/>
            <a:ext cx="8086725" cy="6172200"/>
          </a:xfrm>
          <a:prstGeom prst="rect">
            <a:avLst/>
          </a:prstGeom>
        </p:spPr>
      </p:pic>
      <p:pic>
        <p:nvPicPr>
          <p:cNvPr id="9" name="Grafik 8"/>
          <p:cNvPicPr>
            <a:picLocks noChangeAspect="1"/>
          </p:cNvPicPr>
          <p:nvPr/>
        </p:nvPicPr>
        <p:blipFill rotWithShape="1">
          <a:blip r:embed="rId2"/>
          <a:srcRect t="23837" r="93571" b="48093"/>
          <a:stretch/>
        </p:blipFill>
        <p:spPr>
          <a:xfrm>
            <a:off x="1975734" y="2377440"/>
            <a:ext cx="1200603" cy="2355803"/>
          </a:xfrm>
          <a:prstGeom prst="rect">
            <a:avLst/>
          </a:prstGeom>
        </p:spPr>
      </p:pic>
    </p:spTree>
    <p:extLst>
      <p:ext uri="{BB962C8B-B14F-4D97-AF65-F5344CB8AC3E}">
        <p14:creationId xmlns:p14="http://schemas.microsoft.com/office/powerpoint/2010/main" val="19598580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dirty="0" smtClean="0"/>
              <a:t>Results temperatures in HSs - </a:t>
            </a:r>
            <a:r>
              <a:rPr lang="en-US" dirty="0" err="1"/>
              <a:t>CuCrZr</a:t>
            </a:r>
            <a:r>
              <a:rPr lang="en-US" dirty="0"/>
              <a:t> - 250 kW/m2</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8</a:t>
            </a:fld>
            <a:endParaRPr lang="de-DE" dirty="0"/>
          </a:p>
        </p:txBody>
      </p:sp>
      <p:pic>
        <p:nvPicPr>
          <p:cNvPr id="7" name="Grafik 6"/>
          <p:cNvPicPr>
            <a:picLocks noChangeAspect="1"/>
          </p:cNvPicPr>
          <p:nvPr/>
        </p:nvPicPr>
        <p:blipFill rotWithShape="1">
          <a:blip r:embed="rId2"/>
          <a:srcRect r="37929"/>
          <a:stretch/>
        </p:blipFill>
        <p:spPr>
          <a:xfrm>
            <a:off x="1777668" y="888533"/>
            <a:ext cx="8348109" cy="6467475"/>
          </a:xfrm>
          <a:prstGeom prst="rect">
            <a:avLst/>
          </a:prstGeom>
        </p:spPr>
      </p:pic>
    </p:spTree>
    <p:extLst>
      <p:ext uri="{BB962C8B-B14F-4D97-AF65-F5344CB8AC3E}">
        <p14:creationId xmlns:p14="http://schemas.microsoft.com/office/powerpoint/2010/main" val="20075862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dirty="0" smtClean="0"/>
              <a:t>Results: Heat balance &amp; radiation towards PV – 250 kW/m2</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9</a:t>
            </a:fld>
            <a:endParaRPr lang="de-DE" dirty="0"/>
          </a:p>
        </p:txBody>
      </p:sp>
      <p:pic>
        <p:nvPicPr>
          <p:cNvPr id="12" name="Grafik 11"/>
          <p:cNvPicPr>
            <a:picLocks noChangeAspect="1"/>
          </p:cNvPicPr>
          <p:nvPr/>
        </p:nvPicPr>
        <p:blipFill rotWithShape="1">
          <a:blip r:embed="rId2"/>
          <a:srcRect t="16943" b="49240"/>
          <a:stretch/>
        </p:blipFill>
        <p:spPr>
          <a:xfrm>
            <a:off x="984770" y="4369871"/>
            <a:ext cx="10186740" cy="2050180"/>
          </a:xfrm>
          <a:prstGeom prst="rect">
            <a:avLst/>
          </a:prstGeom>
        </p:spPr>
      </p:pic>
      <p:graphicFrame>
        <p:nvGraphicFramePr>
          <p:cNvPr id="11" name="Inhaltsplatzhalter 10"/>
          <p:cNvGraphicFramePr>
            <a:graphicFrameLocks noGrp="1"/>
          </p:cNvGraphicFramePr>
          <p:nvPr>
            <p:ph sz="quarter" idx="13"/>
            <p:extLst>
              <p:ext uri="{D42A27DB-BD31-4B8C-83A1-F6EECF244321}">
                <p14:modId xmlns:p14="http://schemas.microsoft.com/office/powerpoint/2010/main" val="3939616557"/>
              </p:ext>
            </p:extLst>
          </p:nvPr>
        </p:nvGraphicFramePr>
        <p:xfrm>
          <a:off x="528963" y="1001027"/>
          <a:ext cx="10967712" cy="4327893"/>
        </p:xfrm>
        <a:graphic>
          <a:graphicData uri="http://schemas.openxmlformats.org/drawingml/2006/table">
            <a:tbl>
              <a:tblPr firstRow="1" bandRow="1">
                <a:tableStyleId>{5C22544A-7EE6-4342-B048-85BDC9FD1C3A}</a:tableStyleId>
              </a:tblPr>
              <a:tblGrid>
                <a:gridCol w="3200125">
                  <a:extLst>
                    <a:ext uri="{9D8B030D-6E8A-4147-A177-3AD203B41FA5}">
                      <a16:colId xmlns:a16="http://schemas.microsoft.com/office/drawing/2014/main" val="107373047"/>
                    </a:ext>
                  </a:extLst>
                </a:gridCol>
                <a:gridCol w="1463040">
                  <a:extLst>
                    <a:ext uri="{9D8B030D-6E8A-4147-A177-3AD203B41FA5}">
                      <a16:colId xmlns:a16="http://schemas.microsoft.com/office/drawing/2014/main" val="382925162"/>
                    </a:ext>
                  </a:extLst>
                </a:gridCol>
                <a:gridCol w="2002054">
                  <a:extLst>
                    <a:ext uri="{9D8B030D-6E8A-4147-A177-3AD203B41FA5}">
                      <a16:colId xmlns:a16="http://schemas.microsoft.com/office/drawing/2014/main" val="856378803"/>
                    </a:ext>
                  </a:extLst>
                </a:gridCol>
                <a:gridCol w="1280160">
                  <a:extLst>
                    <a:ext uri="{9D8B030D-6E8A-4147-A177-3AD203B41FA5}">
                      <a16:colId xmlns:a16="http://schemas.microsoft.com/office/drawing/2014/main" val="859138558"/>
                    </a:ext>
                  </a:extLst>
                </a:gridCol>
                <a:gridCol w="3022333">
                  <a:extLst>
                    <a:ext uri="{9D8B030D-6E8A-4147-A177-3AD203B41FA5}">
                      <a16:colId xmlns:a16="http://schemas.microsoft.com/office/drawing/2014/main" val="2405115307"/>
                    </a:ext>
                  </a:extLst>
                </a:gridCol>
              </a:tblGrid>
              <a:tr h="2965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PF</a:t>
                      </a:r>
                      <a:r>
                        <a:rPr lang="de-DE" baseline="0" dirty="0" smtClean="0"/>
                        <a:t> </a:t>
                      </a:r>
                      <a:r>
                        <a:rPr lang="de-DE" baseline="0" dirty="0" err="1" smtClean="0"/>
                        <a:t>heat</a:t>
                      </a:r>
                      <a:r>
                        <a:rPr lang="de-DE" baseline="0" dirty="0" smtClean="0"/>
                        <a:t> </a:t>
                      </a:r>
                      <a:r>
                        <a:rPr lang="de-DE" dirty="0" smtClean="0"/>
                        <a:t>[W]</a:t>
                      </a:r>
                    </a:p>
                  </a:txBody>
                  <a:tcPr/>
                </a:tc>
                <a:tc>
                  <a:txBody>
                    <a:bodyPr/>
                    <a:lstStyle/>
                    <a:p>
                      <a:pPr algn="ctr"/>
                      <a:r>
                        <a:rPr lang="de-DE" dirty="0" smtClean="0"/>
                        <a:t>Ratio </a:t>
                      </a:r>
                      <a:r>
                        <a:rPr lang="de-DE" dirty="0" err="1" smtClean="0"/>
                        <a:t>of</a:t>
                      </a:r>
                      <a:r>
                        <a:rPr lang="de-DE" baseline="0" dirty="0" smtClean="0"/>
                        <a:t> PF </a:t>
                      </a:r>
                      <a:r>
                        <a:rPr lang="de-DE" baseline="0" dirty="0" err="1" smtClean="0"/>
                        <a:t>heat</a:t>
                      </a:r>
                      <a:endParaRPr lang="de-DE" dirty="0"/>
                    </a:p>
                  </a:txBody>
                  <a:tcPr/>
                </a:tc>
                <a:tc>
                  <a:txBody>
                    <a:bodyPr/>
                    <a:lstStyle/>
                    <a:p>
                      <a:pPr algn="ctr"/>
                      <a:r>
                        <a:rPr lang="de-DE" dirty="0" smtClean="0"/>
                        <a:t>Area [m2]</a:t>
                      </a:r>
                      <a:endParaRPr lang="de-DE" dirty="0"/>
                    </a:p>
                  </a:txBody>
                  <a:tcPr/>
                </a:tc>
                <a:tc>
                  <a:txBody>
                    <a:bodyPr/>
                    <a:lstStyle/>
                    <a:p>
                      <a:pPr algn="ctr"/>
                      <a:r>
                        <a:rPr lang="de-DE" dirty="0" err="1" smtClean="0"/>
                        <a:t>avg</a:t>
                      </a:r>
                      <a:r>
                        <a:rPr lang="de-DE" dirty="0" smtClean="0"/>
                        <a:t>. </a:t>
                      </a:r>
                      <a:r>
                        <a:rPr lang="de-DE" dirty="0" err="1" smtClean="0"/>
                        <a:t>rad</a:t>
                      </a:r>
                      <a:r>
                        <a:rPr lang="de-DE" dirty="0" smtClean="0"/>
                        <a:t>.</a:t>
                      </a:r>
                      <a:r>
                        <a:rPr lang="de-DE" baseline="0" dirty="0" smtClean="0"/>
                        <a:t> </a:t>
                      </a:r>
                      <a:r>
                        <a:rPr lang="de-DE" baseline="0" dirty="0" err="1" smtClean="0"/>
                        <a:t>heat</a:t>
                      </a:r>
                      <a:r>
                        <a:rPr lang="de-DE" baseline="0" dirty="0" smtClean="0"/>
                        <a:t> </a:t>
                      </a:r>
                      <a:r>
                        <a:rPr lang="de-DE" baseline="0" dirty="0" err="1" smtClean="0"/>
                        <a:t>flux</a:t>
                      </a:r>
                      <a:r>
                        <a:rPr lang="de-DE" baseline="0" dirty="0" smtClean="0"/>
                        <a:t> </a:t>
                      </a:r>
                      <a:r>
                        <a:rPr lang="de-DE" dirty="0" smtClean="0"/>
                        <a:t>[W/m2]</a:t>
                      </a:r>
                      <a:r>
                        <a:rPr lang="de-DE" baseline="0" dirty="0" smtClean="0"/>
                        <a:t> </a:t>
                      </a:r>
                      <a:endParaRPr lang="de-DE" dirty="0"/>
                    </a:p>
                  </a:txBody>
                  <a:tcPr/>
                </a:tc>
                <a:extLst>
                  <a:ext uri="{0D108BD9-81ED-4DB2-BD59-A6C34878D82A}">
                    <a16:rowId xmlns:a16="http://schemas.microsoft.com/office/drawing/2014/main" val="131257497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PF</a:t>
                      </a:r>
                      <a:r>
                        <a:rPr lang="de-DE" baseline="0" dirty="0" smtClean="0"/>
                        <a:t> </a:t>
                      </a:r>
                      <a:r>
                        <a:rPr lang="de-DE" baseline="0" dirty="0" err="1" smtClean="0"/>
                        <a:t>heat</a:t>
                      </a:r>
                      <a:r>
                        <a:rPr lang="de-DE" baseline="0" dirty="0" smtClean="0"/>
                        <a:t> </a:t>
                      </a:r>
                      <a:endParaRPr lang="de-DE"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t>171 172,5</a:t>
                      </a:r>
                    </a:p>
                  </a:txBody>
                  <a:tcPr/>
                </a:tc>
                <a:tc>
                  <a:txBody>
                    <a:bodyPr/>
                    <a:lstStyle/>
                    <a:p>
                      <a:pPr algn="ctr"/>
                      <a:r>
                        <a:rPr lang="de-DE" dirty="0" smtClean="0"/>
                        <a:t>100%</a:t>
                      </a:r>
                      <a:endParaRPr lang="de-DE" dirty="0"/>
                    </a:p>
                  </a:txBody>
                  <a:tcPr/>
                </a:tc>
                <a:tc>
                  <a:txBody>
                    <a:bodyPr/>
                    <a:lstStyle/>
                    <a:p>
                      <a:pPr algn="ctr"/>
                      <a:r>
                        <a:rPr lang="de-DE" dirty="0" smtClean="0"/>
                        <a:t>0,68469</a:t>
                      </a:r>
                      <a:endParaRPr lang="de-DE" dirty="0"/>
                    </a:p>
                  </a:txBody>
                  <a:tcPr/>
                </a:tc>
                <a:tc>
                  <a:txBody>
                    <a:bodyPr/>
                    <a:lstStyle/>
                    <a:p>
                      <a:pPr algn="ctr"/>
                      <a:endParaRPr lang="de-DE" dirty="0"/>
                    </a:p>
                  </a:txBody>
                  <a:tcPr/>
                </a:tc>
                <a:extLst>
                  <a:ext uri="{0D108BD9-81ED-4DB2-BD59-A6C34878D82A}">
                    <a16:rowId xmlns:a16="http://schemas.microsoft.com/office/drawing/2014/main" val="3343033724"/>
                  </a:ext>
                </a:extLst>
              </a:tr>
              <a:tr h="4569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aseline="0" dirty="0" err="1" smtClean="0"/>
                        <a:t>Convection</a:t>
                      </a:r>
                      <a:r>
                        <a:rPr lang="de-DE" baseline="0" dirty="0" smtClean="0"/>
                        <a:t> - </a:t>
                      </a:r>
                      <a:r>
                        <a:rPr lang="de-DE" baseline="0" dirty="0" err="1" smtClean="0"/>
                        <a:t>c</a:t>
                      </a:r>
                      <a:r>
                        <a:rPr lang="de-DE" dirty="0" err="1" smtClean="0"/>
                        <a:t>ooling</a:t>
                      </a:r>
                      <a:r>
                        <a:rPr lang="de-DE" baseline="0" dirty="0" smtClean="0"/>
                        <a:t> </a:t>
                      </a:r>
                      <a:r>
                        <a:rPr lang="de-DE" baseline="0" dirty="0" err="1" smtClean="0"/>
                        <a:t>pipes</a:t>
                      </a:r>
                      <a:r>
                        <a:rPr lang="de-DE" baseline="0" dirty="0" smtClean="0"/>
                        <a:t> </a:t>
                      </a:r>
                      <a:endParaRPr lang="de-DE" dirty="0" smtClean="0"/>
                    </a:p>
                  </a:txBody>
                  <a:tcPr/>
                </a:tc>
                <a:tc>
                  <a:txBody>
                    <a:bodyPr/>
                    <a:lstStyle/>
                    <a:p>
                      <a:pPr algn="ctr"/>
                      <a:r>
                        <a:rPr lang="de-DE" dirty="0" smtClean="0"/>
                        <a:t>-167658</a:t>
                      </a:r>
                    </a:p>
                  </a:txBody>
                  <a:tcPr/>
                </a:tc>
                <a:tc>
                  <a:txBody>
                    <a:bodyPr/>
                    <a:lstStyle/>
                    <a:p>
                      <a:pPr algn="ctr"/>
                      <a:r>
                        <a:rPr lang="de-DE" dirty="0" smtClean="0"/>
                        <a:t>97,9%</a:t>
                      </a:r>
                      <a:endParaRPr lang="de-DE" dirty="0"/>
                    </a:p>
                  </a:txBody>
                  <a:tcPr/>
                </a:tc>
                <a:tc>
                  <a:txBody>
                    <a:bodyPr/>
                    <a:lstStyle/>
                    <a:p>
                      <a:pPr algn="ctr"/>
                      <a:r>
                        <a:rPr lang="de-DE" dirty="0" smtClean="0"/>
                        <a:t>0,24492</a:t>
                      </a:r>
                      <a:endParaRPr lang="de-DE" dirty="0"/>
                    </a:p>
                  </a:txBody>
                  <a:tcPr/>
                </a:tc>
                <a:tc>
                  <a:txBody>
                    <a:bodyPr/>
                    <a:lstStyle/>
                    <a:p>
                      <a:pPr algn="ctr"/>
                      <a:r>
                        <a:rPr lang="de-DE" dirty="0" smtClean="0"/>
                        <a:t>-</a:t>
                      </a:r>
                      <a:endParaRPr lang="de-DE" dirty="0"/>
                    </a:p>
                  </a:txBody>
                  <a:tcPr/>
                </a:tc>
                <a:extLst>
                  <a:ext uri="{0D108BD9-81ED-4DB2-BD59-A6C34878D82A}">
                    <a16:rowId xmlns:a16="http://schemas.microsoft.com/office/drawing/2014/main" val="4068201041"/>
                  </a:ext>
                </a:extLst>
              </a:tr>
              <a:tr h="370840">
                <a:tc>
                  <a:txBody>
                    <a:bodyPr/>
                    <a:lstStyle/>
                    <a:p>
                      <a:r>
                        <a:rPr lang="de-DE" baseline="0" dirty="0" err="1" smtClean="0"/>
                        <a:t>Convection</a:t>
                      </a:r>
                      <a:r>
                        <a:rPr lang="de-DE" baseline="0" dirty="0" smtClean="0"/>
                        <a:t> - i</a:t>
                      </a:r>
                      <a:r>
                        <a:rPr lang="de-DE" dirty="0" smtClean="0"/>
                        <a:t>n/outlet</a:t>
                      </a:r>
                      <a:r>
                        <a:rPr lang="de-DE" baseline="0" dirty="0" smtClean="0"/>
                        <a:t> </a:t>
                      </a:r>
                      <a:r>
                        <a:rPr lang="de-DE" baseline="0" dirty="0" err="1" smtClean="0"/>
                        <a:t>areas</a:t>
                      </a:r>
                      <a:r>
                        <a:rPr lang="de-DE" baseline="0" dirty="0" smtClean="0"/>
                        <a:t> </a:t>
                      </a:r>
                      <a:r>
                        <a:rPr lang="de-DE" baseline="0" dirty="0" err="1" smtClean="0"/>
                        <a:t>of</a:t>
                      </a:r>
                      <a:r>
                        <a:rPr lang="de-DE" baseline="0" dirty="0" smtClean="0"/>
                        <a:t> </a:t>
                      </a:r>
                      <a:r>
                        <a:rPr lang="de-DE" baseline="0" dirty="0" err="1" smtClean="0"/>
                        <a:t>c</a:t>
                      </a:r>
                      <a:r>
                        <a:rPr lang="de-DE" dirty="0" err="1" smtClean="0"/>
                        <a:t>ooling</a:t>
                      </a:r>
                      <a:r>
                        <a:rPr lang="de-DE" baseline="0" dirty="0" smtClean="0"/>
                        <a:t> </a:t>
                      </a:r>
                      <a:r>
                        <a:rPr lang="de-DE" baseline="0" dirty="0" err="1" smtClean="0"/>
                        <a:t>pipes</a:t>
                      </a:r>
                      <a:endParaRPr lang="de-DE" dirty="0"/>
                    </a:p>
                  </a:txBody>
                  <a:tcPr/>
                </a:tc>
                <a:tc>
                  <a:txBody>
                    <a:bodyPr/>
                    <a:lstStyle/>
                    <a:p>
                      <a:pPr algn="ctr"/>
                      <a:r>
                        <a:rPr lang="de-DE" dirty="0" smtClean="0"/>
                        <a:t>-104,44</a:t>
                      </a:r>
                    </a:p>
                    <a:p>
                      <a:pPr algn="ctr"/>
                      <a:endParaRPr lang="de-DE" dirty="0"/>
                    </a:p>
                  </a:txBody>
                  <a:tcPr/>
                </a:tc>
                <a:tc>
                  <a:txBody>
                    <a:bodyPr/>
                    <a:lstStyle/>
                    <a:p>
                      <a:pPr algn="ctr"/>
                      <a:r>
                        <a:rPr lang="de-DE" baseline="0" dirty="0" smtClean="0"/>
                        <a:t>0,06%</a:t>
                      </a:r>
                      <a:endParaRPr lang="de-DE" dirty="0"/>
                    </a:p>
                  </a:txBody>
                  <a:tcPr/>
                </a:tc>
                <a:tc>
                  <a:txBody>
                    <a:bodyPr/>
                    <a:lstStyle/>
                    <a:p>
                      <a:pPr algn="ctr"/>
                      <a:r>
                        <a:rPr lang="de-DE" dirty="0" smtClean="0"/>
                        <a:t>0,00999</a:t>
                      </a:r>
                      <a:endParaRPr lang="de-DE" dirty="0"/>
                    </a:p>
                  </a:txBody>
                  <a:tcPr/>
                </a:tc>
                <a:tc>
                  <a:txBody>
                    <a:bodyPr/>
                    <a:lstStyle/>
                    <a:p>
                      <a:pPr algn="ctr"/>
                      <a:r>
                        <a:rPr lang="de-DE" dirty="0" smtClean="0"/>
                        <a:t>-</a:t>
                      </a:r>
                      <a:endParaRPr lang="de-DE" dirty="0"/>
                    </a:p>
                  </a:txBody>
                  <a:tcPr/>
                </a:tc>
                <a:extLst>
                  <a:ext uri="{0D108BD9-81ED-4DB2-BD59-A6C34878D82A}">
                    <a16:rowId xmlns:a16="http://schemas.microsoft.com/office/drawing/2014/main" val="3038861956"/>
                  </a:ext>
                </a:extLst>
              </a:tr>
              <a:tr h="370840">
                <a:tc>
                  <a:txBody>
                    <a:bodyPr/>
                    <a:lstStyle/>
                    <a:p>
                      <a:r>
                        <a:rPr lang="de-DE" dirty="0" smtClean="0"/>
                        <a:t>Radiation – </a:t>
                      </a:r>
                      <a:r>
                        <a:rPr lang="de-DE" dirty="0" err="1" smtClean="0"/>
                        <a:t>graphite</a:t>
                      </a:r>
                      <a:endParaRPr lang="de-DE" dirty="0"/>
                    </a:p>
                  </a:txBody>
                  <a:tcPr/>
                </a:tc>
                <a:tc>
                  <a:txBody>
                    <a:bodyPr/>
                    <a:lstStyle/>
                    <a:p>
                      <a:pPr algn="ctr"/>
                      <a:r>
                        <a:rPr lang="de-DE" dirty="0" smtClean="0"/>
                        <a:t>-3116,9</a:t>
                      </a:r>
                    </a:p>
                  </a:txBody>
                  <a:tcPr/>
                </a:tc>
                <a:tc>
                  <a:txBody>
                    <a:bodyPr/>
                    <a:lstStyle/>
                    <a:p>
                      <a:pPr algn="ctr"/>
                      <a:r>
                        <a:rPr lang="de-DE" dirty="0" smtClean="0"/>
                        <a:t>1,82%</a:t>
                      </a:r>
                      <a:endParaRPr lang="de-DE" dirty="0"/>
                    </a:p>
                  </a:txBody>
                  <a:tcPr/>
                </a:tc>
                <a:tc>
                  <a:txBody>
                    <a:bodyPr/>
                    <a:lstStyle/>
                    <a:p>
                      <a:pPr algn="ctr"/>
                      <a:r>
                        <a:rPr lang="de-DE" dirty="0" smtClean="0"/>
                        <a:t>0,25607</a:t>
                      </a:r>
                      <a:endParaRPr lang="de-DE" dirty="0"/>
                    </a:p>
                  </a:txBody>
                  <a:tcPr/>
                </a:tc>
                <a:tc>
                  <a:txBody>
                    <a:bodyPr/>
                    <a:lstStyle/>
                    <a:p>
                      <a:pPr algn="ctr"/>
                      <a:r>
                        <a:rPr lang="de-DE" dirty="0" smtClean="0"/>
                        <a:t>12172</a:t>
                      </a:r>
                      <a:endParaRPr lang="de-DE" dirty="0"/>
                    </a:p>
                  </a:txBody>
                  <a:tcPr/>
                </a:tc>
                <a:extLst>
                  <a:ext uri="{0D108BD9-81ED-4DB2-BD59-A6C34878D82A}">
                    <a16:rowId xmlns:a16="http://schemas.microsoft.com/office/drawing/2014/main" val="2637364627"/>
                  </a:ext>
                </a:extLst>
              </a:tr>
              <a:tr h="370840">
                <a:tc>
                  <a:txBody>
                    <a:bodyPr/>
                    <a:lstStyle/>
                    <a:p>
                      <a:r>
                        <a:rPr lang="de-DE" dirty="0" smtClean="0"/>
                        <a:t>Radiation – </a:t>
                      </a:r>
                      <a:r>
                        <a:rPr lang="de-DE" dirty="0" err="1" smtClean="0"/>
                        <a:t>CuCrZr</a:t>
                      </a:r>
                      <a:endParaRPr lang="de-DE" dirty="0"/>
                    </a:p>
                  </a:txBody>
                  <a:tcPr/>
                </a:tc>
                <a:tc>
                  <a:txBody>
                    <a:bodyPr/>
                    <a:lstStyle/>
                    <a:p>
                      <a:pPr algn="ctr"/>
                      <a:r>
                        <a:rPr lang="de-DE" dirty="0" smtClean="0"/>
                        <a:t>-231,654</a:t>
                      </a:r>
                    </a:p>
                  </a:txBody>
                  <a:tcPr/>
                </a:tc>
                <a:tc>
                  <a:txBody>
                    <a:bodyPr/>
                    <a:lstStyle/>
                    <a:p>
                      <a:pPr algn="ctr"/>
                      <a:r>
                        <a:rPr lang="de-DE" dirty="0" smtClean="0"/>
                        <a:t>0,13%</a:t>
                      </a:r>
                      <a:endParaRPr lang="de-DE" dirty="0"/>
                    </a:p>
                  </a:txBody>
                  <a:tcPr/>
                </a:tc>
                <a:tc>
                  <a:txBody>
                    <a:bodyPr/>
                    <a:lstStyle/>
                    <a:p>
                      <a:pPr algn="ctr"/>
                      <a:r>
                        <a:rPr lang="de-DE" dirty="0" smtClean="0"/>
                        <a:t>0,28789</a:t>
                      </a:r>
                      <a:endParaRPr lang="de-DE" dirty="0"/>
                    </a:p>
                  </a:txBody>
                  <a:tcPr/>
                </a:tc>
                <a:tc>
                  <a:txBody>
                    <a:bodyPr/>
                    <a:lstStyle/>
                    <a:p>
                      <a:pPr algn="ctr"/>
                      <a:r>
                        <a:rPr lang="de-DE" dirty="0" smtClean="0"/>
                        <a:t>804</a:t>
                      </a:r>
                      <a:endParaRPr lang="de-DE" dirty="0"/>
                    </a:p>
                  </a:txBody>
                  <a:tcPr/>
                </a:tc>
                <a:extLst>
                  <a:ext uri="{0D108BD9-81ED-4DB2-BD59-A6C34878D82A}">
                    <a16:rowId xmlns:a16="http://schemas.microsoft.com/office/drawing/2014/main" val="4001898228"/>
                  </a:ext>
                </a:extLst>
              </a:tr>
              <a:tr h="370840">
                <a:tc>
                  <a:txBody>
                    <a:bodyPr/>
                    <a:lstStyle/>
                    <a:p>
                      <a:r>
                        <a:rPr lang="de-DE" dirty="0" smtClean="0"/>
                        <a:t>Radiation</a:t>
                      </a:r>
                      <a:r>
                        <a:rPr lang="de-DE" baseline="0" dirty="0" smtClean="0"/>
                        <a:t> – </a:t>
                      </a:r>
                      <a:r>
                        <a:rPr lang="de-DE" baseline="0" dirty="0" err="1" smtClean="0"/>
                        <a:t>pipes</a:t>
                      </a:r>
                      <a:endParaRPr lang="de-DE" dirty="0"/>
                    </a:p>
                  </a:txBody>
                  <a:tcPr/>
                </a:tc>
                <a:tc>
                  <a:txBody>
                    <a:bodyPr/>
                    <a:lstStyle/>
                    <a:p>
                      <a:pPr algn="ctr"/>
                      <a:r>
                        <a:rPr lang="de-DE" dirty="0" smtClean="0"/>
                        <a:t>106,431</a:t>
                      </a:r>
                      <a:endParaRPr lang="de-DE" dirty="0"/>
                    </a:p>
                  </a:txBody>
                  <a:tcPr/>
                </a:tc>
                <a:tc>
                  <a:txBody>
                    <a:bodyPr/>
                    <a:lstStyle/>
                    <a:p>
                      <a:pPr algn="ctr"/>
                      <a:r>
                        <a:rPr lang="de-DE" baseline="0" dirty="0" smtClean="0"/>
                        <a:t>0,06%</a:t>
                      </a:r>
                      <a:endParaRPr lang="de-DE" dirty="0"/>
                    </a:p>
                  </a:txBody>
                  <a:tcPr/>
                </a:tc>
                <a:tc>
                  <a:txBody>
                    <a:bodyPr/>
                    <a:lstStyle/>
                    <a:p>
                      <a:pPr algn="ctr"/>
                      <a:r>
                        <a:rPr lang="de-DE" dirty="0" smtClean="0"/>
                        <a:t>0,14005</a:t>
                      </a:r>
                      <a:endParaRPr lang="de-DE" dirty="0"/>
                    </a:p>
                  </a:txBody>
                  <a:tcPr/>
                </a:tc>
                <a:tc>
                  <a:txBody>
                    <a:bodyPr/>
                    <a:lstStyle/>
                    <a:p>
                      <a:pPr algn="ctr"/>
                      <a:r>
                        <a:rPr lang="de-DE" dirty="0" smtClean="0"/>
                        <a:t>760</a:t>
                      </a:r>
                      <a:endParaRPr lang="de-DE" dirty="0"/>
                    </a:p>
                  </a:txBody>
                  <a:tcPr/>
                </a:tc>
                <a:extLst>
                  <a:ext uri="{0D108BD9-81ED-4DB2-BD59-A6C34878D82A}">
                    <a16:rowId xmlns:a16="http://schemas.microsoft.com/office/drawing/2014/main" val="37468463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Radiation</a:t>
                      </a:r>
                      <a:r>
                        <a:rPr lang="de-DE" baseline="0" dirty="0" smtClean="0"/>
                        <a:t> – </a:t>
                      </a:r>
                      <a:r>
                        <a:rPr lang="de-DE" baseline="0" dirty="0" err="1" smtClean="0"/>
                        <a:t>connector</a:t>
                      </a:r>
                      <a:r>
                        <a:rPr lang="de-DE" baseline="0" dirty="0" smtClean="0"/>
                        <a:t> </a:t>
                      </a:r>
                      <a:r>
                        <a:rPr lang="de-DE" baseline="0" dirty="0" err="1" smtClean="0"/>
                        <a:t>plates</a:t>
                      </a:r>
                      <a:endParaRPr lang="de-DE" dirty="0" smtClean="0"/>
                    </a:p>
                  </a:txBody>
                  <a:tcPr/>
                </a:tc>
                <a:tc>
                  <a:txBody>
                    <a:bodyPr/>
                    <a:lstStyle/>
                    <a:p>
                      <a:pPr algn="ctr"/>
                      <a:r>
                        <a:rPr lang="de-DE" dirty="0" smtClean="0"/>
                        <a:t>-111,531</a:t>
                      </a:r>
                    </a:p>
                  </a:txBody>
                  <a:tcPr/>
                </a:tc>
                <a:tc>
                  <a:txBody>
                    <a:bodyPr/>
                    <a:lstStyle/>
                    <a:p>
                      <a:pPr algn="ctr"/>
                      <a:r>
                        <a:rPr lang="de-DE" dirty="0" smtClean="0"/>
                        <a:t>0,06%</a:t>
                      </a:r>
                      <a:endParaRPr lang="de-DE" dirty="0"/>
                    </a:p>
                  </a:txBody>
                  <a:tcPr/>
                </a:tc>
                <a:tc>
                  <a:txBody>
                    <a:bodyPr/>
                    <a:lstStyle/>
                    <a:p>
                      <a:pPr algn="ctr"/>
                      <a:r>
                        <a:rPr lang="de-DE" dirty="0" smtClean="0"/>
                        <a:t>0,10799</a:t>
                      </a:r>
                      <a:endParaRPr lang="de-DE" dirty="0"/>
                    </a:p>
                  </a:txBody>
                  <a:tcPr/>
                </a:tc>
                <a:tc>
                  <a:txBody>
                    <a:bodyPr/>
                    <a:lstStyle/>
                    <a:p>
                      <a:pPr algn="ctr"/>
                      <a:r>
                        <a:rPr lang="de-DE" dirty="0" smtClean="0"/>
                        <a:t>1032</a:t>
                      </a:r>
                      <a:endParaRPr lang="de-DE" dirty="0"/>
                    </a:p>
                  </a:txBody>
                  <a:tcPr/>
                </a:tc>
                <a:extLst>
                  <a:ext uri="{0D108BD9-81ED-4DB2-BD59-A6C34878D82A}">
                    <a16:rowId xmlns:a16="http://schemas.microsoft.com/office/drawing/2014/main" val="4116489916"/>
                  </a:ext>
                </a:extLst>
              </a:tr>
              <a:tr h="370840">
                <a:tc>
                  <a:txBody>
                    <a:bodyPr/>
                    <a:lstStyle/>
                    <a:p>
                      <a:r>
                        <a:rPr lang="de-DE" dirty="0" err="1" smtClean="0"/>
                        <a:t>Conduction</a:t>
                      </a:r>
                      <a:r>
                        <a:rPr lang="de-DE" dirty="0" smtClean="0"/>
                        <a:t> – </a:t>
                      </a:r>
                      <a:r>
                        <a:rPr lang="de-DE" dirty="0" err="1" smtClean="0"/>
                        <a:t>supports</a:t>
                      </a:r>
                      <a:r>
                        <a:rPr lang="de-DE" dirty="0" smtClean="0"/>
                        <a:t> </a:t>
                      </a:r>
                      <a:r>
                        <a:rPr lang="de-DE" dirty="0" err="1" smtClean="0"/>
                        <a:t>to</a:t>
                      </a:r>
                      <a:r>
                        <a:rPr lang="de-DE" baseline="0" dirty="0" smtClean="0"/>
                        <a:t> </a:t>
                      </a:r>
                      <a:r>
                        <a:rPr lang="de-DE" baseline="0" dirty="0" err="1" smtClean="0"/>
                        <a:t>vessel</a:t>
                      </a:r>
                      <a:endParaRPr lang="de-DE" dirty="0"/>
                    </a:p>
                  </a:txBody>
                  <a:tcPr/>
                </a:tc>
                <a:tc>
                  <a:txBody>
                    <a:bodyPr/>
                    <a:lstStyle/>
                    <a:p>
                      <a:pPr algn="ctr"/>
                      <a:r>
                        <a:rPr lang="de-DE" dirty="0" smtClean="0"/>
                        <a:t>-26,7</a:t>
                      </a:r>
                    </a:p>
                    <a:p>
                      <a:pPr algn="ctr"/>
                      <a:endParaRPr lang="de-DE" dirty="0"/>
                    </a:p>
                  </a:txBody>
                  <a:tcPr/>
                </a:tc>
                <a:tc>
                  <a:txBody>
                    <a:bodyPr/>
                    <a:lstStyle/>
                    <a:p>
                      <a:pPr algn="ctr"/>
                      <a:r>
                        <a:rPr lang="de-DE" dirty="0" smtClean="0"/>
                        <a:t>0,01%</a:t>
                      </a:r>
                      <a:endParaRPr lang="de-DE" dirty="0"/>
                    </a:p>
                  </a:txBody>
                  <a:tcPr/>
                </a:tc>
                <a:tc>
                  <a:txBody>
                    <a:bodyPr/>
                    <a:lstStyle/>
                    <a:p>
                      <a:pPr algn="ctr"/>
                      <a:r>
                        <a:rPr lang="de-DE" dirty="0" smtClean="0"/>
                        <a:t>0,0007</a:t>
                      </a:r>
                      <a:endParaRPr lang="de-DE" dirty="0"/>
                    </a:p>
                  </a:txBody>
                  <a:tcPr/>
                </a:tc>
                <a:tc>
                  <a:txBody>
                    <a:bodyPr/>
                    <a:lstStyle/>
                    <a:p>
                      <a:pPr algn="ctr"/>
                      <a:r>
                        <a:rPr lang="de-DE" dirty="0" smtClean="0"/>
                        <a:t>-</a:t>
                      </a:r>
                      <a:endParaRPr lang="de-DE" dirty="0"/>
                    </a:p>
                  </a:txBody>
                  <a:tcPr/>
                </a:tc>
                <a:extLst>
                  <a:ext uri="{0D108BD9-81ED-4DB2-BD59-A6C34878D82A}">
                    <a16:rowId xmlns:a16="http://schemas.microsoft.com/office/drawing/2014/main" val="2769431078"/>
                  </a:ext>
                </a:extLst>
              </a:tr>
              <a:tr h="370840">
                <a:tc>
                  <a:txBody>
                    <a:bodyPr/>
                    <a:lstStyle/>
                    <a:p>
                      <a:r>
                        <a:rPr lang="de-DE" b="1" dirty="0" smtClean="0"/>
                        <a:t>SUM</a:t>
                      </a:r>
                      <a:endParaRPr lang="de-DE" b="1" dirty="0"/>
                    </a:p>
                  </a:txBody>
                  <a:tcPr/>
                </a:tc>
                <a:tc>
                  <a:txBody>
                    <a:bodyPr/>
                    <a:lstStyle/>
                    <a:p>
                      <a:pPr algn="ctr"/>
                      <a:r>
                        <a:rPr lang="de-DE" b="1" dirty="0" smtClean="0"/>
                        <a:t>29,66</a:t>
                      </a:r>
                      <a:endParaRPr lang="de-DE" b="1" dirty="0"/>
                    </a:p>
                  </a:txBody>
                  <a:tcPr/>
                </a:tc>
                <a:tc>
                  <a:txBody>
                    <a:bodyPr/>
                    <a:lstStyle/>
                    <a:p>
                      <a:pPr algn="ctr"/>
                      <a:r>
                        <a:rPr lang="de-DE" b="1" dirty="0" smtClean="0"/>
                        <a:t>-</a:t>
                      </a:r>
                      <a:endParaRPr lang="de-DE" b="1" dirty="0"/>
                    </a:p>
                  </a:txBody>
                  <a:tcPr/>
                </a:tc>
                <a:tc>
                  <a:txBody>
                    <a:bodyPr/>
                    <a:lstStyle/>
                    <a:p>
                      <a:pPr algn="ctr"/>
                      <a:endParaRPr lang="de-DE" b="1" dirty="0"/>
                    </a:p>
                  </a:txBody>
                  <a:tcPr/>
                </a:tc>
                <a:tc>
                  <a:txBody>
                    <a:bodyPr/>
                    <a:lstStyle/>
                    <a:p>
                      <a:pPr algn="ctr"/>
                      <a:r>
                        <a:rPr lang="de-DE" b="1" dirty="0" smtClean="0"/>
                        <a:t>4234,41</a:t>
                      </a:r>
                    </a:p>
                  </a:txBody>
                  <a:tcPr/>
                </a:tc>
                <a:extLst>
                  <a:ext uri="{0D108BD9-81ED-4DB2-BD59-A6C34878D82A}">
                    <a16:rowId xmlns:a16="http://schemas.microsoft.com/office/drawing/2014/main" val="3117367321"/>
                  </a:ext>
                </a:extLst>
              </a:tr>
            </a:tbl>
          </a:graphicData>
        </a:graphic>
      </p:graphicFrame>
    </p:spTree>
    <p:extLst>
      <p:ext uri="{BB962C8B-B14F-4D97-AF65-F5344CB8AC3E}">
        <p14:creationId xmlns:p14="http://schemas.microsoft.com/office/powerpoint/2010/main" val="35384407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dirty="0" smtClean="0"/>
              <a:t>Results: Heat balance &amp; radiation towards PV – 150 kW/m2</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10</a:t>
            </a:fld>
            <a:endParaRPr lang="de-DE" dirty="0"/>
          </a:p>
        </p:txBody>
      </p:sp>
      <p:pic>
        <p:nvPicPr>
          <p:cNvPr id="12" name="Grafik 11"/>
          <p:cNvPicPr>
            <a:picLocks noChangeAspect="1"/>
          </p:cNvPicPr>
          <p:nvPr/>
        </p:nvPicPr>
        <p:blipFill rotWithShape="1">
          <a:blip r:embed="rId2"/>
          <a:srcRect t="16943" b="49240"/>
          <a:stretch/>
        </p:blipFill>
        <p:spPr>
          <a:xfrm>
            <a:off x="984770" y="4369871"/>
            <a:ext cx="10186740" cy="2050180"/>
          </a:xfrm>
          <a:prstGeom prst="rect">
            <a:avLst/>
          </a:prstGeom>
        </p:spPr>
      </p:pic>
      <p:graphicFrame>
        <p:nvGraphicFramePr>
          <p:cNvPr id="11" name="Inhaltsplatzhalter 10"/>
          <p:cNvGraphicFramePr>
            <a:graphicFrameLocks noGrp="1"/>
          </p:cNvGraphicFramePr>
          <p:nvPr>
            <p:ph sz="quarter" idx="13"/>
            <p:extLst>
              <p:ext uri="{D42A27DB-BD31-4B8C-83A1-F6EECF244321}">
                <p14:modId xmlns:p14="http://schemas.microsoft.com/office/powerpoint/2010/main" val="2575631191"/>
              </p:ext>
            </p:extLst>
          </p:nvPr>
        </p:nvGraphicFramePr>
        <p:xfrm>
          <a:off x="528963" y="1001027"/>
          <a:ext cx="10967712" cy="4241800"/>
        </p:xfrm>
        <a:graphic>
          <a:graphicData uri="http://schemas.openxmlformats.org/drawingml/2006/table">
            <a:tbl>
              <a:tblPr firstRow="1" bandRow="1">
                <a:tableStyleId>{5C22544A-7EE6-4342-B048-85BDC9FD1C3A}</a:tableStyleId>
              </a:tblPr>
              <a:tblGrid>
                <a:gridCol w="3200125">
                  <a:extLst>
                    <a:ext uri="{9D8B030D-6E8A-4147-A177-3AD203B41FA5}">
                      <a16:colId xmlns:a16="http://schemas.microsoft.com/office/drawing/2014/main" val="107373047"/>
                    </a:ext>
                  </a:extLst>
                </a:gridCol>
                <a:gridCol w="1463040">
                  <a:extLst>
                    <a:ext uri="{9D8B030D-6E8A-4147-A177-3AD203B41FA5}">
                      <a16:colId xmlns:a16="http://schemas.microsoft.com/office/drawing/2014/main" val="382925162"/>
                    </a:ext>
                  </a:extLst>
                </a:gridCol>
                <a:gridCol w="2002054">
                  <a:extLst>
                    <a:ext uri="{9D8B030D-6E8A-4147-A177-3AD203B41FA5}">
                      <a16:colId xmlns:a16="http://schemas.microsoft.com/office/drawing/2014/main" val="856378803"/>
                    </a:ext>
                  </a:extLst>
                </a:gridCol>
                <a:gridCol w="1280160">
                  <a:extLst>
                    <a:ext uri="{9D8B030D-6E8A-4147-A177-3AD203B41FA5}">
                      <a16:colId xmlns:a16="http://schemas.microsoft.com/office/drawing/2014/main" val="859138558"/>
                    </a:ext>
                  </a:extLst>
                </a:gridCol>
                <a:gridCol w="3022333">
                  <a:extLst>
                    <a:ext uri="{9D8B030D-6E8A-4147-A177-3AD203B41FA5}">
                      <a16:colId xmlns:a16="http://schemas.microsoft.com/office/drawing/2014/main" val="2405115307"/>
                    </a:ext>
                  </a:extLst>
                </a:gridCol>
              </a:tblGrid>
              <a:tr h="2965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PF</a:t>
                      </a:r>
                      <a:r>
                        <a:rPr lang="de-DE" baseline="0" dirty="0" smtClean="0"/>
                        <a:t> </a:t>
                      </a:r>
                      <a:r>
                        <a:rPr lang="de-DE" baseline="0" dirty="0" err="1" smtClean="0"/>
                        <a:t>heat</a:t>
                      </a:r>
                      <a:r>
                        <a:rPr lang="de-DE" baseline="0" dirty="0" smtClean="0"/>
                        <a:t> </a:t>
                      </a:r>
                      <a:r>
                        <a:rPr lang="de-DE" dirty="0" smtClean="0"/>
                        <a:t>[W]</a:t>
                      </a:r>
                    </a:p>
                  </a:txBody>
                  <a:tcPr/>
                </a:tc>
                <a:tc>
                  <a:txBody>
                    <a:bodyPr/>
                    <a:lstStyle/>
                    <a:p>
                      <a:pPr algn="ctr"/>
                      <a:r>
                        <a:rPr lang="de-DE" dirty="0" smtClean="0"/>
                        <a:t>Ratio </a:t>
                      </a:r>
                      <a:r>
                        <a:rPr lang="de-DE" dirty="0" err="1" smtClean="0"/>
                        <a:t>of</a:t>
                      </a:r>
                      <a:r>
                        <a:rPr lang="de-DE" baseline="0" dirty="0" smtClean="0"/>
                        <a:t> PF </a:t>
                      </a:r>
                      <a:r>
                        <a:rPr lang="de-DE" baseline="0" dirty="0" err="1" smtClean="0"/>
                        <a:t>heat</a:t>
                      </a:r>
                      <a:endParaRPr lang="de-DE" dirty="0"/>
                    </a:p>
                  </a:txBody>
                  <a:tcPr/>
                </a:tc>
                <a:tc>
                  <a:txBody>
                    <a:bodyPr/>
                    <a:lstStyle/>
                    <a:p>
                      <a:pPr algn="ctr"/>
                      <a:r>
                        <a:rPr lang="de-DE" dirty="0" smtClean="0"/>
                        <a:t>Area [m2]</a:t>
                      </a:r>
                      <a:endParaRPr lang="de-DE" dirty="0"/>
                    </a:p>
                  </a:txBody>
                  <a:tcPr/>
                </a:tc>
                <a:tc>
                  <a:txBody>
                    <a:bodyPr/>
                    <a:lstStyle/>
                    <a:p>
                      <a:pPr algn="ctr"/>
                      <a:r>
                        <a:rPr lang="de-DE" dirty="0" err="1" smtClean="0"/>
                        <a:t>avg</a:t>
                      </a:r>
                      <a:r>
                        <a:rPr lang="de-DE" dirty="0" smtClean="0"/>
                        <a:t>. </a:t>
                      </a:r>
                      <a:r>
                        <a:rPr lang="de-DE" dirty="0" err="1" smtClean="0"/>
                        <a:t>rad</a:t>
                      </a:r>
                      <a:r>
                        <a:rPr lang="de-DE" dirty="0" smtClean="0"/>
                        <a:t>.</a:t>
                      </a:r>
                      <a:r>
                        <a:rPr lang="de-DE" baseline="0" dirty="0" smtClean="0"/>
                        <a:t> </a:t>
                      </a:r>
                      <a:r>
                        <a:rPr lang="de-DE" baseline="0" dirty="0" err="1" smtClean="0"/>
                        <a:t>heat</a:t>
                      </a:r>
                      <a:r>
                        <a:rPr lang="de-DE" baseline="0" dirty="0" smtClean="0"/>
                        <a:t> </a:t>
                      </a:r>
                      <a:r>
                        <a:rPr lang="de-DE" baseline="0" dirty="0" err="1" smtClean="0"/>
                        <a:t>flux</a:t>
                      </a:r>
                      <a:r>
                        <a:rPr lang="de-DE" baseline="0" dirty="0" smtClean="0"/>
                        <a:t> </a:t>
                      </a:r>
                      <a:r>
                        <a:rPr lang="de-DE" dirty="0" smtClean="0"/>
                        <a:t>[W/m2]</a:t>
                      </a:r>
                      <a:r>
                        <a:rPr lang="de-DE" baseline="0" dirty="0" smtClean="0"/>
                        <a:t> </a:t>
                      </a:r>
                      <a:endParaRPr lang="de-DE" dirty="0"/>
                    </a:p>
                  </a:txBody>
                  <a:tcPr/>
                </a:tc>
                <a:extLst>
                  <a:ext uri="{0D108BD9-81ED-4DB2-BD59-A6C34878D82A}">
                    <a16:rowId xmlns:a16="http://schemas.microsoft.com/office/drawing/2014/main" val="131257497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PF</a:t>
                      </a:r>
                      <a:r>
                        <a:rPr lang="de-DE" baseline="0" dirty="0" smtClean="0"/>
                        <a:t> </a:t>
                      </a:r>
                      <a:r>
                        <a:rPr lang="de-DE" baseline="0" dirty="0" err="1" smtClean="0"/>
                        <a:t>heat</a:t>
                      </a:r>
                      <a:r>
                        <a:rPr lang="de-DE" baseline="0" dirty="0" smtClean="0"/>
                        <a:t> </a:t>
                      </a:r>
                      <a:endParaRPr lang="de-DE"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t>102 703,5</a:t>
                      </a:r>
                    </a:p>
                  </a:txBody>
                  <a:tcPr/>
                </a:tc>
                <a:tc>
                  <a:txBody>
                    <a:bodyPr/>
                    <a:lstStyle/>
                    <a:p>
                      <a:pPr algn="ctr"/>
                      <a:r>
                        <a:rPr lang="de-DE" dirty="0" smtClean="0"/>
                        <a:t>100%</a:t>
                      </a:r>
                      <a:endParaRPr lang="de-DE" dirty="0"/>
                    </a:p>
                  </a:txBody>
                  <a:tcPr/>
                </a:tc>
                <a:tc>
                  <a:txBody>
                    <a:bodyPr/>
                    <a:lstStyle/>
                    <a:p>
                      <a:pPr algn="ctr"/>
                      <a:r>
                        <a:rPr lang="de-DE" dirty="0" smtClean="0"/>
                        <a:t>0,68469</a:t>
                      </a:r>
                      <a:endParaRPr lang="de-DE" dirty="0"/>
                    </a:p>
                  </a:txBody>
                  <a:tcPr/>
                </a:tc>
                <a:tc>
                  <a:txBody>
                    <a:bodyPr/>
                    <a:lstStyle/>
                    <a:p>
                      <a:pPr algn="ctr"/>
                      <a:endParaRPr lang="de-DE" dirty="0"/>
                    </a:p>
                  </a:txBody>
                  <a:tcPr/>
                </a:tc>
                <a:extLst>
                  <a:ext uri="{0D108BD9-81ED-4DB2-BD59-A6C34878D82A}">
                    <a16:rowId xmlns:a16="http://schemas.microsoft.com/office/drawing/2014/main" val="33430337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aseline="0" dirty="0" err="1" smtClean="0"/>
                        <a:t>Convection</a:t>
                      </a:r>
                      <a:r>
                        <a:rPr lang="de-DE" baseline="0" dirty="0" smtClean="0"/>
                        <a:t> - </a:t>
                      </a:r>
                      <a:r>
                        <a:rPr lang="de-DE" baseline="0" dirty="0" err="1" smtClean="0"/>
                        <a:t>c</a:t>
                      </a:r>
                      <a:r>
                        <a:rPr lang="de-DE" dirty="0" err="1" smtClean="0"/>
                        <a:t>ooling</a:t>
                      </a:r>
                      <a:r>
                        <a:rPr lang="de-DE" baseline="0" dirty="0" smtClean="0"/>
                        <a:t> </a:t>
                      </a:r>
                      <a:r>
                        <a:rPr lang="de-DE" baseline="0" dirty="0" err="1" smtClean="0"/>
                        <a:t>pipes</a:t>
                      </a:r>
                      <a:r>
                        <a:rPr lang="de-DE" baseline="0" dirty="0" smtClean="0"/>
                        <a:t> </a:t>
                      </a:r>
                      <a:endParaRPr lang="de-DE" dirty="0" smtClean="0"/>
                    </a:p>
                  </a:txBody>
                  <a:tcPr/>
                </a:tc>
                <a:tc>
                  <a:txBody>
                    <a:bodyPr/>
                    <a:lstStyle/>
                    <a:p>
                      <a:pPr algn="ctr"/>
                      <a:r>
                        <a:rPr lang="de-DE" dirty="0" smtClean="0"/>
                        <a:t>-101 494</a:t>
                      </a:r>
                      <a:endParaRPr lang="de-DE" dirty="0"/>
                    </a:p>
                  </a:txBody>
                  <a:tcPr/>
                </a:tc>
                <a:tc>
                  <a:txBody>
                    <a:bodyPr/>
                    <a:lstStyle/>
                    <a:p>
                      <a:pPr algn="ctr"/>
                      <a:r>
                        <a:rPr lang="de-DE" dirty="0" smtClean="0"/>
                        <a:t>98,8%</a:t>
                      </a:r>
                      <a:endParaRPr lang="de-DE" dirty="0"/>
                    </a:p>
                  </a:txBody>
                  <a:tcPr/>
                </a:tc>
                <a:tc>
                  <a:txBody>
                    <a:bodyPr/>
                    <a:lstStyle/>
                    <a:p>
                      <a:pPr algn="ctr"/>
                      <a:r>
                        <a:rPr lang="de-DE" dirty="0" smtClean="0"/>
                        <a:t>0,24492</a:t>
                      </a:r>
                      <a:endParaRPr lang="de-DE" dirty="0"/>
                    </a:p>
                  </a:txBody>
                  <a:tcPr/>
                </a:tc>
                <a:tc>
                  <a:txBody>
                    <a:bodyPr/>
                    <a:lstStyle/>
                    <a:p>
                      <a:pPr algn="ctr"/>
                      <a:r>
                        <a:rPr lang="de-DE" dirty="0" smtClean="0"/>
                        <a:t>-</a:t>
                      </a:r>
                      <a:endParaRPr lang="de-DE" dirty="0"/>
                    </a:p>
                  </a:txBody>
                  <a:tcPr/>
                </a:tc>
                <a:extLst>
                  <a:ext uri="{0D108BD9-81ED-4DB2-BD59-A6C34878D82A}">
                    <a16:rowId xmlns:a16="http://schemas.microsoft.com/office/drawing/2014/main" val="4068201041"/>
                  </a:ext>
                </a:extLst>
              </a:tr>
              <a:tr h="370840">
                <a:tc>
                  <a:txBody>
                    <a:bodyPr/>
                    <a:lstStyle/>
                    <a:p>
                      <a:r>
                        <a:rPr lang="de-DE" baseline="0" dirty="0" err="1" smtClean="0"/>
                        <a:t>Convection</a:t>
                      </a:r>
                      <a:r>
                        <a:rPr lang="de-DE" baseline="0" dirty="0" smtClean="0"/>
                        <a:t> - i</a:t>
                      </a:r>
                      <a:r>
                        <a:rPr lang="de-DE" dirty="0" smtClean="0"/>
                        <a:t>n/outlet</a:t>
                      </a:r>
                      <a:r>
                        <a:rPr lang="de-DE" baseline="0" dirty="0" smtClean="0"/>
                        <a:t> </a:t>
                      </a:r>
                      <a:r>
                        <a:rPr lang="de-DE" baseline="0" dirty="0" err="1" smtClean="0"/>
                        <a:t>areas</a:t>
                      </a:r>
                      <a:r>
                        <a:rPr lang="de-DE" baseline="0" dirty="0" smtClean="0"/>
                        <a:t> </a:t>
                      </a:r>
                      <a:r>
                        <a:rPr lang="de-DE" baseline="0" dirty="0" err="1" smtClean="0"/>
                        <a:t>of</a:t>
                      </a:r>
                      <a:r>
                        <a:rPr lang="de-DE" baseline="0" dirty="0" smtClean="0"/>
                        <a:t> </a:t>
                      </a:r>
                      <a:r>
                        <a:rPr lang="de-DE" baseline="0" dirty="0" err="1" smtClean="0"/>
                        <a:t>c</a:t>
                      </a:r>
                      <a:r>
                        <a:rPr lang="de-DE" dirty="0" err="1" smtClean="0"/>
                        <a:t>ooling</a:t>
                      </a:r>
                      <a:r>
                        <a:rPr lang="de-DE" baseline="0" dirty="0" smtClean="0"/>
                        <a:t> </a:t>
                      </a:r>
                      <a:r>
                        <a:rPr lang="de-DE" baseline="0" dirty="0" err="1" smtClean="0"/>
                        <a:t>pipes</a:t>
                      </a:r>
                      <a:endParaRPr lang="de-DE" dirty="0"/>
                    </a:p>
                  </a:txBody>
                  <a:tcPr/>
                </a:tc>
                <a:tc>
                  <a:txBody>
                    <a:bodyPr/>
                    <a:lstStyle/>
                    <a:p>
                      <a:pPr algn="ctr"/>
                      <a:r>
                        <a:rPr lang="de-DE" dirty="0" smtClean="0"/>
                        <a:t>-63,3</a:t>
                      </a:r>
                      <a:endParaRPr lang="de-DE" dirty="0"/>
                    </a:p>
                  </a:txBody>
                  <a:tcPr/>
                </a:tc>
                <a:tc>
                  <a:txBody>
                    <a:bodyPr/>
                    <a:lstStyle/>
                    <a:p>
                      <a:pPr algn="ctr"/>
                      <a:r>
                        <a:rPr lang="de-DE" dirty="0" smtClean="0"/>
                        <a:t>0,06%</a:t>
                      </a:r>
                      <a:endParaRPr lang="de-DE" dirty="0"/>
                    </a:p>
                  </a:txBody>
                  <a:tcPr/>
                </a:tc>
                <a:tc>
                  <a:txBody>
                    <a:bodyPr/>
                    <a:lstStyle/>
                    <a:p>
                      <a:pPr algn="ctr"/>
                      <a:r>
                        <a:rPr lang="de-DE" dirty="0" smtClean="0"/>
                        <a:t>0,00999</a:t>
                      </a:r>
                      <a:endParaRPr lang="de-DE" dirty="0"/>
                    </a:p>
                  </a:txBody>
                  <a:tcPr/>
                </a:tc>
                <a:tc>
                  <a:txBody>
                    <a:bodyPr/>
                    <a:lstStyle/>
                    <a:p>
                      <a:pPr algn="ctr"/>
                      <a:r>
                        <a:rPr lang="de-DE" dirty="0" smtClean="0"/>
                        <a:t>-</a:t>
                      </a:r>
                      <a:endParaRPr lang="de-DE" dirty="0"/>
                    </a:p>
                  </a:txBody>
                  <a:tcPr/>
                </a:tc>
                <a:extLst>
                  <a:ext uri="{0D108BD9-81ED-4DB2-BD59-A6C34878D82A}">
                    <a16:rowId xmlns:a16="http://schemas.microsoft.com/office/drawing/2014/main" val="3038861956"/>
                  </a:ext>
                </a:extLst>
              </a:tr>
              <a:tr h="370840">
                <a:tc>
                  <a:txBody>
                    <a:bodyPr/>
                    <a:lstStyle/>
                    <a:p>
                      <a:r>
                        <a:rPr lang="de-DE" dirty="0" smtClean="0"/>
                        <a:t>Radiation – </a:t>
                      </a:r>
                      <a:r>
                        <a:rPr lang="de-DE" dirty="0" err="1" smtClean="0"/>
                        <a:t>graphite</a:t>
                      </a:r>
                      <a:endParaRPr lang="de-DE" dirty="0"/>
                    </a:p>
                  </a:txBody>
                  <a:tcPr/>
                </a:tc>
                <a:tc>
                  <a:txBody>
                    <a:bodyPr/>
                    <a:lstStyle/>
                    <a:p>
                      <a:pPr algn="ctr"/>
                      <a:r>
                        <a:rPr lang="de-DE" dirty="0" smtClean="0"/>
                        <a:t>-1014,11</a:t>
                      </a:r>
                      <a:endParaRPr lang="de-DE" dirty="0"/>
                    </a:p>
                  </a:txBody>
                  <a:tcPr/>
                </a:tc>
                <a:tc>
                  <a:txBody>
                    <a:bodyPr/>
                    <a:lstStyle/>
                    <a:p>
                      <a:pPr algn="ctr"/>
                      <a:r>
                        <a:rPr lang="de-DE" dirty="0" smtClean="0"/>
                        <a:t>1,8%</a:t>
                      </a:r>
                      <a:endParaRPr lang="de-DE" dirty="0"/>
                    </a:p>
                  </a:txBody>
                  <a:tcPr/>
                </a:tc>
                <a:tc>
                  <a:txBody>
                    <a:bodyPr/>
                    <a:lstStyle/>
                    <a:p>
                      <a:pPr algn="ctr"/>
                      <a:r>
                        <a:rPr lang="de-DE" dirty="0" smtClean="0"/>
                        <a:t>0,25607</a:t>
                      </a:r>
                      <a:endParaRPr lang="de-DE" dirty="0"/>
                    </a:p>
                  </a:txBody>
                  <a:tcPr/>
                </a:tc>
                <a:tc>
                  <a:txBody>
                    <a:bodyPr/>
                    <a:lstStyle/>
                    <a:p>
                      <a:pPr algn="ctr"/>
                      <a:r>
                        <a:rPr lang="de-DE" dirty="0" smtClean="0"/>
                        <a:t>3960</a:t>
                      </a:r>
                      <a:endParaRPr lang="de-DE" dirty="0"/>
                    </a:p>
                  </a:txBody>
                  <a:tcPr/>
                </a:tc>
                <a:extLst>
                  <a:ext uri="{0D108BD9-81ED-4DB2-BD59-A6C34878D82A}">
                    <a16:rowId xmlns:a16="http://schemas.microsoft.com/office/drawing/2014/main" val="2637364627"/>
                  </a:ext>
                </a:extLst>
              </a:tr>
              <a:tr h="370840">
                <a:tc>
                  <a:txBody>
                    <a:bodyPr/>
                    <a:lstStyle/>
                    <a:p>
                      <a:r>
                        <a:rPr lang="de-DE" dirty="0" smtClean="0"/>
                        <a:t>Radiation – </a:t>
                      </a:r>
                      <a:r>
                        <a:rPr lang="de-DE" dirty="0" err="1" smtClean="0"/>
                        <a:t>CuCrZr</a:t>
                      </a:r>
                      <a:endParaRPr lang="de-DE" dirty="0"/>
                    </a:p>
                  </a:txBody>
                  <a:tcPr/>
                </a:tc>
                <a:tc>
                  <a:txBody>
                    <a:bodyPr/>
                    <a:lstStyle/>
                    <a:p>
                      <a:pPr algn="ctr"/>
                      <a:r>
                        <a:rPr lang="de-DE" dirty="0" smtClean="0"/>
                        <a:t>-96,38</a:t>
                      </a:r>
                      <a:endParaRPr lang="de-DE" dirty="0"/>
                    </a:p>
                  </a:txBody>
                  <a:tcPr/>
                </a:tc>
                <a:tc>
                  <a:txBody>
                    <a:bodyPr/>
                    <a:lstStyle/>
                    <a:p>
                      <a:pPr algn="ctr"/>
                      <a:r>
                        <a:rPr lang="de-DE" dirty="0" smtClean="0"/>
                        <a:t>0,13%</a:t>
                      </a:r>
                      <a:endParaRPr lang="de-DE" dirty="0"/>
                    </a:p>
                  </a:txBody>
                  <a:tcPr/>
                </a:tc>
                <a:tc>
                  <a:txBody>
                    <a:bodyPr/>
                    <a:lstStyle/>
                    <a:p>
                      <a:pPr algn="ctr"/>
                      <a:r>
                        <a:rPr lang="de-DE" dirty="0" smtClean="0"/>
                        <a:t>0,28789</a:t>
                      </a:r>
                      <a:endParaRPr lang="de-DE" dirty="0"/>
                    </a:p>
                  </a:txBody>
                  <a:tcPr/>
                </a:tc>
                <a:tc>
                  <a:txBody>
                    <a:bodyPr/>
                    <a:lstStyle/>
                    <a:p>
                      <a:pPr algn="ctr"/>
                      <a:r>
                        <a:rPr lang="de-DE" dirty="0" smtClean="0"/>
                        <a:t>334</a:t>
                      </a:r>
                      <a:endParaRPr lang="de-DE" dirty="0"/>
                    </a:p>
                  </a:txBody>
                  <a:tcPr/>
                </a:tc>
                <a:extLst>
                  <a:ext uri="{0D108BD9-81ED-4DB2-BD59-A6C34878D82A}">
                    <a16:rowId xmlns:a16="http://schemas.microsoft.com/office/drawing/2014/main" val="4001898228"/>
                  </a:ext>
                </a:extLst>
              </a:tr>
              <a:tr h="370840">
                <a:tc>
                  <a:txBody>
                    <a:bodyPr/>
                    <a:lstStyle/>
                    <a:p>
                      <a:r>
                        <a:rPr lang="de-DE" dirty="0" smtClean="0"/>
                        <a:t>Radiation</a:t>
                      </a:r>
                      <a:r>
                        <a:rPr lang="de-DE" baseline="0" dirty="0" smtClean="0"/>
                        <a:t> – </a:t>
                      </a:r>
                      <a:r>
                        <a:rPr lang="de-DE" baseline="0" dirty="0" err="1" smtClean="0"/>
                        <a:t>pipes</a:t>
                      </a:r>
                      <a:endParaRPr lang="de-DE" dirty="0"/>
                    </a:p>
                  </a:txBody>
                  <a:tcPr/>
                </a:tc>
                <a:tc>
                  <a:txBody>
                    <a:bodyPr/>
                    <a:lstStyle/>
                    <a:p>
                      <a:pPr algn="ctr"/>
                      <a:r>
                        <a:rPr lang="de-DE" dirty="0" smtClean="0"/>
                        <a:t>-39,07</a:t>
                      </a:r>
                      <a:endParaRPr lang="de-DE" dirty="0"/>
                    </a:p>
                  </a:txBody>
                  <a:tcPr/>
                </a:tc>
                <a:tc>
                  <a:txBody>
                    <a:bodyPr/>
                    <a:lstStyle/>
                    <a:p>
                      <a:pPr algn="ctr"/>
                      <a:r>
                        <a:rPr lang="de-DE" dirty="0" smtClean="0"/>
                        <a:t>0,03%</a:t>
                      </a:r>
                      <a:endParaRPr lang="de-DE" dirty="0"/>
                    </a:p>
                  </a:txBody>
                  <a:tcPr/>
                </a:tc>
                <a:tc>
                  <a:txBody>
                    <a:bodyPr/>
                    <a:lstStyle/>
                    <a:p>
                      <a:pPr algn="ctr"/>
                      <a:r>
                        <a:rPr lang="de-DE" dirty="0" smtClean="0"/>
                        <a:t>0,14005</a:t>
                      </a:r>
                      <a:endParaRPr lang="de-DE" dirty="0"/>
                    </a:p>
                  </a:txBody>
                  <a:tcPr/>
                </a:tc>
                <a:tc>
                  <a:txBody>
                    <a:bodyPr/>
                    <a:lstStyle/>
                    <a:p>
                      <a:pPr algn="ctr"/>
                      <a:r>
                        <a:rPr lang="de-DE" dirty="0" smtClean="0"/>
                        <a:t>279</a:t>
                      </a:r>
                      <a:endParaRPr lang="de-DE" dirty="0"/>
                    </a:p>
                  </a:txBody>
                  <a:tcPr/>
                </a:tc>
                <a:extLst>
                  <a:ext uri="{0D108BD9-81ED-4DB2-BD59-A6C34878D82A}">
                    <a16:rowId xmlns:a16="http://schemas.microsoft.com/office/drawing/2014/main" val="37468463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Radiation</a:t>
                      </a:r>
                      <a:r>
                        <a:rPr lang="de-DE" baseline="0" dirty="0" smtClean="0"/>
                        <a:t> – </a:t>
                      </a:r>
                      <a:r>
                        <a:rPr lang="de-DE" baseline="0" dirty="0" err="1" smtClean="0"/>
                        <a:t>connector</a:t>
                      </a:r>
                      <a:r>
                        <a:rPr lang="de-DE" baseline="0" dirty="0" smtClean="0"/>
                        <a:t> </a:t>
                      </a:r>
                      <a:r>
                        <a:rPr lang="de-DE" baseline="0" dirty="0" err="1" smtClean="0"/>
                        <a:t>plates</a:t>
                      </a:r>
                      <a:endParaRPr lang="de-DE" dirty="0" smtClean="0"/>
                    </a:p>
                  </a:txBody>
                  <a:tcPr/>
                </a:tc>
                <a:tc>
                  <a:txBody>
                    <a:bodyPr/>
                    <a:lstStyle/>
                    <a:p>
                      <a:pPr algn="ctr"/>
                      <a:r>
                        <a:rPr lang="de-DE" dirty="0" smtClean="0"/>
                        <a:t>-45,19</a:t>
                      </a:r>
                      <a:endParaRPr lang="de-DE" dirty="0"/>
                    </a:p>
                  </a:txBody>
                  <a:tcPr/>
                </a:tc>
                <a:tc>
                  <a:txBody>
                    <a:bodyPr/>
                    <a:lstStyle/>
                    <a:p>
                      <a:pPr algn="ctr"/>
                      <a:r>
                        <a:rPr lang="de-DE" dirty="0" smtClean="0"/>
                        <a:t>0,04%</a:t>
                      </a:r>
                      <a:endParaRPr lang="de-DE" dirty="0"/>
                    </a:p>
                  </a:txBody>
                  <a:tcPr/>
                </a:tc>
                <a:tc>
                  <a:txBody>
                    <a:bodyPr/>
                    <a:lstStyle/>
                    <a:p>
                      <a:pPr algn="ctr"/>
                      <a:r>
                        <a:rPr lang="de-DE" dirty="0" smtClean="0"/>
                        <a:t>0,10799</a:t>
                      </a:r>
                      <a:endParaRPr lang="de-DE" dirty="0"/>
                    </a:p>
                  </a:txBody>
                  <a:tcPr/>
                </a:tc>
                <a:tc>
                  <a:txBody>
                    <a:bodyPr/>
                    <a:lstStyle/>
                    <a:p>
                      <a:pPr algn="ctr"/>
                      <a:r>
                        <a:rPr lang="de-DE" dirty="0" smtClean="0"/>
                        <a:t>418</a:t>
                      </a:r>
                      <a:endParaRPr lang="de-DE" dirty="0"/>
                    </a:p>
                  </a:txBody>
                  <a:tcPr/>
                </a:tc>
                <a:extLst>
                  <a:ext uri="{0D108BD9-81ED-4DB2-BD59-A6C34878D82A}">
                    <a16:rowId xmlns:a16="http://schemas.microsoft.com/office/drawing/2014/main" val="4116489916"/>
                  </a:ext>
                </a:extLst>
              </a:tr>
              <a:tr h="370840">
                <a:tc>
                  <a:txBody>
                    <a:bodyPr/>
                    <a:lstStyle/>
                    <a:p>
                      <a:r>
                        <a:rPr lang="de-DE" dirty="0" err="1" smtClean="0"/>
                        <a:t>Conduction</a:t>
                      </a:r>
                      <a:r>
                        <a:rPr lang="de-DE" dirty="0" smtClean="0"/>
                        <a:t> – </a:t>
                      </a:r>
                      <a:r>
                        <a:rPr lang="de-DE" dirty="0" err="1" smtClean="0"/>
                        <a:t>supports</a:t>
                      </a:r>
                      <a:r>
                        <a:rPr lang="de-DE" dirty="0" smtClean="0"/>
                        <a:t> </a:t>
                      </a:r>
                      <a:r>
                        <a:rPr lang="de-DE" dirty="0" err="1" smtClean="0"/>
                        <a:t>to</a:t>
                      </a:r>
                      <a:r>
                        <a:rPr lang="de-DE" baseline="0" dirty="0" smtClean="0"/>
                        <a:t> </a:t>
                      </a:r>
                      <a:r>
                        <a:rPr lang="de-DE" baseline="0" dirty="0" err="1" smtClean="0"/>
                        <a:t>vessel</a:t>
                      </a:r>
                      <a:endParaRPr lang="de-DE" dirty="0"/>
                    </a:p>
                  </a:txBody>
                  <a:tcPr/>
                </a:tc>
                <a:tc>
                  <a:txBody>
                    <a:bodyPr/>
                    <a:lstStyle/>
                    <a:p>
                      <a:pPr algn="ctr"/>
                      <a:r>
                        <a:rPr lang="de-DE" dirty="0" smtClean="0"/>
                        <a:t>-26,7</a:t>
                      </a:r>
                      <a:endParaRPr lang="de-DE" dirty="0"/>
                    </a:p>
                  </a:txBody>
                  <a:tcPr/>
                </a:tc>
                <a:tc>
                  <a:txBody>
                    <a:bodyPr/>
                    <a:lstStyle/>
                    <a:p>
                      <a:pPr algn="ctr"/>
                      <a:r>
                        <a:rPr lang="de-DE" dirty="0" smtClean="0"/>
                        <a:t>0,04%</a:t>
                      </a:r>
                      <a:endParaRPr lang="de-DE" dirty="0"/>
                    </a:p>
                  </a:txBody>
                  <a:tcPr/>
                </a:tc>
                <a:tc>
                  <a:txBody>
                    <a:bodyPr/>
                    <a:lstStyle/>
                    <a:p>
                      <a:pPr algn="ctr"/>
                      <a:r>
                        <a:rPr lang="de-DE" dirty="0" smtClean="0"/>
                        <a:t>0,0007</a:t>
                      </a:r>
                    </a:p>
                    <a:p>
                      <a:pPr algn="ctr"/>
                      <a:endParaRPr lang="de-DE" dirty="0"/>
                    </a:p>
                  </a:txBody>
                  <a:tcPr/>
                </a:tc>
                <a:tc>
                  <a:txBody>
                    <a:bodyPr/>
                    <a:lstStyle/>
                    <a:p>
                      <a:pPr algn="ctr"/>
                      <a:r>
                        <a:rPr lang="de-DE" dirty="0" smtClean="0"/>
                        <a:t>-</a:t>
                      </a:r>
                      <a:endParaRPr lang="de-DE" dirty="0"/>
                    </a:p>
                  </a:txBody>
                  <a:tcPr/>
                </a:tc>
                <a:extLst>
                  <a:ext uri="{0D108BD9-81ED-4DB2-BD59-A6C34878D82A}">
                    <a16:rowId xmlns:a16="http://schemas.microsoft.com/office/drawing/2014/main" val="2769431078"/>
                  </a:ext>
                </a:extLst>
              </a:tr>
              <a:tr h="370840">
                <a:tc>
                  <a:txBody>
                    <a:bodyPr/>
                    <a:lstStyle/>
                    <a:p>
                      <a:r>
                        <a:rPr lang="de-DE" b="1" dirty="0" smtClean="0"/>
                        <a:t>SUM</a:t>
                      </a:r>
                      <a:endParaRPr lang="de-DE" b="1" dirty="0"/>
                    </a:p>
                  </a:txBody>
                  <a:tcPr/>
                </a:tc>
                <a:tc>
                  <a:txBody>
                    <a:bodyPr/>
                    <a:lstStyle/>
                    <a:p>
                      <a:pPr algn="ctr"/>
                      <a:r>
                        <a:rPr lang="de-DE" b="1" dirty="0" smtClean="0"/>
                        <a:t>-17,04</a:t>
                      </a:r>
                      <a:endParaRPr lang="de-DE" b="1" dirty="0"/>
                    </a:p>
                  </a:txBody>
                  <a:tcPr/>
                </a:tc>
                <a:tc>
                  <a:txBody>
                    <a:bodyPr/>
                    <a:lstStyle/>
                    <a:p>
                      <a:pPr algn="ctr"/>
                      <a:r>
                        <a:rPr lang="de-DE" b="1" dirty="0" smtClean="0"/>
                        <a:t>-</a:t>
                      </a:r>
                      <a:endParaRPr lang="de-DE" b="1" dirty="0"/>
                    </a:p>
                  </a:txBody>
                  <a:tcPr/>
                </a:tc>
                <a:tc>
                  <a:txBody>
                    <a:bodyPr/>
                    <a:lstStyle/>
                    <a:p>
                      <a:pPr algn="ctr"/>
                      <a:endParaRPr lang="de-DE" b="1" dirty="0"/>
                    </a:p>
                  </a:txBody>
                  <a:tcPr/>
                </a:tc>
                <a:tc>
                  <a:txBody>
                    <a:bodyPr/>
                    <a:lstStyle/>
                    <a:p>
                      <a:pPr algn="ctr"/>
                      <a:r>
                        <a:rPr lang="de-DE" b="1" dirty="0" smtClean="0"/>
                        <a:t>1409</a:t>
                      </a:r>
                      <a:endParaRPr lang="de-DE" b="1" dirty="0"/>
                    </a:p>
                  </a:txBody>
                  <a:tcPr/>
                </a:tc>
                <a:extLst>
                  <a:ext uri="{0D108BD9-81ED-4DB2-BD59-A6C34878D82A}">
                    <a16:rowId xmlns:a16="http://schemas.microsoft.com/office/drawing/2014/main" val="3117367321"/>
                  </a:ext>
                </a:extLst>
              </a:tr>
            </a:tbl>
          </a:graphicData>
        </a:graphic>
      </p:graphicFrame>
    </p:spTree>
    <p:extLst>
      <p:ext uri="{BB962C8B-B14F-4D97-AF65-F5344CB8AC3E}">
        <p14:creationId xmlns:p14="http://schemas.microsoft.com/office/powerpoint/2010/main" val="40779520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dirty="0"/>
              <a:t>PV </a:t>
            </a:r>
            <a:r>
              <a:rPr lang="de-DE" dirty="0" err="1"/>
              <a:t>Heat</a:t>
            </a:r>
            <a:r>
              <a:rPr lang="de-DE" dirty="0"/>
              <a:t> </a:t>
            </a:r>
            <a:r>
              <a:rPr lang="de-DE" dirty="0" err="1"/>
              <a:t>flux</a:t>
            </a:r>
            <a:r>
              <a:rPr lang="de-DE" dirty="0"/>
              <a:t> – </a:t>
            </a:r>
            <a:r>
              <a:rPr lang="de-DE" dirty="0" err="1" smtClean="0"/>
              <a:t>without</a:t>
            </a:r>
            <a:r>
              <a:rPr lang="de-DE" dirty="0" smtClean="0"/>
              <a:t> </a:t>
            </a:r>
            <a:r>
              <a:rPr lang="de-DE" dirty="0" err="1"/>
              <a:t>bolts</a:t>
            </a:r>
            <a:r>
              <a:rPr lang="de-DE" dirty="0"/>
              <a:t> </a:t>
            </a:r>
            <a:r>
              <a:rPr lang="de-DE" dirty="0" err="1"/>
              <a:t>connecting</a:t>
            </a:r>
            <a:r>
              <a:rPr lang="de-DE" dirty="0"/>
              <a:t> HS </a:t>
            </a:r>
            <a:r>
              <a:rPr lang="de-DE" dirty="0" err="1"/>
              <a:t>to</a:t>
            </a:r>
            <a:r>
              <a:rPr lang="de-DE" dirty="0"/>
              <a:t> PV</a:t>
            </a:r>
            <a:r>
              <a:rPr lang="en-US" dirty="0" smtClean="0"/>
              <a:t>- </a:t>
            </a:r>
            <a:r>
              <a:rPr lang="en-US" dirty="0"/>
              <a:t>250 kW/m2</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11</a:t>
            </a:fld>
            <a:endParaRPr lang="de-DE" dirty="0"/>
          </a:p>
        </p:txBody>
      </p:sp>
      <p:pic>
        <p:nvPicPr>
          <p:cNvPr id="2" name="Grafik 1"/>
          <p:cNvPicPr>
            <a:picLocks noChangeAspect="1"/>
          </p:cNvPicPr>
          <p:nvPr/>
        </p:nvPicPr>
        <p:blipFill rotWithShape="1">
          <a:blip r:embed="rId2"/>
          <a:srcRect r="51115"/>
          <a:stretch/>
        </p:blipFill>
        <p:spPr>
          <a:xfrm>
            <a:off x="6027043" y="888533"/>
            <a:ext cx="5755723" cy="5601165"/>
          </a:xfrm>
          <a:prstGeom prst="rect">
            <a:avLst/>
          </a:prstGeom>
        </p:spPr>
      </p:pic>
      <p:pic>
        <p:nvPicPr>
          <p:cNvPr id="9" name="Grafik 8"/>
          <p:cNvPicPr>
            <a:picLocks noChangeAspect="1"/>
          </p:cNvPicPr>
          <p:nvPr/>
        </p:nvPicPr>
        <p:blipFill rotWithShape="1">
          <a:blip r:embed="rId3"/>
          <a:srcRect r="48093"/>
          <a:stretch/>
        </p:blipFill>
        <p:spPr>
          <a:xfrm>
            <a:off x="191702" y="888532"/>
            <a:ext cx="5742372" cy="5262886"/>
          </a:xfrm>
          <a:prstGeom prst="rect">
            <a:avLst/>
          </a:prstGeom>
        </p:spPr>
      </p:pic>
    </p:spTree>
    <p:extLst>
      <p:ext uri="{BB962C8B-B14F-4D97-AF65-F5344CB8AC3E}">
        <p14:creationId xmlns:p14="http://schemas.microsoft.com/office/powerpoint/2010/main" val="28999177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dirty="0"/>
              <a:t>PV </a:t>
            </a:r>
            <a:r>
              <a:rPr lang="de-DE" dirty="0" err="1"/>
              <a:t>Heat</a:t>
            </a:r>
            <a:r>
              <a:rPr lang="de-DE" dirty="0"/>
              <a:t> </a:t>
            </a:r>
            <a:r>
              <a:rPr lang="de-DE" dirty="0" err="1"/>
              <a:t>flux</a:t>
            </a:r>
            <a:r>
              <a:rPr lang="de-DE" dirty="0"/>
              <a:t> – </a:t>
            </a:r>
            <a:r>
              <a:rPr lang="de-DE" dirty="0" err="1"/>
              <a:t>without</a:t>
            </a:r>
            <a:r>
              <a:rPr lang="de-DE" dirty="0"/>
              <a:t> </a:t>
            </a:r>
            <a:r>
              <a:rPr lang="de-DE" dirty="0" err="1"/>
              <a:t>bolts</a:t>
            </a:r>
            <a:r>
              <a:rPr lang="de-DE" dirty="0"/>
              <a:t> </a:t>
            </a:r>
            <a:r>
              <a:rPr lang="de-DE" dirty="0" err="1"/>
              <a:t>connecting</a:t>
            </a:r>
            <a:r>
              <a:rPr lang="de-DE" dirty="0"/>
              <a:t> HS </a:t>
            </a:r>
            <a:r>
              <a:rPr lang="de-DE" dirty="0" err="1"/>
              <a:t>to</a:t>
            </a:r>
            <a:r>
              <a:rPr lang="de-DE" dirty="0"/>
              <a:t> PV</a:t>
            </a:r>
            <a:r>
              <a:rPr lang="en-US" dirty="0" smtClean="0"/>
              <a:t> </a:t>
            </a:r>
            <a:r>
              <a:rPr lang="en-US" dirty="0"/>
              <a:t>- </a:t>
            </a:r>
            <a:r>
              <a:rPr lang="en-US" dirty="0" smtClean="0"/>
              <a:t>150 </a:t>
            </a:r>
            <a:r>
              <a:rPr lang="en-US" dirty="0"/>
              <a:t>kW/m2</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12</a:t>
            </a:fld>
            <a:endParaRPr lang="de-DE" dirty="0"/>
          </a:p>
        </p:txBody>
      </p:sp>
      <p:pic>
        <p:nvPicPr>
          <p:cNvPr id="8" name="Grafik 7"/>
          <p:cNvPicPr>
            <a:picLocks noChangeAspect="1"/>
          </p:cNvPicPr>
          <p:nvPr/>
        </p:nvPicPr>
        <p:blipFill rotWithShape="1">
          <a:blip r:embed="rId2"/>
          <a:srcRect r="53628"/>
          <a:stretch/>
        </p:blipFill>
        <p:spPr>
          <a:xfrm>
            <a:off x="307820" y="888533"/>
            <a:ext cx="5369773" cy="5508796"/>
          </a:xfrm>
          <a:prstGeom prst="rect">
            <a:avLst/>
          </a:prstGeom>
        </p:spPr>
      </p:pic>
      <p:pic>
        <p:nvPicPr>
          <p:cNvPr id="9" name="Grafik 8"/>
          <p:cNvPicPr>
            <a:picLocks noChangeAspect="1"/>
          </p:cNvPicPr>
          <p:nvPr/>
        </p:nvPicPr>
        <p:blipFill rotWithShape="1">
          <a:blip r:embed="rId3"/>
          <a:srcRect r="49507"/>
          <a:stretch/>
        </p:blipFill>
        <p:spPr>
          <a:xfrm>
            <a:off x="6065099" y="888532"/>
            <a:ext cx="5874364" cy="5534614"/>
          </a:xfrm>
          <a:prstGeom prst="rect">
            <a:avLst/>
          </a:prstGeom>
        </p:spPr>
      </p:pic>
    </p:spTree>
    <p:extLst>
      <p:ext uri="{BB962C8B-B14F-4D97-AF65-F5344CB8AC3E}">
        <p14:creationId xmlns:p14="http://schemas.microsoft.com/office/powerpoint/2010/main" val="15339258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13"/>
          </p:nvPr>
        </p:nvSpPr>
        <p:spPr>
          <a:xfrm>
            <a:off x="1824901" y="4710046"/>
            <a:ext cx="3309777" cy="1041799"/>
          </a:xfrm>
        </p:spPr>
        <p:txBody>
          <a:bodyPr>
            <a:normAutofit/>
          </a:bodyPr>
          <a:lstStyle/>
          <a:p>
            <a:r>
              <a:rPr lang="de-DE" sz="2800" dirty="0" smtClean="0"/>
              <a:t>250 kW/m2</a:t>
            </a:r>
            <a:endParaRPr lang="de-DE" sz="2800" dirty="0"/>
          </a:p>
        </p:txBody>
      </p:sp>
      <p:sp>
        <p:nvSpPr>
          <p:cNvPr id="3" name="Titel 2"/>
          <p:cNvSpPr>
            <a:spLocks noGrp="1"/>
          </p:cNvSpPr>
          <p:nvPr>
            <p:ph type="title"/>
          </p:nvPr>
        </p:nvSpPr>
        <p:spPr/>
        <p:txBody>
          <a:bodyPr/>
          <a:lstStyle/>
          <a:p>
            <a:r>
              <a:rPr lang="de-DE" dirty="0" smtClean="0"/>
              <a:t>PV </a:t>
            </a:r>
            <a:r>
              <a:rPr lang="de-DE" dirty="0" err="1" smtClean="0"/>
              <a:t>Temperature</a:t>
            </a:r>
            <a:r>
              <a:rPr lang="de-DE" dirty="0" smtClean="0"/>
              <a:t> – </a:t>
            </a:r>
            <a:r>
              <a:rPr lang="de-DE" dirty="0" err="1" smtClean="0"/>
              <a:t>with</a:t>
            </a:r>
            <a:r>
              <a:rPr lang="de-DE" dirty="0" smtClean="0"/>
              <a:t> </a:t>
            </a:r>
            <a:r>
              <a:rPr lang="de-DE" dirty="0" err="1" smtClean="0"/>
              <a:t>bolts</a:t>
            </a:r>
            <a:r>
              <a:rPr lang="de-DE" dirty="0" smtClean="0"/>
              <a:t> </a:t>
            </a:r>
            <a:r>
              <a:rPr lang="de-DE" dirty="0" err="1" smtClean="0"/>
              <a:t>connection</a:t>
            </a:r>
            <a:r>
              <a:rPr lang="de-DE" dirty="0" smtClean="0"/>
              <a:t> </a:t>
            </a:r>
            <a:r>
              <a:rPr lang="de-DE" dirty="0" err="1" smtClean="0"/>
              <a:t>to</a:t>
            </a:r>
            <a:r>
              <a:rPr lang="de-DE" dirty="0" smtClean="0"/>
              <a:t> </a:t>
            </a:r>
            <a:r>
              <a:rPr lang="de-DE" dirty="0" err="1" smtClean="0"/>
              <a:t>the</a:t>
            </a:r>
            <a:r>
              <a:rPr lang="de-DE" dirty="0" smtClean="0"/>
              <a:t> PV</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13</a:t>
            </a:fld>
            <a:endParaRPr lang="de-DE" dirty="0"/>
          </a:p>
        </p:txBody>
      </p:sp>
      <p:pic>
        <p:nvPicPr>
          <p:cNvPr id="8" name="Grafik 7"/>
          <p:cNvPicPr>
            <a:picLocks noChangeAspect="1"/>
          </p:cNvPicPr>
          <p:nvPr/>
        </p:nvPicPr>
        <p:blipFill rotWithShape="1">
          <a:blip r:embed="rId2"/>
          <a:srcRect r="46563"/>
          <a:stretch/>
        </p:blipFill>
        <p:spPr>
          <a:xfrm>
            <a:off x="45254" y="862333"/>
            <a:ext cx="6015027" cy="3880517"/>
          </a:xfrm>
          <a:prstGeom prst="rect">
            <a:avLst/>
          </a:prstGeom>
        </p:spPr>
      </p:pic>
      <p:pic>
        <p:nvPicPr>
          <p:cNvPr id="9" name="Grafik 8"/>
          <p:cNvPicPr>
            <a:picLocks noChangeAspect="1"/>
          </p:cNvPicPr>
          <p:nvPr/>
        </p:nvPicPr>
        <p:blipFill rotWithShape="1">
          <a:blip r:embed="rId3"/>
          <a:srcRect r="46435"/>
          <a:stretch/>
        </p:blipFill>
        <p:spPr>
          <a:xfrm>
            <a:off x="6122547" y="864639"/>
            <a:ext cx="6069453" cy="3906267"/>
          </a:xfrm>
          <a:prstGeom prst="rect">
            <a:avLst/>
          </a:prstGeom>
        </p:spPr>
      </p:pic>
      <p:sp>
        <p:nvSpPr>
          <p:cNvPr id="10" name="Inhaltsplatzhalter 1"/>
          <p:cNvSpPr txBox="1">
            <a:spLocks/>
          </p:cNvSpPr>
          <p:nvPr/>
        </p:nvSpPr>
        <p:spPr>
          <a:xfrm>
            <a:off x="8186898" y="4669039"/>
            <a:ext cx="3309777" cy="1041799"/>
          </a:xfrm>
          <a:prstGeom prst="rect">
            <a:avLst/>
          </a:prstGeom>
        </p:spPr>
        <p:txBody>
          <a:bodyPr vert="horz" lIns="0" tIns="45720" rIns="0" bIns="45720" rtlCol="0">
            <a:normAutofit/>
          </a:bodyPr>
          <a:lstStyle>
            <a:lvl1pPr marL="0" marR="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lang="de-DE" sz="1800" b="1" i="0" kern="600" spc="40" baseline="0" dirty="0" smtClean="0">
                <a:solidFill>
                  <a:srgbClr val="005555"/>
                </a:solidFill>
                <a:latin typeface="+mn-lt"/>
                <a:ea typeface="+mn-ea"/>
                <a:cs typeface="+mn-cs"/>
              </a:defRPr>
            </a:lvl1pPr>
            <a:lvl2pPr marL="0" indent="0" algn="l" defTabSz="914400" rtl="0" eaLnBrk="1" latinLnBrk="0" hangingPunct="1">
              <a:lnSpc>
                <a:spcPct val="120000"/>
              </a:lnSpc>
              <a:spcBef>
                <a:spcPts val="600"/>
              </a:spcBef>
              <a:spcAft>
                <a:spcPts val="0"/>
              </a:spcAft>
              <a:buFont typeface="Arial" panose="020B0604020202020204" pitchFamily="34" charset="0"/>
              <a:buNone/>
              <a:defRPr sz="1800" kern="600" spc="40" baseline="0">
                <a:solidFill>
                  <a:schemeClr val="tx1"/>
                </a:solidFill>
                <a:latin typeface="+mn-lt"/>
                <a:ea typeface="+mn-ea"/>
                <a:cs typeface="+mn-cs"/>
              </a:defRPr>
            </a:lvl2pPr>
            <a:lvl3pPr marL="179388" indent="-179388" algn="l" defTabSz="914400" rtl="0" eaLnBrk="1" latinLnBrk="0" hangingPunct="1">
              <a:lnSpc>
                <a:spcPct val="120000"/>
              </a:lnSpc>
              <a:spcBef>
                <a:spcPts val="600"/>
              </a:spcBef>
              <a:buFont typeface="Arial" panose="020B0604020202020204" pitchFamily="34" charset="0"/>
              <a:buChar char="•"/>
              <a:defRPr sz="1800" b="1" kern="400" spc="40" baseline="0">
                <a:solidFill>
                  <a:schemeClr val="accent3"/>
                </a:solidFill>
                <a:latin typeface="+mn-lt"/>
                <a:ea typeface="+mn-ea"/>
                <a:cs typeface="+mn-cs"/>
              </a:defRPr>
            </a:lvl3pPr>
            <a:lvl4pPr marL="179388" indent="-179388" algn="l" defTabSz="914400" rtl="0" eaLnBrk="1" latinLnBrk="0" hangingPunct="1">
              <a:lnSpc>
                <a:spcPct val="120000"/>
              </a:lnSpc>
              <a:spcBef>
                <a:spcPts val="600"/>
              </a:spcBef>
              <a:buFont typeface="Arial" panose="020B0604020202020204" pitchFamily="34" charset="0"/>
              <a:buChar char="•"/>
              <a:defRPr sz="1800" kern="600" spc="40" baseline="0">
                <a:solidFill>
                  <a:schemeClr val="tx1"/>
                </a:solidFill>
                <a:latin typeface="+mn-lt"/>
                <a:ea typeface="+mn-ea"/>
                <a:cs typeface="+mn-cs"/>
              </a:defRPr>
            </a:lvl4pPr>
            <a:lvl5pPr marL="357188" indent="-179388" algn="l" defTabSz="914400" rtl="0" eaLnBrk="1" latinLnBrk="0" hangingPunct="1">
              <a:lnSpc>
                <a:spcPct val="120000"/>
              </a:lnSpc>
              <a:spcBef>
                <a:spcPts val="600"/>
              </a:spcBef>
              <a:buFont typeface="Arial" panose="020B0604020202020204" pitchFamily="34" charset="0"/>
              <a:buChar char="•"/>
              <a:defRPr lang="de-DE" sz="1800" b="0" i="0" kern="600" spc="40" baseline="0" dirty="0" smtClean="0">
                <a:solidFill>
                  <a:schemeClr val="tx1"/>
                </a:solidFill>
                <a:latin typeface="+mn-lt"/>
                <a:ea typeface="+mn-ea"/>
                <a:cs typeface="+mn-cs"/>
              </a:defRPr>
            </a:lvl5pPr>
            <a:lvl6pPr marL="645750" indent="-285750" algn="l" defTabSz="914400" rtl="0" eaLnBrk="1" latinLnBrk="0" hangingPunct="1">
              <a:lnSpc>
                <a:spcPct val="100000"/>
              </a:lnSpc>
              <a:spcBef>
                <a:spcPts val="300"/>
              </a:spcBef>
              <a:spcAft>
                <a:spcPts val="0"/>
              </a:spcAft>
              <a:buClr>
                <a:schemeClr val="tx1"/>
              </a:buClr>
              <a:buSzPct val="110000"/>
              <a:buFont typeface="Symbol" panose="05050102010706020507" pitchFamily="18" charset="2"/>
              <a:buChar char=""/>
              <a:defRPr sz="1800" b="0" i="0" kern="600" spc="40" baseline="0">
                <a:solidFill>
                  <a:schemeClr val="tx1"/>
                </a:solidFill>
                <a:latin typeface="+mn-lt"/>
                <a:ea typeface="+mn-ea"/>
                <a:cs typeface="+mn-cs"/>
              </a:defRPr>
            </a:lvl6pPr>
            <a:lvl7pPr marL="0" indent="215900" algn="l" defTabSz="914400" rtl="0" eaLnBrk="1" latinLnBrk="0" hangingPunct="1">
              <a:lnSpc>
                <a:spcPct val="100000"/>
              </a:lnSpc>
              <a:spcBef>
                <a:spcPts val="600"/>
              </a:spcBef>
              <a:spcAft>
                <a:spcPts val="0"/>
              </a:spcAft>
              <a:buClr>
                <a:schemeClr val="tx2"/>
              </a:buClr>
              <a:buFont typeface="Wingdings 3" panose="05040102010807070707" pitchFamily="18" charset="2"/>
              <a:buChar char=""/>
              <a:defRPr sz="1500" b="0" i="1" kern="600" spc="40" baseline="0">
                <a:solidFill>
                  <a:schemeClr val="tx2"/>
                </a:solidFill>
                <a:latin typeface="+mn-lt"/>
                <a:ea typeface="+mn-ea"/>
                <a:cs typeface="+mn-cs"/>
              </a:defRPr>
            </a:lvl7pPr>
            <a:lvl8pPr marL="0" indent="0" algn="l" defTabSz="914400" rtl="0" eaLnBrk="1" latinLnBrk="0" hangingPunct="1">
              <a:lnSpc>
                <a:spcPct val="100000"/>
              </a:lnSpc>
              <a:spcBef>
                <a:spcPts val="525"/>
              </a:spcBef>
              <a:spcAft>
                <a:spcPts val="0"/>
              </a:spcAft>
              <a:buSzPct val="110000"/>
              <a:buFont typeface=".SF NS Symbols Regular"/>
              <a:buNone/>
              <a:defRPr sz="1000" b="0" i="1" kern="600" spc="120" baseline="0">
                <a:solidFill>
                  <a:schemeClr val="tx1">
                    <a:lumMod val="50000"/>
                    <a:lumOff val="50000"/>
                  </a:schemeClr>
                </a:solidFill>
                <a:latin typeface="+mn-lt"/>
                <a:ea typeface="+mn-ea"/>
                <a:cs typeface="+mn-cs"/>
              </a:defRPr>
            </a:lvl8pPr>
            <a:lvl9pPr marL="0" indent="0" algn="l" defTabSz="914400" rtl="0" eaLnBrk="1" latinLnBrk="0" hangingPunct="1">
              <a:lnSpc>
                <a:spcPts val="1100"/>
              </a:lnSpc>
              <a:spcBef>
                <a:spcPts val="525"/>
              </a:spcBef>
              <a:buFont typeface="Arial" panose="020B0604020202020204" pitchFamily="34" charset="0"/>
              <a:buNone/>
              <a:defRPr sz="800" b="0" i="1" kern="600" spc="120" baseline="0">
                <a:solidFill>
                  <a:schemeClr val="tx1">
                    <a:lumMod val="50000"/>
                    <a:lumOff val="50000"/>
                  </a:schemeClr>
                </a:solidFill>
                <a:latin typeface="+mn-lt"/>
                <a:ea typeface="+mn-ea"/>
                <a:cs typeface="+mn-cs"/>
              </a:defRPr>
            </a:lvl9pPr>
          </a:lstStyle>
          <a:p>
            <a:r>
              <a:rPr lang="de-DE" sz="2800" dirty="0"/>
              <a:t>1</a:t>
            </a:r>
            <a:r>
              <a:rPr lang="de-DE" sz="2800" dirty="0" smtClean="0"/>
              <a:t>50 kW/m2</a:t>
            </a:r>
            <a:endParaRPr lang="de-DE" sz="2800" dirty="0"/>
          </a:p>
        </p:txBody>
      </p:sp>
      <p:pic>
        <p:nvPicPr>
          <p:cNvPr id="11" name="Grafik 10"/>
          <p:cNvPicPr>
            <a:picLocks noChangeAspect="1"/>
          </p:cNvPicPr>
          <p:nvPr/>
        </p:nvPicPr>
        <p:blipFill rotWithShape="1">
          <a:blip r:embed="rId4"/>
          <a:srcRect t="23395" r="39488" b="33185"/>
          <a:stretch/>
        </p:blipFill>
        <p:spPr>
          <a:xfrm>
            <a:off x="131723" y="5248092"/>
            <a:ext cx="5990824" cy="1732546"/>
          </a:xfrm>
          <a:prstGeom prst="rect">
            <a:avLst/>
          </a:prstGeom>
        </p:spPr>
      </p:pic>
      <p:pic>
        <p:nvPicPr>
          <p:cNvPr id="12" name="Grafik 11"/>
          <p:cNvPicPr>
            <a:picLocks noChangeAspect="1"/>
          </p:cNvPicPr>
          <p:nvPr/>
        </p:nvPicPr>
        <p:blipFill rotWithShape="1">
          <a:blip r:embed="rId5"/>
          <a:srcRect t="23851" r="36443" b="27808"/>
          <a:stretch/>
        </p:blipFill>
        <p:spPr>
          <a:xfrm>
            <a:off x="6284257" y="5233636"/>
            <a:ext cx="5746032" cy="1761459"/>
          </a:xfrm>
          <a:prstGeom prst="rect">
            <a:avLst/>
          </a:prstGeom>
        </p:spPr>
      </p:pic>
    </p:spTree>
    <p:extLst>
      <p:ext uri="{BB962C8B-B14F-4D97-AF65-F5344CB8AC3E}">
        <p14:creationId xmlns:p14="http://schemas.microsoft.com/office/powerpoint/2010/main" val="28151240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772328" y="1066967"/>
            <a:ext cx="9576471" cy="894416"/>
          </a:xfrm>
        </p:spPr>
        <p:txBody>
          <a:bodyPr/>
          <a:lstStyle/>
          <a:p>
            <a:r>
              <a:rPr lang="de-DE" dirty="0" smtClean="0"/>
              <a:t>PV </a:t>
            </a:r>
            <a:r>
              <a:rPr lang="de-DE" dirty="0" err="1" smtClean="0"/>
              <a:t>added</a:t>
            </a:r>
            <a:r>
              <a:rPr lang="de-DE" dirty="0" smtClean="0"/>
              <a:t> </a:t>
            </a:r>
            <a:r>
              <a:rPr lang="de-DE" dirty="0" err="1" smtClean="0"/>
              <a:t>to</a:t>
            </a:r>
            <a:r>
              <a:rPr lang="de-DE" dirty="0" smtClean="0"/>
              <a:t> </a:t>
            </a:r>
            <a:r>
              <a:rPr lang="de-DE" dirty="0" err="1" smtClean="0"/>
              <a:t>the</a:t>
            </a:r>
            <a:r>
              <a:rPr lang="de-DE" dirty="0" smtClean="0"/>
              <a:t> </a:t>
            </a:r>
            <a:r>
              <a:rPr lang="de-DE" dirty="0" err="1" smtClean="0"/>
              <a:t>simulation</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14</a:t>
            </a:fld>
            <a:endParaRPr lang="de-DE" dirty="0"/>
          </a:p>
        </p:txBody>
      </p:sp>
      <p:pic>
        <p:nvPicPr>
          <p:cNvPr id="7" name="Grafik 6"/>
          <p:cNvPicPr>
            <a:picLocks noChangeAspect="1"/>
          </p:cNvPicPr>
          <p:nvPr/>
        </p:nvPicPr>
        <p:blipFill rotWithShape="1">
          <a:blip r:embed="rId2"/>
          <a:srcRect r="50436" b="10053"/>
          <a:stretch/>
        </p:blipFill>
        <p:spPr>
          <a:xfrm>
            <a:off x="290437" y="1603010"/>
            <a:ext cx="5769844" cy="4220276"/>
          </a:xfrm>
          <a:prstGeom prst="rect">
            <a:avLst/>
          </a:prstGeom>
        </p:spPr>
      </p:pic>
      <p:pic>
        <p:nvPicPr>
          <p:cNvPr id="8" name="Grafik 7"/>
          <p:cNvPicPr>
            <a:picLocks noChangeAspect="1"/>
          </p:cNvPicPr>
          <p:nvPr/>
        </p:nvPicPr>
        <p:blipFill rotWithShape="1">
          <a:blip r:embed="rId3"/>
          <a:srcRect r="47780"/>
          <a:stretch/>
        </p:blipFill>
        <p:spPr>
          <a:xfrm>
            <a:off x="6146232" y="888533"/>
            <a:ext cx="5883514" cy="4540985"/>
          </a:xfrm>
          <a:prstGeom prst="rect">
            <a:avLst/>
          </a:prstGeom>
        </p:spPr>
      </p:pic>
      <p:sp>
        <p:nvSpPr>
          <p:cNvPr id="10" name="Titel 2"/>
          <p:cNvSpPr txBox="1">
            <a:spLocks/>
          </p:cNvSpPr>
          <p:nvPr/>
        </p:nvSpPr>
        <p:spPr>
          <a:xfrm>
            <a:off x="6943127" y="5512400"/>
            <a:ext cx="9576471" cy="894416"/>
          </a:xfrm>
          <a:prstGeom prst="rect">
            <a:avLst/>
          </a:prstGeom>
        </p:spPr>
        <p:txBody>
          <a:bodyPr vert="horz" lIns="0" tIns="0" rIns="0" bIns="0" rtlCol="0" anchor="t" anchorCtr="0">
            <a:noAutofit/>
          </a:bodyPr>
          <a:lstStyle>
            <a:lvl1pPr algn="l" defTabSz="914400" rtl="0" eaLnBrk="1" latinLnBrk="0" hangingPunct="1">
              <a:lnSpc>
                <a:spcPts val="2800"/>
              </a:lnSpc>
              <a:spcBef>
                <a:spcPct val="0"/>
              </a:spcBef>
              <a:spcAft>
                <a:spcPts val="1800"/>
              </a:spcAft>
              <a:buNone/>
              <a:defRPr sz="2500" b="1" kern="600" cap="none" spc="0" baseline="0">
                <a:solidFill>
                  <a:srgbClr val="005555"/>
                </a:solidFill>
                <a:latin typeface="+mj-lt"/>
                <a:ea typeface="+mj-ea"/>
                <a:cs typeface="+mj-cs"/>
              </a:defRPr>
            </a:lvl1pPr>
          </a:lstStyle>
          <a:p>
            <a:r>
              <a:rPr lang="de-DE" dirty="0" smtClean="0"/>
              <a:t>PV </a:t>
            </a:r>
            <a:r>
              <a:rPr lang="de-DE" dirty="0" err="1" smtClean="0"/>
              <a:t>cooling</a:t>
            </a:r>
            <a:r>
              <a:rPr lang="de-DE" dirty="0" smtClean="0"/>
              <a:t> </a:t>
            </a:r>
            <a:r>
              <a:rPr lang="de-DE" dirty="0" err="1" smtClean="0"/>
              <a:t>water</a:t>
            </a:r>
            <a:r>
              <a:rPr lang="de-DE" dirty="0" smtClean="0"/>
              <a:t> (250 kW/m2)</a:t>
            </a:r>
            <a:endParaRPr lang="de-DE" dirty="0"/>
          </a:p>
        </p:txBody>
      </p:sp>
    </p:spTree>
    <p:extLst>
      <p:ext uri="{BB962C8B-B14F-4D97-AF65-F5344CB8AC3E}">
        <p14:creationId xmlns:p14="http://schemas.microsoft.com/office/powerpoint/2010/main" val="4093407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13"/>
          </p:nvPr>
        </p:nvSpPr>
        <p:spPr/>
        <p:txBody>
          <a:bodyPr/>
          <a:lstStyle/>
          <a:p>
            <a:endParaRPr lang="de-DE" dirty="0"/>
          </a:p>
        </p:txBody>
      </p:sp>
      <p:sp>
        <p:nvSpPr>
          <p:cNvPr id="3" name="Titel 2"/>
          <p:cNvSpPr>
            <a:spLocks noGrp="1"/>
          </p:cNvSpPr>
          <p:nvPr>
            <p:ph type="title"/>
          </p:nvPr>
        </p:nvSpPr>
        <p:spPr/>
        <p:txBody>
          <a:bodyPr/>
          <a:lstStyle/>
          <a:p>
            <a:r>
              <a:rPr lang="de-DE" dirty="0" err="1" smtClean="0"/>
              <a:t>Welding</a:t>
            </a:r>
            <a:r>
              <a:rPr lang="de-DE" dirty="0" smtClean="0"/>
              <a:t> </a:t>
            </a:r>
            <a:r>
              <a:rPr lang="de-DE" dirty="0" err="1" smtClean="0"/>
              <a:t>the</a:t>
            </a:r>
            <a:r>
              <a:rPr lang="de-DE" dirty="0" smtClean="0"/>
              <a:t> PV </a:t>
            </a:r>
            <a:r>
              <a:rPr lang="de-DE" dirty="0" err="1" smtClean="0"/>
              <a:t>cooling</a:t>
            </a:r>
            <a:r>
              <a:rPr lang="de-DE" dirty="0" smtClean="0"/>
              <a:t> </a:t>
            </a:r>
            <a:r>
              <a:rPr lang="de-DE" dirty="0" err="1" smtClean="0"/>
              <a:t>pipes</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15</a:t>
            </a:fld>
            <a:endParaRPr lang="de-DE" dirty="0"/>
          </a:p>
        </p:txBody>
      </p:sp>
      <p:pic>
        <p:nvPicPr>
          <p:cNvPr id="7" name="Grafik 6"/>
          <p:cNvPicPr>
            <a:picLocks noChangeAspect="1"/>
          </p:cNvPicPr>
          <p:nvPr/>
        </p:nvPicPr>
        <p:blipFill>
          <a:blip r:embed="rId2"/>
          <a:stretch>
            <a:fillRect/>
          </a:stretch>
        </p:blipFill>
        <p:spPr>
          <a:xfrm>
            <a:off x="161137" y="888533"/>
            <a:ext cx="6188102" cy="4291852"/>
          </a:xfrm>
          <a:prstGeom prst="rect">
            <a:avLst/>
          </a:prstGeom>
        </p:spPr>
      </p:pic>
      <p:pic>
        <p:nvPicPr>
          <p:cNvPr id="8" name="Grafik 7"/>
          <p:cNvPicPr>
            <a:picLocks noChangeAspect="1"/>
          </p:cNvPicPr>
          <p:nvPr/>
        </p:nvPicPr>
        <p:blipFill rotWithShape="1">
          <a:blip r:embed="rId3"/>
          <a:srcRect l="342" t="69617" r="90111" b="29004"/>
          <a:stretch/>
        </p:blipFill>
        <p:spPr>
          <a:xfrm>
            <a:off x="3143333" y="3392527"/>
            <a:ext cx="6874563" cy="310481"/>
          </a:xfrm>
          <a:prstGeom prst="rect">
            <a:avLst/>
          </a:prstGeom>
        </p:spPr>
      </p:pic>
      <p:pic>
        <p:nvPicPr>
          <p:cNvPr id="9" name="Grafik 8"/>
          <p:cNvPicPr>
            <a:picLocks noChangeAspect="1"/>
          </p:cNvPicPr>
          <p:nvPr/>
        </p:nvPicPr>
        <p:blipFill rotWithShape="1">
          <a:blip r:embed="rId4"/>
          <a:srcRect r="52028"/>
          <a:stretch/>
        </p:blipFill>
        <p:spPr>
          <a:xfrm>
            <a:off x="7607162" y="251575"/>
            <a:ext cx="3970808" cy="3910027"/>
          </a:xfrm>
          <a:prstGeom prst="rect">
            <a:avLst/>
          </a:prstGeom>
        </p:spPr>
      </p:pic>
      <p:pic>
        <p:nvPicPr>
          <p:cNvPr id="10" name="Grafik 9"/>
          <p:cNvPicPr>
            <a:picLocks noChangeAspect="1"/>
          </p:cNvPicPr>
          <p:nvPr/>
        </p:nvPicPr>
        <p:blipFill rotWithShape="1">
          <a:blip r:embed="rId5"/>
          <a:srcRect b="33801"/>
          <a:stretch/>
        </p:blipFill>
        <p:spPr>
          <a:xfrm>
            <a:off x="1807430" y="3839734"/>
            <a:ext cx="10151996" cy="2708644"/>
          </a:xfrm>
          <a:prstGeom prst="rect">
            <a:avLst/>
          </a:prstGeom>
        </p:spPr>
      </p:pic>
      <p:sp>
        <p:nvSpPr>
          <p:cNvPr id="13" name="Titel 2"/>
          <p:cNvSpPr txBox="1">
            <a:spLocks/>
          </p:cNvSpPr>
          <p:nvPr/>
        </p:nvSpPr>
        <p:spPr>
          <a:xfrm>
            <a:off x="8961858" y="6208527"/>
            <a:ext cx="2997568" cy="894416"/>
          </a:xfrm>
          <a:prstGeom prst="rect">
            <a:avLst/>
          </a:prstGeom>
        </p:spPr>
        <p:txBody>
          <a:bodyPr vert="horz" lIns="0" tIns="0" rIns="0" bIns="0" rtlCol="0" anchor="t" anchorCtr="0">
            <a:noAutofit/>
          </a:bodyPr>
          <a:lstStyle>
            <a:lvl1pPr algn="l" defTabSz="914400" rtl="0" eaLnBrk="1" latinLnBrk="0" hangingPunct="1">
              <a:lnSpc>
                <a:spcPts val="2800"/>
              </a:lnSpc>
              <a:spcBef>
                <a:spcPct val="0"/>
              </a:spcBef>
              <a:spcAft>
                <a:spcPts val="1800"/>
              </a:spcAft>
              <a:buNone/>
              <a:defRPr sz="2500" b="1" kern="600" cap="none" spc="0" baseline="0">
                <a:solidFill>
                  <a:srgbClr val="005555"/>
                </a:solidFill>
                <a:latin typeface="+mj-lt"/>
                <a:ea typeface="+mj-ea"/>
                <a:cs typeface="+mj-cs"/>
              </a:defRPr>
            </a:lvl1pPr>
          </a:lstStyle>
          <a:p>
            <a:r>
              <a:rPr lang="de-DE" dirty="0" err="1" smtClean="0"/>
              <a:t>Actual</a:t>
            </a:r>
            <a:r>
              <a:rPr lang="de-DE" dirty="0" smtClean="0"/>
              <a:t> </a:t>
            </a:r>
            <a:r>
              <a:rPr lang="de-DE" dirty="0" err="1" smtClean="0"/>
              <a:t>geometry</a:t>
            </a:r>
            <a:endParaRPr lang="de-DE" dirty="0"/>
          </a:p>
        </p:txBody>
      </p:sp>
      <p:sp>
        <p:nvSpPr>
          <p:cNvPr id="14" name="Titel 2"/>
          <p:cNvSpPr txBox="1">
            <a:spLocks/>
          </p:cNvSpPr>
          <p:nvPr/>
        </p:nvSpPr>
        <p:spPr>
          <a:xfrm>
            <a:off x="947737" y="6185366"/>
            <a:ext cx="5888808" cy="894416"/>
          </a:xfrm>
          <a:prstGeom prst="rect">
            <a:avLst/>
          </a:prstGeom>
        </p:spPr>
        <p:txBody>
          <a:bodyPr vert="horz" lIns="0" tIns="0" rIns="0" bIns="0" rtlCol="0" anchor="t" anchorCtr="0">
            <a:noAutofit/>
          </a:bodyPr>
          <a:lstStyle>
            <a:lvl1pPr algn="l" defTabSz="914400" rtl="0" eaLnBrk="1" latinLnBrk="0" hangingPunct="1">
              <a:lnSpc>
                <a:spcPts val="2800"/>
              </a:lnSpc>
              <a:spcBef>
                <a:spcPct val="0"/>
              </a:spcBef>
              <a:spcAft>
                <a:spcPts val="1800"/>
              </a:spcAft>
              <a:buNone/>
              <a:defRPr sz="2500" b="1" kern="600" cap="none" spc="0" baseline="0">
                <a:solidFill>
                  <a:srgbClr val="005555"/>
                </a:solidFill>
                <a:latin typeface="+mj-lt"/>
                <a:ea typeface="+mj-ea"/>
                <a:cs typeface="+mj-cs"/>
              </a:defRPr>
            </a:lvl1pPr>
          </a:lstStyle>
          <a:p>
            <a:r>
              <a:rPr lang="de-DE" dirty="0" err="1" smtClean="0"/>
              <a:t>Simplified</a:t>
            </a:r>
            <a:r>
              <a:rPr lang="de-DE" dirty="0" smtClean="0"/>
              <a:t> </a:t>
            </a:r>
            <a:r>
              <a:rPr lang="de-DE" dirty="0" err="1" smtClean="0"/>
              <a:t>geometry</a:t>
            </a:r>
            <a:r>
              <a:rPr lang="de-DE" dirty="0" smtClean="0"/>
              <a:t> </a:t>
            </a:r>
            <a:r>
              <a:rPr lang="de-DE" dirty="0" err="1" smtClean="0"/>
              <a:t>used</a:t>
            </a:r>
            <a:r>
              <a:rPr lang="de-DE" dirty="0" smtClean="0"/>
              <a:t> </a:t>
            </a:r>
            <a:r>
              <a:rPr lang="de-DE" dirty="0" err="1" smtClean="0"/>
              <a:t>for</a:t>
            </a:r>
            <a:r>
              <a:rPr lang="de-DE" dirty="0" smtClean="0"/>
              <a:t> </a:t>
            </a:r>
            <a:r>
              <a:rPr lang="de-DE" dirty="0" err="1" smtClean="0"/>
              <a:t>solution</a:t>
            </a:r>
            <a:endParaRPr lang="de-DE" dirty="0"/>
          </a:p>
        </p:txBody>
      </p:sp>
      <p:cxnSp>
        <p:nvCxnSpPr>
          <p:cNvPr id="16" name="Gerade Verbindung mit Pfeil 15"/>
          <p:cNvCxnSpPr/>
          <p:nvPr/>
        </p:nvCxnSpPr>
        <p:spPr>
          <a:xfrm flipH="1" flipV="1">
            <a:off x="4129238" y="2834753"/>
            <a:ext cx="606392" cy="600683"/>
          </a:xfrm>
          <a:prstGeom prst="straightConnector1">
            <a:avLst/>
          </a:prstGeom>
          <a:ln w="57150" cmpd="sng">
            <a:solidFill>
              <a:schemeClr val="bg1"/>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37231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nhaltsplatzhalter 6"/>
          <p:cNvPicPr>
            <a:picLocks noGrp="1" noChangeAspect="1"/>
          </p:cNvPicPr>
          <p:nvPr>
            <p:ph sz="quarter" idx="13"/>
          </p:nvPr>
        </p:nvPicPr>
        <p:blipFill rotWithShape="1">
          <a:blip r:embed="rId2"/>
          <a:srcRect r="49877"/>
          <a:stretch/>
        </p:blipFill>
        <p:spPr>
          <a:xfrm>
            <a:off x="1259782" y="1021079"/>
            <a:ext cx="9583794" cy="6337436"/>
          </a:xfrm>
          <a:prstGeom prst="rect">
            <a:avLst/>
          </a:prstGeom>
        </p:spPr>
      </p:pic>
      <p:sp>
        <p:nvSpPr>
          <p:cNvPr id="3" name="Titel 2"/>
          <p:cNvSpPr>
            <a:spLocks noGrp="1"/>
          </p:cNvSpPr>
          <p:nvPr>
            <p:ph type="title"/>
          </p:nvPr>
        </p:nvSpPr>
        <p:spPr/>
        <p:txBody>
          <a:bodyPr/>
          <a:lstStyle/>
          <a:p>
            <a:r>
              <a:rPr lang="de-DE" dirty="0" smtClean="0"/>
              <a:t>PV </a:t>
            </a:r>
            <a:r>
              <a:rPr lang="de-DE" dirty="0" err="1" smtClean="0"/>
              <a:t>with</a:t>
            </a:r>
            <a:r>
              <a:rPr lang="de-DE" dirty="0" smtClean="0"/>
              <a:t> </a:t>
            </a:r>
            <a:r>
              <a:rPr lang="de-DE" dirty="0" err="1" smtClean="0"/>
              <a:t>cooling</a:t>
            </a:r>
            <a:r>
              <a:rPr lang="de-DE" dirty="0" smtClean="0"/>
              <a:t> </a:t>
            </a:r>
            <a:r>
              <a:rPr lang="de-DE" dirty="0" err="1" smtClean="0"/>
              <a:t>pipes</a:t>
            </a:r>
            <a:r>
              <a:rPr lang="de-DE" dirty="0" smtClean="0"/>
              <a:t> - </a:t>
            </a:r>
            <a:r>
              <a:rPr lang="de-DE" dirty="0" err="1" smtClean="0"/>
              <a:t>temperature</a:t>
            </a:r>
            <a:r>
              <a:rPr lang="de-DE" dirty="0" smtClean="0"/>
              <a:t> </a:t>
            </a:r>
            <a:r>
              <a:rPr lang="de-DE" dirty="0" err="1" smtClean="0"/>
              <a:t>profile</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16</a:t>
            </a:fld>
            <a:endParaRPr lang="de-DE" dirty="0"/>
          </a:p>
        </p:txBody>
      </p:sp>
    </p:spTree>
    <p:extLst>
      <p:ext uri="{BB962C8B-B14F-4D97-AF65-F5344CB8AC3E}">
        <p14:creationId xmlns:p14="http://schemas.microsoft.com/office/powerpoint/2010/main" val="39711343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dirty="0" err="1" smtClean="0"/>
              <a:t>Baffle</a:t>
            </a:r>
            <a:r>
              <a:rPr lang="de-DE" dirty="0" smtClean="0"/>
              <a:t> </a:t>
            </a:r>
            <a:r>
              <a:rPr lang="de-DE" dirty="0" err="1" smtClean="0"/>
              <a:t>module</a:t>
            </a:r>
            <a:r>
              <a:rPr lang="de-DE" dirty="0" smtClean="0"/>
              <a:t> 9v transient </a:t>
            </a:r>
            <a:r>
              <a:rPr lang="de-DE" dirty="0" err="1" smtClean="0"/>
              <a:t>analysis</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17</a:t>
            </a:fld>
            <a:endParaRPr lang="de-DE" dirty="0"/>
          </a:p>
        </p:txBody>
      </p:sp>
      <p:sp>
        <p:nvSpPr>
          <p:cNvPr id="12" name="Titel 2"/>
          <p:cNvSpPr txBox="1">
            <a:spLocks/>
          </p:cNvSpPr>
          <p:nvPr/>
        </p:nvSpPr>
        <p:spPr>
          <a:xfrm>
            <a:off x="947738" y="1231366"/>
            <a:ext cx="9576471" cy="894416"/>
          </a:xfrm>
          <a:prstGeom prst="rect">
            <a:avLst/>
          </a:prstGeom>
        </p:spPr>
        <p:txBody>
          <a:bodyPr vert="horz" lIns="0" tIns="0" rIns="0" bIns="0" rtlCol="0" anchor="t" anchorCtr="0">
            <a:noAutofit/>
          </a:bodyPr>
          <a:lstStyle>
            <a:lvl1pPr algn="l" defTabSz="914400" rtl="0" eaLnBrk="1" latinLnBrk="0" hangingPunct="1">
              <a:lnSpc>
                <a:spcPts val="2800"/>
              </a:lnSpc>
              <a:spcBef>
                <a:spcPct val="0"/>
              </a:spcBef>
              <a:spcAft>
                <a:spcPts val="1800"/>
              </a:spcAft>
              <a:buNone/>
              <a:defRPr sz="2500" b="1" kern="600" cap="none" spc="0" baseline="0">
                <a:solidFill>
                  <a:srgbClr val="005555"/>
                </a:solidFill>
                <a:latin typeface="+mj-lt"/>
                <a:ea typeface="+mj-ea"/>
                <a:cs typeface="+mj-cs"/>
              </a:defRPr>
            </a:lvl1pPr>
          </a:lstStyle>
          <a:p>
            <a:pPr marL="342900" indent="-342900">
              <a:buFontTx/>
              <a:buChar char="-"/>
            </a:pPr>
            <a:r>
              <a:rPr lang="de-DE" sz="2400" dirty="0" err="1" smtClean="0"/>
              <a:t>to</a:t>
            </a:r>
            <a:r>
              <a:rPr lang="de-DE" sz="2400" dirty="0" smtClean="0"/>
              <a:t> </a:t>
            </a:r>
            <a:r>
              <a:rPr lang="de-DE" sz="2400" dirty="0" err="1" smtClean="0"/>
              <a:t>evaluate</a:t>
            </a:r>
            <a:r>
              <a:rPr lang="de-DE" sz="2400" dirty="0" smtClean="0"/>
              <a:t> </a:t>
            </a:r>
            <a:r>
              <a:rPr lang="de-DE" sz="2400" dirty="0" err="1" smtClean="0"/>
              <a:t>the</a:t>
            </a:r>
            <a:r>
              <a:rPr lang="de-DE" sz="2400" dirty="0" smtClean="0"/>
              <a:t> </a:t>
            </a:r>
            <a:r>
              <a:rPr lang="de-DE" sz="2400" dirty="0" err="1" smtClean="0"/>
              <a:t>relation</a:t>
            </a:r>
            <a:r>
              <a:rPr lang="de-DE" sz="2400" dirty="0" smtClean="0"/>
              <a:t> </a:t>
            </a:r>
            <a:r>
              <a:rPr lang="de-DE" sz="2400" dirty="0" err="1" smtClean="0"/>
              <a:t>between</a:t>
            </a:r>
            <a:r>
              <a:rPr lang="de-DE" sz="2400" dirty="0" smtClean="0"/>
              <a:t> </a:t>
            </a:r>
            <a:r>
              <a:rPr lang="de-DE" sz="2400" dirty="0" err="1" smtClean="0"/>
              <a:t>heat</a:t>
            </a:r>
            <a:r>
              <a:rPr lang="de-DE" sz="2400" dirty="0" smtClean="0"/>
              <a:t> sink </a:t>
            </a:r>
            <a:r>
              <a:rPr lang="de-DE" sz="2400" dirty="0" err="1" smtClean="0"/>
              <a:t>thermocouple</a:t>
            </a:r>
            <a:r>
              <a:rPr lang="de-DE" sz="2400" dirty="0" smtClean="0"/>
              <a:t> </a:t>
            </a:r>
            <a:r>
              <a:rPr lang="de-DE" sz="2400" dirty="0" err="1" smtClean="0"/>
              <a:t>measurements</a:t>
            </a:r>
            <a:r>
              <a:rPr lang="de-DE" sz="2400" dirty="0" smtClean="0"/>
              <a:t> </a:t>
            </a:r>
            <a:r>
              <a:rPr lang="de-DE" sz="2400" dirty="0" err="1" smtClean="0"/>
              <a:t>and</a:t>
            </a:r>
            <a:r>
              <a:rPr lang="de-DE" sz="2400" dirty="0" smtClean="0"/>
              <a:t> </a:t>
            </a:r>
            <a:r>
              <a:rPr lang="de-DE" sz="2400" dirty="0" err="1" smtClean="0"/>
              <a:t>heat</a:t>
            </a:r>
            <a:r>
              <a:rPr lang="de-DE" sz="2400" dirty="0" smtClean="0"/>
              <a:t> </a:t>
            </a:r>
            <a:r>
              <a:rPr lang="de-DE" sz="2400" dirty="0" err="1" smtClean="0"/>
              <a:t>flux</a:t>
            </a:r>
            <a:r>
              <a:rPr lang="de-DE" sz="2400" dirty="0" smtClean="0"/>
              <a:t> </a:t>
            </a:r>
            <a:r>
              <a:rPr lang="de-DE" sz="2400" dirty="0" err="1" smtClean="0"/>
              <a:t>load</a:t>
            </a:r>
            <a:endParaRPr lang="de-DE" sz="2400" dirty="0" smtClean="0"/>
          </a:p>
          <a:p>
            <a:pPr marL="342900" indent="-342900">
              <a:buFontTx/>
              <a:buChar char="-"/>
            </a:pPr>
            <a:r>
              <a:rPr lang="de-DE" sz="2400" dirty="0" err="1"/>
              <a:t>s</a:t>
            </a:r>
            <a:r>
              <a:rPr lang="de-DE" sz="2400" dirty="0" err="1" smtClean="0"/>
              <a:t>urface</a:t>
            </a:r>
            <a:r>
              <a:rPr lang="de-DE" sz="2400" dirty="0" smtClean="0"/>
              <a:t> </a:t>
            </a:r>
            <a:r>
              <a:rPr lang="de-DE" sz="2400" dirty="0" err="1" smtClean="0"/>
              <a:t>temperature</a:t>
            </a:r>
            <a:r>
              <a:rPr lang="de-DE" sz="2400" dirty="0" smtClean="0"/>
              <a:t> </a:t>
            </a:r>
            <a:r>
              <a:rPr lang="de-DE" sz="2400" dirty="0" err="1" smtClean="0"/>
              <a:t>measurements</a:t>
            </a:r>
            <a:r>
              <a:rPr lang="de-DE" sz="2400" dirty="0" smtClean="0"/>
              <a:t> </a:t>
            </a:r>
            <a:r>
              <a:rPr lang="de-DE" sz="2400" dirty="0" err="1" smtClean="0"/>
              <a:t>of</a:t>
            </a:r>
            <a:r>
              <a:rPr lang="de-DE" sz="2400" dirty="0" smtClean="0"/>
              <a:t> BM 9v </a:t>
            </a:r>
            <a:r>
              <a:rPr lang="de-DE" sz="2400" dirty="0" err="1" smtClean="0"/>
              <a:t>available</a:t>
            </a:r>
            <a:r>
              <a:rPr lang="de-DE" sz="2400" dirty="0" smtClean="0"/>
              <a:t> </a:t>
            </a:r>
            <a:endParaRPr lang="de-DE" sz="2400" dirty="0"/>
          </a:p>
        </p:txBody>
      </p:sp>
      <p:pic>
        <p:nvPicPr>
          <p:cNvPr id="13" name="Grafik 12"/>
          <p:cNvPicPr>
            <a:picLocks noChangeAspect="1"/>
          </p:cNvPicPr>
          <p:nvPr/>
        </p:nvPicPr>
        <p:blipFill>
          <a:blip r:embed="rId2"/>
          <a:stretch>
            <a:fillRect/>
          </a:stretch>
        </p:blipFill>
        <p:spPr>
          <a:xfrm>
            <a:off x="1223439" y="2515292"/>
            <a:ext cx="9415874" cy="3974406"/>
          </a:xfrm>
          <a:prstGeom prst="rect">
            <a:avLst/>
          </a:prstGeom>
        </p:spPr>
      </p:pic>
    </p:spTree>
    <p:extLst>
      <p:ext uri="{BB962C8B-B14F-4D97-AF65-F5344CB8AC3E}">
        <p14:creationId xmlns:p14="http://schemas.microsoft.com/office/powerpoint/2010/main" val="2074721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dirty="0" err="1" smtClean="0"/>
              <a:t>Importing</a:t>
            </a:r>
            <a:r>
              <a:rPr lang="de-DE" dirty="0" smtClean="0"/>
              <a:t> </a:t>
            </a:r>
            <a:r>
              <a:rPr lang="de-DE" dirty="0" err="1" smtClean="0"/>
              <a:t>the</a:t>
            </a:r>
            <a:r>
              <a:rPr lang="de-DE" dirty="0" smtClean="0"/>
              <a:t> </a:t>
            </a:r>
            <a:r>
              <a:rPr lang="de-DE" dirty="0" err="1" smtClean="0"/>
              <a:t>temperature</a:t>
            </a:r>
            <a:r>
              <a:rPr lang="de-DE" dirty="0" smtClean="0"/>
              <a:t> </a:t>
            </a:r>
            <a:r>
              <a:rPr lang="de-DE" dirty="0" err="1" smtClean="0"/>
              <a:t>profile</a:t>
            </a:r>
            <a:r>
              <a:rPr lang="de-DE" dirty="0" smtClean="0"/>
              <a:t> </a:t>
            </a:r>
            <a:r>
              <a:rPr lang="de-DE" dirty="0" err="1" smtClean="0"/>
              <a:t>of</a:t>
            </a:r>
            <a:r>
              <a:rPr lang="de-DE" dirty="0" smtClean="0"/>
              <a:t> </a:t>
            </a:r>
            <a:r>
              <a:rPr lang="de-DE" dirty="0" err="1" smtClean="0"/>
              <a:t>graphite</a:t>
            </a:r>
            <a:r>
              <a:rPr lang="de-DE" dirty="0" smtClean="0"/>
              <a:t> </a:t>
            </a:r>
            <a:r>
              <a:rPr lang="de-DE" dirty="0" err="1" smtClean="0"/>
              <a:t>surface</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18</a:t>
            </a:fld>
            <a:endParaRPr lang="de-DE" dirty="0"/>
          </a:p>
        </p:txBody>
      </p:sp>
      <p:pic>
        <p:nvPicPr>
          <p:cNvPr id="8" name="Grafik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14913"/>
            <a:ext cx="6636058" cy="4147536"/>
          </a:xfrm>
          <a:prstGeom prst="rect">
            <a:avLst/>
          </a:prstGeom>
        </p:spPr>
      </p:pic>
      <p:pic>
        <p:nvPicPr>
          <p:cNvPr id="9" name="Grafik 8"/>
          <p:cNvPicPr>
            <a:picLocks noChangeAspect="1"/>
          </p:cNvPicPr>
          <p:nvPr/>
        </p:nvPicPr>
        <p:blipFill rotWithShape="1">
          <a:blip r:embed="rId3">
            <a:extLst>
              <a:ext uri="{28A0092B-C50C-407E-A947-70E740481C1C}">
                <a14:useLocalDpi xmlns:a14="http://schemas.microsoft.com/office/drawing/2010/main" val="0"/>
              </a:ext>
            </a:extLst>
          </a:blip>
          <a:srcRect l="36886" t="13685" r="5410" b="12302"/>
          <a:stretch/>
        </p:blipFill>
        <p:spPr>
          <a:xfrm>
            <a:off x="6487427" y="1335741"/>
            <a:ext cx="5804035" cy="4841508"/>
          </a:xfrm>
          <a:prstGeom prst="rect">
            <a:avLst/>
          </a:prstGeom>
        </p:spPr>
      </p:pic>
    </p:spTree>
    <p:extLst>
      <p:ext uri="{BB962C8B-B14F-4D97-AF65-F5344CB8AC3E}">
        <p14:creationId xmlns:p14="http://schemas.microsoft.com/office/powerpoint/2010/main" val="12400750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416191" y="370810"/>
            <a:ext cx="9576471" cy="894416"/>
          </a:xfrm>
        </p:spPr>
        <p:txBody>
          <a:bodyPr/>
          <a:lstStyle/>
          <a:p>
            <a:r>
              <a:rPr lang="de-DE" dirty="0" err="1" smtClean="0"/>
              <a:t>Issue</a:t>
            </a:r>
            <a:r>
              <a:rPr lang="de-DE" dirty="0" smtClean="0"/>
              <a:t> #1 - </a:t>
            </a:r>
            <a:r>
              <a:rPr lang="de-DE" dirty="0" err="1" smtClean="0"/>
              <a:t>Bolts</a:t>
            </a:r>
            <a:r>
              <a:rPr lang="de-DE" dirty="0" smtClean="0"/>
              <a:t> </a:t>
            </a:r>
            <a:r>
              <a:rPr lang="de-DE" dirty="0" err="1" smtClean="0"/>
              <a:t>positions</a:t>
            </a:r>
            <a:r>
              <a:rPr lang="de-DE" dirty="0" smtClean="0"/>
              <a:t> </a:t>
            </a:r>
            <a:r>
              <a:rPr lang="de-DE" dirty="0" err="1" smtClean="0"/>
              <a:t>are</a:t>
            </a:r>
            <a:r>
              <a:rPr lang="de-DE" dirty="0" smtClean="0"/>
              <a:t> not </a:t>
            </a:r>
            <a:r>
              <a:rPr lang="de-DE" dirty="0" err="1" smtClean="0"/>
              <a:t>properly</a:t>
            </a:r>
            <a:r>
              <a:rPr lang="de-DE" dirty="0" smtClean="0"/>
              <a:t> </a:t>
            </a:r>
            <a:r>
              <a:rPr lang="de-DE" dirty="0" err="1" smtClean="0"/>
              <a:t>matching</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19</a:t>
            </a:fld>
            <a:endParaRPr lang="de-DE" dirty="0"/>
          </a:p>
        </p:txBody>
      </p:sp>
      <p:pic>
        <p:nvPicPr>
          <p:cNvPr id="7" name="Grafik 6"/>
          <p:cNvPicPr>
            <a:picLocks noChangeAspect="1"/>
          </p:cNvPicPr>
          <p:nvPr/>
        </p:nvPicPr>
        <p:blipFill rotWithShape="1">
          <a:blip r:embed="rId2">
            <a:extLst>
              <a:ext uri="{28A0092B-C50C-407E-A947-70E740481C1C}">
                <a14:useLocalDpi xmlns:a14="http://schemas.microsoft.com/office/drawing/2010/main" val="0"/>
              </a:ext>
            </a:extLst>
          </a:blip>
          <a:srcRect l="62453" t="52482" r="28839" b="34275"/>
          <a:stretch/>
        </p:blipFill>
        <p:spPr>
          <a:xfrm>
            <a:off x="625577" y="3130157"/>
            <a:ext cx="2542410" cy="2514467"/>
          </a:xfrm>
          <a:prstGeom prst="rect">
            <a:avLst/>
          </a:prstGeom>
        </p:spPr>
      </p:pic>
      <p:pic>
        <p:nvPicPr>
          <p:cNvPr id="9" name="Grafik 8"/>
          <p:cNvPicPr>
            <a:picLocks noChangeAspect="1"/>
          </p:cNvPicPr>
          <p:nvPr/>
        </p:nvPicPr>
        <p:blipFill rotWithShape="1">
          <a:blip r:embed="rId3"/>
          <a:srcRect r="26192"/>
          <a:stretch/>
        </p:blipFill>
        <p:spPr>
          <a:xfrm>
            <a:off x="3510214" y="888533"/>
            <a:ext cx="8242234" cy="4713606"/>
          </a:xfrm>
          <a:prstGeom prst="rect">
            <a:avLst/>
          </a:prstGeom>
        </p:spPr>
      </p:pic>
      <p:sp>
        <p:nvSpPr>
          <p:cNvPr id="10" name="Ellipse 9"/>
          <p:cNvSpPr/>
          <p:nvPr/>
        </p:nvSpPr>
        <p:spPr>
          <a:xfrm>
            <a:off x="695324" y="3245336"/>
            <a:ext cx="2130435" cy="2284110"/>
          </a:xfrm>
          <a:prstGeom prst="ellipse">
            <a:avLst/>
          </a:prstGeom>
          <a:noFill/>
          <a:ln w="76200" cmpd="sng">
            <a:solidFill>
              <a:srgbClr val="FF0000"/>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wrap="square" lIns="144000" tIns="108000" rIns="144000" bIns="144000" rtlCol="0" anchor="t" anchorCtr="0"/>
          <a:lstStyle/>
          <a:p>
            <a:pPr algn="l">
              <a:spcBef>
                <a:spcPts val="1150"/>
              </a:spcBef>
              <a:buClr>
                <a:srgbClr val="116656"/>
              </a:buClr>
              <a:buSzPct val="120000"/>
            </a:pPr>
            <a:endParaRPr lang="de-DE" sz="1300" b="1" dirty="0" smtClean="0">
              <a:solidFill>
                <a:schemeClr val="bg1"/>
              </a:solidFill>
            </a:endParaRPr>
          </a:p>
        </p:txBody>
      </p:sp>
      <p:cxnSp>
        <p:nvCxnSpPr>
          <p:cNvPr id="12" name="Gerade Verbindung mit Pfeil 11"/>
          <p:cNvCxnSpPr/>
          <p:nvPr/>
        </p:nvCxnSpPr>
        <p:spPr>
          <a:xfrm flipV="1">
            <a:off x="2608446" y="4387390"/>
            <a:ext cx="6959066" cy="906505"/>
          </a:xfrm>
          <a:prstGeom prst="straightConnector1">
            <a:avLst/>
          </a:prstGeom>
          <a:ln w="57150" cmpd="sng">
            <a:solidFill>
              <a:srgbClr val="FF0000"/>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09817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13"/>
          </p:nvPr>
        </p:nvSpPr>
        <p:spPr>
          <a:xfrm>
            <a:off x="659606" y="1260565"/>
            <a:ext cx="10801349" cy="4772024"/>
          </a:xfrm>
        </p:spPr>
        <p:txBody>
          <a:bodyPr/>
          <a:lstStyle/>
          <a:p>
            <a:r>
              <a:rPr lang="de-DE" dirty="0" smtClean="0"/>
              <a:t>Visible </a:t>
            </a:r>
            <a:r>
              <a:rPr lang="de-DE" dirty="0" err="1" smtClean="0"/>
              <a:t>convective</a:t>
            </a:r>
            <a:r>
              <a:rPr lang="de-DE" dirty="0" smtClean="0"/>
              <a:t> </a:t>
            </a:r>
            <a:r>
              <a:rPr lang="de-DE" dirty="0" err="1" smtClean="0"/>
              <a:t>load</a:t>
            </a:r>
            <a:r>
              <a:rPr lang="de-DE" dirty="0" smtClean="0"/>
              <a:t> </a:t>
            </a:r>
            <a:r>
              <a:rPr lang="de-DE" dirty="0" err="1" smtClean="0"/>
              <a:t>area</a:t>
            </a:r>
            <a:endParaRPr lang="de-DE" dirty="0"/>
          </a:p>
        </p:txBody>
      </p:sp>
      <p:sp>
        <p:nvSpPr>
          <p:cNvPr id="3" name="Titel 2"/>
          <p:cNvSpPr>
            <a:spLocks noGrp="1"/>
          </p:cNvSpPr>
          <p:nvPr>
            <p:ph type="title"/>
          </p:nvPr>
        </p:nvSpPr>
        <p:spPr/>
        <p:txBody>
          <a:bodyPr/>
          <a:lstStyle/>
          <a:p>
            <a:r>
              <a:rPr lang="de-DE" dirty="0" err="1" smtClean="0"/>
              <a:t>Imported</a:t>
            </a:r>
            <a:r>
              <a:rPr lang="de-DE" dirty="0" smtClean="0"/>
              <a:t> </a:t>
            </a:r>
            <a:r>
              <a:rPr lang="de-DE" dirty="0" err="1" smtClean="0"/>
              <a:t>surface</a:t>
            </a:r>
            <a:r>
              <a:rPr lang="de-DE" dirty="0" smtClean="0"/>
              <a:t> </a:t>
            </a:r>
            <a:r>
              <a:rPr lang="de-DE" dirty="0" err="1" smtClean="0"/>
              <a:t>temperature</a:t>
            </a:r>
            <a:r>
              <a:rPr lang="de-DE" dirty="0" smtClean="0"/>
              <a:t> </a:t>
            </a:r>
            <a:r>
              <a:rPr lang="de-DE" dirty="0" err="1" smtClean="0"/>
              <a:t>profile</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20</a:t>
            </a:fld>
            <a:endParaRPr lang="de-DE" dirty="0"/>
          </a:p>
        </p:txBody>
      </p:sp>
      <p:pic>
        <p:nvPicPr>
          <p:cNvPr id="7" name="Grafik 6"/>
          <p:cNvPicPr>
            <a:picLocks noChangeAspect="1"/>
          </p:cNvPicPr>
          <p:nvPr/>
        </p:nvPicPr>
        <p:blipFill>
          <a:blip r:embed="rId2"/>
          <a:stretch>
            <a:fillRect/>
          </a:stretch>
        </p:blipFill>
        <p:spPr>
          <a:xfrm>
            <a:off x="335604" y="1792851"/>
            <a:ext cx="11520792" cy="4862884"/>
          </a:xfrm>
          <a:prstGeom prst="rect">
            <a:avLst/>
          </a:prstGeom>
        </p:spPr>
      </p:pic>
    </p:spTree>
    <p:extLst>
      <p:ext uri="{BB962C8B-B14F-4D97-AF65-F5344CB8AC3E}">
        <p14:creationId xmlns:p14="http://schemas.microsoft.com/office/powerpoint/2010/main" val="252528539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13"/>
          </p:nvPr>
        </p:nvSpPr>
        <p:spPr>
          <a:xfrm>
            <a:off x="2767739" y="1197368"/>
            <a:ext cx="10801349" cy="824716"/>
          </a:xfrm>
        </p:spPr>
        <p:txBody>
          <a:bodyPr/>
          <a:lstStyle/>
          <a:p>
            <a:r>
              <a:rPr lang="de-DE" dirty="0" err="1" smtClean="0"/>
              <a:t>Thermocouple</a:t>
            </a:r>
            <a:r>
              <a:rPr lang="de-DE" dirty="0" smtClean="0"/>
              <a:t> </a:t>
            </a:r>
            <a:r>
              <a:rPr lang="de-DE" dirty="0" err="1"/>
              <a:t>temperature</a:t>
            </a:r>
            <a:r>
              <a:rPr lang="de-DE" dirty="0"/>
              <a:t> – experimental </a:t>
            </a:r>
            <a:r>
              <a:rPr lang="de-DE" dirty="0" err="1"/>
              <a:t>vs</a:t>
            </a:r>
            <a:r>
              <a:rPr lang="de-DE" dirty="0"/>
              <a:t> </a:t>
            </a:r>
            <a:r>
              <a:rPr lang="de-DE" dirty="0" err="1"/>
              <a:t>simulation</a:t>
            </a:r>
            <a:endParaRPr lang="de-DE" dirty="0"/>
          </a:p>
          <a:p>
            <a:endParaRPr lang="de-DE" dirty="0"/>
          </a:p>
        </p:txBody>
      </p:sp>
      <p:sp>
        <p:nvSpPr>
          <p:cNvPr id="3" name="Titel 2"/>
          <p:cNvSpPr>
            <a:spLocks noGrp="1"/>
          </p:cNvSpPr>
          <p:nvPr>
            <p:ph type="title"/>
          </p:nvPr>
        </p:nvSpPr>
        <p:spPr/>
        <p:txBody>
          <a:bodyPr/>
          <a:lstStyle/>
          <a:p>
            <a:r>
              <a:rPr lang="de-DE" dirty="0" err="1" smtClean="0"/>
              <a:t>Thermocouple</a:t>
            </a:r>
            <a:r>
              <a:rPr lang="de-DE" dirty="0" smtClean="0"/>
              <a:t> </a:t>
            </a:r>
            <a:r>
              <a:rPr lang="de-DE" dirty="0" err="1" smtClean="0"/>
              <a:t>results</a:t>
            </a:r>
            <a:r>
              <a:rPr lang="de-DE" dirty="0" smtClean="0"/>
              <a:t> </a:t>
            </a:r>
            <a:r>
              <a:rPr lang="de-DE" dirty="0" err="1" smtClean="0"/>
              <a:t>validation</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21</a:t>
            </a:fld>
            <a:endParaRPr lang="de-DE" dirty="0"/>
          </a:p>
        </p:txBody>
      </p:sp>
      <p:pic>
        <p:nvPicPr>
          <p:cNvPr id="8" name="Grafik 7"/>
          <p:cNvPicPr>
            <a:picLocks noChangeAspect="1"/>
          </p:cNvPicPr>
          <p:nvPr/>
        </p:nvPicPr>
        <p:blipFill>
          <a:blip r:embed="rId2"/>
          <a:stretch>
            <a:fillRect/>
          </a:stretch>
        </p:blipFill>
        <p:spPr>
          <a:xfrm>
            <a:off x="1234247" y="1609726"/>
            <a:ext cx="9806973" cy="5083396"/>
          </a:xfrm>
          <a:prstGeom prst="rect">
            <a:avLst/>
          </a:prstGeom>
        </p:spPr>
      </p:pic>
    </p:spTree>
    <p:extLst>
      <p:ext uri="{BB962C8B-B14F-4D97-AF65-F5344CB8AC3E}">
        <p14:creationId xmlns:p14="http://schemas.microsoft.com/office/powerpoint/2010/main" val="40758655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nhaltsplatzhalter 6"/>
          <p:cNvPicPr>
            <a:picLocks noGrp="1" noChangeAspect="1"/>
          </p:cNvPicPr>
          <p:nvPr>
            <p:ph sz="quarter" idx="13"/>
          </p:nvPr>
        </p:nvPicPr>
        <p:blipFill>
          <a:blip r:embed="rId2"/>
          <a:stretch>
            <a:fillRect/>
          </a:stretch>
        </p:blipFill>
        <p:spPr>
          <a:xfrm>
            <a:off x="695324" y="1335741"/>
            <a:ext cx="11156249" cy="4709012"/>
          </a:xfrm>
          <a:prstGeom prst="rect">
            <a:avLst/>
          </a:prstGeom>
        </p:spPr>
      </p:pic>
      <p:sp>
        <p:nvSpPr>
          <p:cNvPr id="3" name="Titel 2"/>
          <p:cNvSpPr>
            <a:spLocks noGrp="1"/>
          </p:cNvSpPr>
          <p:nvPr>
            <p:ph type="title"/>
          </p:nvPr>
        </p:nvSpPr>
        <p:spPr/>
        <p:txBody>
          <a:bodyPr/>
          <a:lstStyle/>
          <a:p>
            <a:r>
              <a:rPr lang="de-DE" dirty="0" err="1" smtClean="0"/>
              <a:t>Issue</a:t>
            </a:r>
            <a:r>
              <a:rPr lang="de-DE" dirty="0" smtClean="0"/>
              <a:t> #2 – </a:t>
            </a:r>
            <a:r>
              <a:rPr lang="de-DE" dirty="0" err="1" smtClean="0"/>
              <a:t>How</a:t>
            </a:r>
            <a:r>
              <a:rPr lang="de-DE" dirty="0" smtClean="0"/>
              <a:t> </a:t>
            </a:r>
            <a:r>
              <a:rPr lang="de-DE" dirty="0" err="1" smtClean="0"/>
              <a:t>to</a:t>
            </a:r>
            <a:r>
              <a:rPr lang="de-DE" dirty="0" smtClean="0"/>
              <a:t> </a:t>
            </a:r>
            <a:r>
              <a:rPr lang="de-DE" dirty="0" err="1" smtClean="0"/>
              <a:t>evaluate</a:t>
            </a:r>
            <a:r>
              <a:rPr lang="de-DE" dirty="0" smtClean="0"/>
              <a:t> </a:t>
            </a:r>
            <a:r>
              <a:rPr lang="de-DE" dirty="0" err="1" smtClean="0"/>
              <a:t>the</a:t>
            </a:r>
            <a:r>
              <a:rPr lang="de-DE" dirty="0" smtClean="0"/>
              <a:t> </a:t>
            </a:r>
            <a:r>
              <a:rPr lang="de-DE" dirty="0" err="1" smtClean="0"/>
              <a:t>heat</a:t>
            </a:r>
            <a:r>
              <a:rPr lang="de-DE" dirty="0" smtClean="0"/>
              <a:t> </a:t>
            </a:r>
            <a:r>
              <a:rPr lang="de-DE" dirty="0" err="1" smtClean="0"/>
              <a:t>flux</a:t>
            </a:r>
            <a:r>
              <a:rPr lang="de-DE" dirty="0" smtClean="0"/>
              <a:t> </a:t>
            </a:r>
            <a:r>
              <a:rPr lang="de-DE" dirty="0" err="1" smtClean="0"/>
              <a:t>profile</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22</a:t>
            </a:fld>
            <a:endParaRPr lang="de-DE" dirty="0"/>
          </a:p>
        </p:txBody>
      </p:sp>
    </p:spTree>
    <p:extLst>
      <p:ext uri="{BB962C8B-B14F-4D97-AF65-F5344CB8AC3E}">
        <p14:creationId xmlns:p14="http://schemas.microsoft.com/office/powerpoint/2010/main" val="22795910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dirty="0" err="1" smtClean="0"/>
              <a:t>Heat</a:t>
            </a:r>
            <a:r>
              <a:rPr lang="de-DE" dirty="0" smtClean="0"/>
              <a:t> </a:t>
            </a:r>
            <a:r>
              <a:rPr lang="de-DE" dirty="0" err="1" smtClean="0"/>
              <a:t>flux</a:t>
            </a:r>
            <a:r>
              <a:rPr lang="de-DE" dirty="0" smtClean="0"/>
              <a:t> </a:t>
            </a:r>
            <a:r>
              <a:rPr lang="de-DE" dirty="0" err="1" smtClean="0"/>
              <a:t>results</a:t>
            </a:r>
            <a:r>
              <a:rPr lang="de-DE" dirty="0" smtClean="0"/>
              <a:t> – </a:t>
            </a:r>
            <a:r>
              <a:rPr lang="de-DE" dirty="0" err="1" smtClean="0"/>
              <a:t>average</a:t>
            </a:r>
            <a:r>
              <a:rPr lang="de-DE" dirty="0" smtClean="0"/>
              <a:t> per </a:t>
            </a:r>
            <a:r>
              <a:rPr lang="de-DE" dirty="0" err="1" smtClean="0"/>
              <a:t>tile</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23</a:t>
            </a:fld>
            <a:endParaRPr lang="de-DE" dirty="0"/>
          </a:p>
        </p:txBody>
      </p:sp>
      <p:pic>
        <p:nvPicPr>
          <p:cNvPr id="7" name="Grafik 6"/>
          <p:cNvPicPr>
            <a:picLocks noChangeAspect="1"/>
          </p:cNvPicPr>
          <p:nvPr/>
        </p:nvPicPr>
        <p:blipFill>
          <a:blip r:embed="rId2"/>
          <a:stretch>
            <a:fillRect/>
          </a:stretch>
        </p:blipFill>
        <p:spPr>
          <a:xfrm>
            <a:off x="818833" y="1084883"/>
            <a:ext cx="10477499" cy="5655675"/>
          </a:xfrm>
          <a:prstGeom prst="rect">
            <a:avLst/>
          </a:prstGeom>
        </p:spPr>
      </p:pic>
    </p:spTree>
    <p:extLst>
      <p:ext uri="{BB962C8B-B14F-4D97-AF65-F5344CB8AC3E}">
        <p14:creationId xmlns:p14="http://schemas.microsoft.com/office/powerpoint/2010/main" val="121505257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13"/>
          </p:nvPr>
        </p:nvSpPr>
        <p:spPr/>
        <p:txBody>
          <a:bodyPr/>
          <a:lstStyle/>
          <a:p>
            <a:pPr marL="285750" indent="-285750">
              <a:buFont typeface="Arial" panose="020B0604020202020204" pitchFamily="34" charset="0"/>
              <a:buChar char="•"/>
            </a:pPr>
            <a:r>
              <a:rPr lang="de-DE" dirty="0" err="1" smtClean="0"/>
              <a:t>Sigraflex</a:t>
            </a:r>
            <a:r>
              <a:rPr lang="de-DE" dirty="0" smtClean="0"/>
              <a:t> thermal </a:t>
            </a:r>
            <a:r>
              <a:rPr lang="de-DE" dirty="0" err="1" smtClean="0"/>
              <a:t>conductivity</a:t>
            </a:r>
            <a:endParaRPr lang="de-DE" dirty="0" smtClean="0"/>
          </a:p>
          <a:p>
            <a:pPr marL="285750" indent="-285750">
              <a:buFont typeface="Arial" panose="020B0604020202020204" pitchFamily="34" charset="0"/>
              <a:buChar char="•"/>
            </a:pPr>
            <a:endParaRPr lang="de-DE" dirty="0"/>
          </a:p>
          <a:p>
            <a:endParaRPr lang="de-DE" dirty="0" smtClean="0"/>
          </a:p>
          <a:p>
            <a:pPr marL="285750" indent="-285750">
              <a:buFont typeface="Arial" panose="020B0604020202020204" pitchFamily="34" charset="0"/>
              <a:buChar char="•"/>
            </a:pPr>
            <a:endParaRPr lang="de-DE" dirty="0"/>
          </a:p>
        </p:txBody>
      </p:sp>
      <p:sp>
        <p:nvSpPr>
          <p:cNvPr id="3" name="Titel 2"/>
          <p:cNvSpPr>
            <a:spLocks noGrp="1"/>
          </p:cNvSpPr>
          <p:nvPr>
            <p:ph type="title"/>
          </p:nvPr>
        </p:nvSpPr>
        <p:spPr/>
        <p:txBody>
          <a:bodyPr/>
          <a:lstStyle/>
          <a:p>
            <a:r>
              <a:rPr lang="en-US" dirty="0" smtClean="0"/>
              <a:t>Questions</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24</a:t>
            </a:fld>
            <a:endParaRPr lang="de-DE" dirty="0"/>
          </a:p>
        </p:txBody>
      </p:sp>
      <p:pic>
        <p:nvPicPr>
          <p:cNvPr id="7" name="Grafik 6"/>
          <p:cNvPicPr>
            <a:picLocks noChangeAspect="1"/>
          </p:cNvPicPr>
          <p:nvPr/>
        </p:nvPicPr>
        <p:blipFill>
          <a:blip r:embed="rId2"/>
          <a:stretch>
            <a:fillRect/>
          </a:stretch>
        </p:blipFill>
        <p:spPr>
          <a:xfrm>
            <a:off x="3996187" y="2234900"/>
            <a:ext cx="6705600" cy="1247775"/>
          </a:xfrm>
          <a:prstGeom prst="rect">
            <a:avLst/>
          </a:prstGeom>
        </p:spPr>
      </p:pic>
      <p:pic>
        <p:nvPicPr>
          <p:cNvPr id="10" name="Grafik 9"/>
          <p:cNvPicPr>
            <a:picLocks noChangeAspect="1"/>
          </p:cNvPicPr>
          <p:nvPr/>
        </p:nvPicPr>
        <p:blipFill>
          <a:blip r:embed="rId3"/>
          <a:stretch>
            <a:fillRect/>
          </a:stretch>
        </p:blipFill>
        <p:spPr>
          <a:xfrm>
            <a:off x="3954847" y="3756660"/>
            <a:ext cx="5632689" cy="1612231"/>
          </a:xfrm>
          <a:prstGeom prst="rect">
            <a:avLst/>
          </a:prstGeom>
        </p:spPr>
      </p:pic>
      <p:sp>
        <p:nvSpPr>
          <p:cNvPr id="11" name="Rechteck 10"/>
          <p:cNvSpPr/>
          <p:nvPr/>
        </p:nvSpPr>
        <p:spPr>
          <a:xfrm>
            <a:off x="947738" y="2403149"/>
            <a:ext cx="2749471" cy="646331"/>
          </a:xfrm>
          <a:prstGeom prst="rect">
            <a:avLst/>
          </a:prstGeom>
        </p:spPr>
        <p:txBody>
          <a:bodyPr wrap="none">
            <a:spAutoFit/>
          </a:bodyPr>
          <a:lstStyle/>
          <a:p>
            <a:r>
              <a:rPr lang="de-DE" dirty="0" err="1" smtClean="0"/>
              <a:t>BM_materials</a:t>
            </a:r>
            <a:r>
              <a:rPr lang="de-DE" dirty="0" smtClean="0"/>
              <a:t> </a:t>
            </a:r>
            <a:r>
              <a:rPr lang="de-DE" dirty="0" err="1" smtClean="0"/>
              <a:t>definition</a:t>
            </a:r>
            <a:r>
              <a:rPr lang="de-DE" dirty="0" smtClean="0"/>
              <a:t>: </a:t>
            </a:r>
          </a:p>
          <a:p>
            <a:r>
              <a:rPr lang="de-DE" dirty="0" smtClean="0"/>
              <a:t>(</a:t>
            </a:r>
            <a:r>
              <a:rPr lang="de-DE" dirty="0" err="1" smtClean="0"/>
              <a:t>used</a:t>
            </a:r>
            <a:r>
              <a:rPr lang="de-DE" dirty="0" smtClean="0"/>
              <a:t> </a:t>
            </a:r>
            <a:r>
              <a:rPr lang="de-DE" dirty="0" err="1" smtClean="0"/>
              <a:t>for</a:t>
            </a:r>
            <a:r>
              <a:rPr lang="de-DE" dirty="0" smtClean="0"/>
              <a:t> </a:t>
            </a:r>
            <a:r>
              <a:rPr lang="de-DE" dirty="0" err="1" smtClean="0"/>
              <a:t>presented</a:t>
            </a:r>
            <a:r>
              <a:rPr lang="de-DE" dirty="0" smtClean="0"/>
              <a:t> </a:t>
            </a:r>
            <a:r>
              <a:rPr lang="de-DE" dirty="0" err="1" smtClean="0"/>
              <a:t>sim</a:t>
            </a:r>
            <a:r>
              <a:rPr lang="de-DE" dirty="0" smtClean="0"/>
              <a:t>.)</a:t>
            </a:r>
            <a:endParaRPr lang="de-DE" dirty="0"/>
          </a:p>
        </p:txBody>
      </p:sp>
      <p:sp>
        <p:nvSpPr>
          <p:cNvPr id="12" name="Rechteck 11"/>
          <p:cNvSpPr/>
          <p:nvPr/>
        </p:nvSpPr>
        <p:spPr>
          <a:xfrm>
            <a:off x="902573" y="3995738"/>
            <a:ext cx="3023007" cy="369332"/>
          </a:xfrm>
          <a:prstGeom prst="rect">
            <a:avLst/>
          </a:prstGeom>
        </p:spPr>
        <p:txBody>
          <a:bodyPr wrap="none">
            <a:spAutoFit/>
          </a:bodyPr>
          <a:lstStyle/>
          <a:p>
            <a:r>
              <a:rPr lang="de-DE" dirty="0" smtClean="0"/>
              <a:t>SGL </a:t>
            </a:r>
            <a:r>
              <a:rPr lang="de-DE" dirty="0" err="1" smtClean="0"/>
              <a:t>carbon</a:t>
            </a:r>
            <a:r>
              <a:rPr lang="de-DE" dirty="0" smtClean="0"/>
              <a:t> </a:t>
            </a:r>
            <a:r>
              <a:rPr lang="de-DE" dirty="0" err="1" smtClean="0"/>
              <a:t>manufacturer</a:t>
            </a:r>
            <a:r>
              <a:rPr lang="de-DE" dirty="0" smtClean="0"/>
              <a:t> : </a:t>
            </a:r>
          </a:p>
        </p:txBody>
      </p:sp>
      <p:sp>
        <p:nvSpPr>
          <p:cNvPr id="8" name="Textfeld 7"/>
          <p:cNvSpPr txBox="1"/>
          <p:nvPr/>
        </p:nvSpPr>
        <p:spPr>
          <a:xfrm>
            <a:off x="8388546" y="2726314"/>
            <a:ext cx="647613" cy="262059"/>
          </a:xfrm>
          <a:prstGeom prst="rect">
            <a:avLst/>
          </a:prstGeom>
          <a:noFill/>
        </p:spPr>
        <p:txBody>
          <a:bodyPr wrap="none" lIns="0" tIns="0" rIns="0" bIns="0" rtlCol="0" anchor="t" anchorCtr="0">
            <a:spAutoFit/>
          </a:bodyPr>
          <a:lstStyle/>
          <a:p>
            <a:pPr algn="l">
              <a:lnSpc>
                <a:spcPts val="2300"/>
              </a:lnSpc>
              <a:spcBef>
                <a:spcPts val="1150"/>
              </a:spcBef>
            </a:pPr>
            <a:r>
              <a:rPr lang="de-DE" sz="1400" dirty="0" smtClean="0"/>
              <a:t>3 W/</a:t>
            </a:r>
            <a:r>
              <a:rPr lang="de-DE" sz="1400" dirty="0" err="1" smtClean="0"/>
              <a:t>mC</a:t>
            </a:r>
            <a:endParaRPr lang="de-DE" sz="1400" dirty="0" smtClean="0"/>
          </a:p>
        </p:txBody>
      </p:sp>
      <p:cxnSp>
        <p:nvCxnSpPr>
          <p:cNvPr id="13" name="Gerader Verbinder 12"/>
          <p:cNvCxnSpPr/>
          <p:nvPr/>
        </p:nvCxnSpPr>
        <p:spPr>
          <a:xfrm flipH="1">
            <a:off x="9186346" y="2858787"/>
            <a:ext cx="685515" cy="79972"/>
          </a:xfrm>
          <a:prstGeom prst="line">
            <a:avLst/>
          </a:prstGeom>
          <a:ln w="38100" cmpd="sng">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Rechteck 13"/>
          <p:cNvSpPr/>
          <p:nvPr/>
        </p:nvSpPr>
        <p:spPr>
          <a:xfrm>
            <a:off x="810969" y="5745931"/>
            <a:ext cx="7058343" cy="369332"/>
          </a:xfrm>
          <a:prstGeom prst="rect">
            <a:avLst/>
          </a:prstGeom>
        </p:spPr>
        <p:txBody>
          <a:bodyPr wrap="none">
            <a:spAutoFit/>
          </a:bodyPr>
          <a:lstStyle/>
          <a:p>
            <a:r>
              <a:rPr lang="de-DE" dirty="0" smtClean="0"/>
              <a:t>The </a:t>
            </a:r>
            <a:r>
              <a:rPr lang="de-DE" dirty="0" err="1" smtClean="0"/>
              <a:t>quality</a:t>
            </a:r>
            <a:r>
              <a:rPr lang="de-DE" dirty="0" smtClean="0"/>
              <a:t> </a:t>
            </a:r>
            <a:r>
              <a:rPr lang="de-DE" dirty="0" err="1" smtClean="0"/>
              <a:t>of</a:t>
            </a:r>
            <a:r>
              <a:rPr lang="de-DE" dirty="0" smtClean="0"/>
              <a:t> thermal </a:t>
            </a:r>
            <a:r>
              <a:rPr lang="de-DE" dirty="0" err="1" smtClean="0"/>
              <a:t>contact</a:t>
            </a:r>
            <a:r>
              <a:rPr lang="de-DE" dirty="0" smtClean="0"/>
              <a:t> </a:t>
            </a:r>
            <a:r>
              <a:rPr lang="de-DE" dirty="0" err="1" smtClean="0"/>
              <a:t>between</a:t>
            </a:r>
            <a:r>
              <a:rPr lang="de-DE" dirty="0" smtClean="0"/>
              <a:t> </a:t>
            </a:r>
            <a:r>
              <a:rPr lang="de-DE" dirty="0" err="1" smtClean="0"/>
              <a:t>sigraflex</a:t>
            </a:r>
            <a:r>
              <a:rPr lang="de-DE" dirty="0" smtClean="0"/>
              <a:t> </a:t>
            </a:r>
            <a:r>
              <a:rPr lang="de-DE" dirty="0" err="1" smtClean="0"/>
              <a:t>and</a:t>
            </a:r>
            <a:r>
              <a:rPr lang="de-DE" dirty="0" smtClean="0"/>
              <a:t> </a:t>
            </a:r>
            <a:r>
              <a:rPr lang="de-DE" dirty="0" err="1" smtClean="0"/>
              <a:t>graphite</a:t>
            </a:r>
            <a:r>
              <a:rPr lang="de-DE" dirty="0" smtClean="0"/>
              <a:t>/</a:t>
            </a:r>
            <a:r>
              <a:rPr lang="de-DE" dirty="0" err="1" smtClean="0"/>
              <a:t>crcrzr</a:t>
            </a:r>
            <a:r>
              <a:rPr lang="de-DE" dirty="0" smtClean="0"/>
              <a:t> </a:t>
            </a:r>
          </a:p>
        </p:txBody>
      </p:sp>
    </p:spTree>
    <p:extLst>
      <p:ext uri="{BB962C8B-B14F-4D97-AF65-F5344CB8AC3E}">
        <p14:creationId xmlns:p14="http://schemas.microsoft.com/office/powerpoint/2010/main" val="11639653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dirty="0" smtClean="0"/>
              <a:t>Comparison one tile Workbench vs. </a:t>
            </a:r>
            <a:r>
              <a:rPr lang="en-US" dirty="0"/>
              <a:t>Fluent - 250 kW/m2</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25</a:t>
            </a:fld>
            <a:endParaRPr lang="de-DE" dirty="0"/>
          </a:p>
        </p:txBody>
      </p:sp>
      <p:sp>
        <p:nvSpPr>
          <p:cNvPr id="10" name="Rechteck 9"/>
          <p:cNvSpPr/>
          <p:nvPr/>
        </p:nvSpPr>
        <p:spPr>
          <a:xfrm>
            <a:off x="2770497" y="5724846"/>
            <a:ext cx="1437253" cy="369332"/>
          </a:xfrm>
          <a:prstGeom prst="rect">
            <a:avLst/>
          </a:prstGeom>
        </p:spPr>
        <p:txBody>
          <a:bodyPr wrap="none">
            <a:spAutoFit/>
          </a:bodyPr>
          <a:lstStyle/>
          <a:p>
            <a:r>
              <a:rPr lang="en-US" b="1" dirty="0"/>
              <a:t>Workbench</a:t>
            </a:r>
            <a:endParaRPr lang="de-DE" b="1" dirty="0"/>
          </a:p>
        </p:txBody>
      </p:sp>
      <p:sp>
        <p:nvSpPr>
          <p:cNvPr id="11" name="Rechteck 10"/>
          <p:cNvSpPr/>
          <p:nvPr/>
        </p:nvSpPr>
        <p:spPr>
          <a:xfrm>
            <a:off x="9082628" y="5724846"/>
            <a:ext cx="877163" cy="369332"/>
          </a:xfrm>
          <a:prstGeom prst="rect">
            <a:avLst/>
          </a:prstGeom>
        </p:spPr>
        <p:txBody>
          <a:bodyPr wrap="none">
            <a:spAutoFit/>
          </a:bodyPr>
          <a:lstStyle/>
          <a:p>
            <a:r>
              <a:rPr lang="en-US" b="1" dirty="0" smtClean="0"/>
              <a:t>Fluent</a:t>
            </a:r>
            <a:endParaRPr lang="de-DE" b="1" dirty="0"/>
          </a:p>
        </p:txBody>
      </p:sp>
      <p:pic>
        <p:nvPicPr>
          <p:cNvPr id="7" name="Grafik 6"/>
          <p:cNvPicPr>
            <a:picLocks noChangeAspect="1"/>
          </p:cNvPicPr>
          <p:nvPr/>
        </p:nvPicPr>
        <p:blipFill>
          <a:blip r:embed="rId2"/>
          <a:stretch>
            <a:fillRect/>
          </a:stretch>
        </p:blipFill>
        <p:spPr>
          <a:xfrm>
            <a:off x="5775158" y="1463627"/>
            <a:ext cx="6416842" cy="3627443"/>
          </a:xfrm>
          <a:prstGeom prst="rect">
            <a:avLst/>
          </a:prstGeom>
        </p:spPr>
      </p:pic>
      <p:pic>
        <p:nvPicPr>
          <p:cNvPr id="8" name="Grafik 7"/>
          <p:cNvPicPr>
            <a:picLocks noChangeAspect="1"/>
          </p:cNvPicPr>
          <p:nvPr/>
        </p:nvPicPr>
        <p:blipFill rotWithShape="1">
          <a:blip r:embed="rId3"/>
          <a:srcRect r="35676"/>
          <a:stretch/>
        </p:blipFill>
        <p:spPr>
          <a:xfrm>
            <a:off x="1" y="1465760"/>
            <a:ext cx="5814628" cy="4062204"/>
          </a:xfrm>
          <a:prstGeom prst="rect">
            <a:avLst/>
          </a:prstGeom>
        </p:spPr>
      </p:pic>
      <p:pic>
        <p:nvPicPr>
          <p:cNvPr id="14" name="Grafik 13"/>
          <p:cNvPicPr>
            <a:picLocks noChangeAspect="1"/>
          </p:cNvPicPr>
          <p:nvPr/>
        </p:nvPicPr>
        <p:blipFill rotWithShape="1">
          <a:blip r:embed="rId3"/>
          <a:srcRect t="24012" r="92398" b="47339"/>
          <a:stretch/>
        </p:blipFill>
        <p:spPr>
          <a:xfrm>
            <a:off x="69274" y="2402378"/>
            <a:ext cx="1161010" cy="1966231"/>
          </a:xfrm>
          <a:prstGeom prst="rect">
            <a:avLst/>
          </a:prstGeom>
        </p:spPr>
      </p:pic>
    </p:spTree>
    <p:extLst>
      <p:ext uri="{BB962C8B-B14F-4D97-AF65-F5344CB8AC3E}">
        <p14:creationId xmlns:p14="http://schemas.microsoft.com/office/powerpoint/2010/main" val="7568633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13"/>
          </p:nvPr>
        </p:nvSpPr>
        <p:spPr>
          <a:xfrm>
            <a:off x="530702" y="888533"/>
            <a:ext cx="10801349" cy="4772024"/>
          </a:xfrm>
        </p:spPr>
        <p:txBody>
          <a:bodyPr/>
          <a:lstStyle/>
          <a:p>
            <a:pPr marL="285750" indent="-285750">
              <a:buFont typeface="Arial" panose="020B0604020202020204" pitchFamily="34" charset="0"/>
              <a:buChar char="•"/>
            </a:pPr>
            <a:endParaRPr lang="de-DE" dirty="0"/>
          </a:p>
          <a:p>
            <a:pPr marL="285750" indent="-285750">
              <a:buFont typeface="Arial" panose="020B0604020202020204" pitchFamily="34" charset="0"/>
              <a:buChar char="•"/>
            </a:pPr>
            <a:r>
              <a:rPr lang="de-DE" dirty="0" smtClean="0"/>
              <a:t>Film </a:t>
            </a:r>
            <a:r>
              <a:rPr lang="de-DE" dirty="0" err="1" smtClean="0"/>
              <a:t>coefficient</a:t>
            </a:r>
            <a:r>
              <a:rPr lang="de-DE" dirty="0" smtClean="0"/>
              <a:t> </a:t>
            </a:r>
            <a:r>
              <a:rPr lang="de-DE" dirty="0" err="1" smtClean="0"/>
              <a:t>for</a:t>
            </a:r>
            <a:r>
              <a:rPr lang="de-DE" dirty="0" smtClean="0"/>
              <a:t> </a:t>
            </a:r>
            <a:r>
              <a:rPr lang="de-DE" dirty="0" err="1" smtClean="0"/>
              <a:t>water</a:t>
            </a:r>
            <a:r>
              <a:rPr lang="de-DE" dirty="0" smtClean="0"/>
              <a:t> </a:t>
            </a:r>
            <a:r>
              <a:rPr lang="de-DE" dirty="0" err="1" smtClean="0"/>
              <a:t>cooled</a:t>
            </a:r>
            <a:r>
              <a:rPr lang="de-DE" dirty="0" smtClean="0"/>
              <a:t> </a:t>
            </a:r>
            <a:r>
              <a:rPr lang="de-DE" dirty="0" err="1" smtClean="0"/>
              <a:t>pipes</a:t>
            </a:r>
            <a:r>
              <a:rPr lang="de-DE" dirty="0" smtClean="0"/>
              <a:t>, </a:t>
            </a:r>
            <a:r>
              <a:rPr lang="de-DE" dirty="0" err="1" smtClean="0"/>
              <a:t>reference</a:t>
            </a:r>
            <a:r>
              <a:rPr lang="de-DE" dirty="0" smtClean="0"/>
              <a:t>: </a:t>
            </a:r>
            <a:r>
              <a:rPr lang="en-US" dirty="0"/>
              <a:t>Heat transfer coefficients for turbulent pipe </a:t>
            </a:r>
            <a:r>
              <a:rPr lang="en-US" dirty="0" smtClean="0"/>
              <a:t>flows, Andre </a:t>
            </a:r>
            <a:r>
              <a:rPr lang="en-US" dirty="0" err="1" smtClean="0"/>
              <a:t>Carsl</a:t>
            </a:r>
            <a:r>
              <a:rPr lang="en-US" dirty="0" smtClean="0"/>
              <a:t>, </a:t>
            </a:r>
            <a:r>
              <a:rPr lang="de-DE" i="1" u="sng" dirty="0"/>
              <a:t>1-ACH00AC400</a:t>
            </a:r>
            <a:r>
              <a:rPr lang="de-DE" dirty="0"/>
              <a:t> </a:t>
            </a:r>
            <a:r>
              <a:rPr lang="de-DE" dirty="0" smtClean="0"/>
              <a:t>, </a:t>
            </a:r>
            <a:r>
              <a:rPr lang="de-DE" i="1" u="sng" dirty="0"/>
              <a:t>-T0002.0 </a:t>
            </a:r>
            <a:r>
              <a:rPr lang="en-US" dirty="0"/>
              <a:t>			 				</a:t>
            </a:r>
            <a:r>
              <a:rPr lang="de-DE" dirty="0" smtClean="0"/>
              <a:t> </a:t>
            </a:r>
          </a:p>
          <a:p>
            <a:r>
              <a:rPr lang="de-DE" dirty="0" smtClean="0"/>
              <a:t>						</a:t>
            </a:r>
            <a:r>
              <a:rPr lang="de-DE" dirty="0"/>
              <a:t>	</a:t>
            </a:r>
            <a:r>
              <a:rPr lang="de-DE" dirty="0" smtClean="0"/>
              <a:t>- </a:t>
            </a:r>
            <a:r>
              <a:rPr lang="de-DE" b="0" dirty="0" err="1" smtClean="0"/>
              <a:t>used</a:t>
            </a:r>
            <a:r>
              <a:rPr lang="de-DE" b="0" dirty="0" smtClean="0"/>
              <a:t> </a:t>
            </a:r>
            <a:r>
              <a:rPr lang="de-DE" b="0" dirty="0" err="1" smtClean="0"/>
              <a:t>coeff</a:t>
            </a:r>
            <a:r>
              <a:rPr lang="de-DE" b="0" dirty="0" smtClean="0"/>
              <a:t>.: 17 000 W/</a:t>
            </a:r>
            <a:r>
              <a:rPr lang="de-DE" b="0" dirty="0" err="1" smtClean="0"/>
              <a:t>mK</a:t>
            </a:r>
            <a:endParaRPr lang="de-DE" b="0" dirty="0"/>
          </a:p>
          <a:p>
            <a:endParaRPr lang="de-DE" dirty="0" smtClean="0"/>
          </a:p>
        </p:txBody>
      </p:sp>
      <p:sp>
        <p:nvSpPr>
          <p:cNvPr id="3" name="Titel 2"/>
          <p:cNvSpPr>
            <a:spLocks noGrp="1"/>
          </p:cNvSpPr>
          <p:nvPr>
            <p:ph type="title"/>
          </p:nvPr>
        </p:nvSpPr>
        <p:spPr/>
        <p:txBody>
          <a:bodyPr/>
          <a:lstStyle/>
          <a:p>
            <a:r>
              <a:rPr lang="en-US" dirty="0" smtClean="0"/>
              <a:t>Questions</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26</a:t>
            </a:fld>
            <a:endParaRPr lang="de-DE" dirty="0"/>
          </a:p>
        </p:txBody>
      </p:sp>
      <p:pic>
        <p:nvPicPr>
          <p:cNvPr id="10" name="Grafik 9"/>
          <p:cNvPicPr>
            <a:picLocks noChangeAspect="1"/>
          </p:cNvPicPr>
          <p:nvPr/>
        </p:nvPicPr>
        <p:blipFill>
          <a:blip r:embed="rId2"/>
          <a:stretch>
            <a:fillRect/>
          </a:stretch>
        </p:blipFill>
        <p:spPr>
          <a:xfrm>
            <a:off x="132374" y="2113656"/>
            <a:ext cx="5270206" cy="4209698"/>
          </a:xfrm>
          <a:prstGeom prst="rect">
            <a:avLst/>
          </a:prstGeom>
        </p:spPr>
      </p:pic>
      <p:pic>
        <p:nvPicPr>
          <p:cNvPr id="11" name="Grafik 10"/>
          <p:cNvPicPr>
            <a:picLocks noChangeAspect="1"/>
          </p:cNvPicPr>
          <p:nvPr/>
        </p:nvPicPr>
        <p:blipFill>
          <a:blip r:embed="rId3"/>
          <a:stretch>
            <a:fillRect/>
          </a:stretch>
        </p:blipFill>
        <p:spPr>
          <a:xfrm>
            <a:off x="4946408" y="2477320"/>
            <a:ext cx="7187749" cy="3349582"/>
          </a:xfrm>
          <a:prstGeom prst="rect">
            <a:avLst/>
          </a:prstGeom>
        </p:spPr>
      </p:pic>
      <p:sp>
        <p:nvSpPr>
          <p:cNvPr id="13" name="Rechteck 12"/>
          <p:cNvSpPr/>
          <p:nvPr/>
        </p:nvSpPr>
        <p:spPr>
          <a:xfrm>
            <a:off x="7643701" y="4874140"/>
            <a:ext cx="2249334" cy="369332"/>
          </a:xfrm>
          <a:prstGeom prst="rect">
            <a:avLst/>
          </a:prstGeom>
        </p:spPr>
        <p:txBody>
          <a:bodyPr wrap="none">
            <a:spAutoFit/>
          </a:bodyPr>
          <a:lstStyle/>
          <a:p>
            <a:r>
              <a:rPr lang="de-DE" b="1" dirty="0" err="1" smtClean="0"/>
              <a:t>Fluent</a:t>
            </a:r>
            <a:r>
              <a:rPr lang="de-DE" b="1" dirty="0" smtClean="0"/>
              <a:t> </a:t>
            </a:r>
            <a:r>
              <a:rPr lang="de-DE" b="1" dirty="0" err="1" smtClean="0"/>
              <a:t>result</a:t>
            </a:r>
            <a:r>
              <a:rPr lang="de-DE" b="1" dirty="0" smtClean="0"/>
              <a:t> - HTC</a:t>
            </a:r>
          </a:p>
        </p:txBody>
      </p:sp>
      <p:sp>
        <p:nvSpPr>
          <p:cNvPr id="15" name="Rechteck 14"/>
          <p:cNvSpPr/>
          <p:nvPr/>
        </p:nvSpPr>
        <p:spPr>
          <a:xfrm>
            <a:off x="530702" y="6224442"/>
            <a:ext cx="11147282" cy="369332"/>
          </a:xfrm>
          <a:prstGeom prst="rect">
            <a:avLst/>
          </a:prstGeom>
        </p:spPr>
        <p:txBody>
          <a:bodyPr wrap="none">
            <a:spAutoFit/>
          </a:bodyPr>
          <a:lstStyle/>
          <a:p>
            <a:r>
              <a:rPr lang="de-DE" b="1" dirty="0" smtClean="0"/>
              <a:t>HTC 10 500 W/m2/K </a:t>
            </a:r>
            <a:r>
              <a:rPr lang="de-DE" b="1" dirty="0" err="1" smtClean="0"/>
              <a:t>applied</a:t>
            </a:r>
            <a:r>
              <a:rPr lang="de-DE" b="1" dirty="0" smtClean="0"/>
              <a:t> </a:t>
            </a:r>
            <a:r>
              <a:rPr lang="de-DE" b="1" dirty="0" err="1" smtClean="0"/>
              <a:t>to</a:t>
            </a:r>
            <a:r>
              <a:rPr lang="de-DE" b="1" dirty="0" smtClean="0"/>
              <a:t> </a:t>
            </a:r>
            <a:r>
              <a:rPr lang="de-DE" b="1" dirty="0" err="1" smtClean="0"/>
              <a:t>Workbench</a:t>
            </a:r>
            <a:r>
              <a:rPr lang="de-DE" b="1" dirty="0" smtClean="0"/>
              <a:t> </a:t>
            </a:r>
            <a:r>
              <a:rPr lang="de-DE" b="1" dirty="0" err="1" smtClean="0"/>
              <a:t>simulation</a:t>
            </a:r>
            <a:r>
              <a:rPr lang="de-DE" b="1" dirty="0" smtClean="0"/>
              <a:t> = </a:t>
            </a:r>
            <a:r>
              <a:rPr lang="de-DE" b="1" dirty="0" err="1" smtClean="0"/>
              <a:t>Workbench</a:t>
            </a:r>
            <a:r>
              <a:rPr lang="de-DE" b="1" dirty="0" smtClean="0"/>
              <a:t> </a:t>
            </a:r>
            <a:r>
              <a:rPr lang="de-DE" b="1" dirty="0" err="1" smtClean="0"/>
              <a:t>results</a:t>
            </a:r>
            <a:r>
              <a:rPr lang="de-DE" b="1" dirty="0" smtClean="0"/>
              <a:t> </a:t>
            </a:r>
            <a:r>
              <a:rPr lang="de-DE" b="1" dirty="0" err="1" smtClean="0"/>
              <a:t>match</a:t>
            </a:r>
            <a:r>
              <a:rPr lang="de-DE" b="1" dirty="0" smtClean="0"/>
              <a:t> </a:t>
            </a:r>
            <a:r>
              <a:rPr lang="de-DE" b="1" dirty="0" err="1" smtClean="0"/>
              <a:t>Fluent</a:t>
            </a:r>
            <a:r>
              <a:rPr lang="de-DE" b="1" dirty="0" smtClean="0"/>
              <a:t> </a:t>
            </a:r>
            <a:r>
              <a:rPr lang="de-DE" b="1" dirty="0" err="1" smtClean="0"/>
              <a:t>simulation</a:t>
            </a:r>
            <a:r>
              <a:rPr lang="de-DE" b="1" dirty="0" smtClean="0"/>
              <a:t> </a:t>
            </a:r>
          </a:p>
        </p:txBody>
      </p:sp>
    </p:spTree>
    <p:extLst>
      <p:ext uri="{BB962C8B-B14F-4D97-AF65-F5344CB8AC3E}">
        <p14:creationId xmlns:p14="http://schemas.microsoft.com/office/powerpoint/2010/main" val="35714417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13"/>
          </p:nvPr>
        </p:nvSpPr>
        <p:spPr/>
        <p:txBody>
          <a:bodyPr/>
          <a:lstStyle/>
          <a:p>
            <a:endParaRPr lang="de-DE"/>
          </a:p>
        </p:txBody>
      </p:sp>
      <p:sp>
        <p:nvSpPr>
          <p:cNvPr id="3" name="Titel 2"/>
          <p:cNvSpPr>
            <a:spLocks noGrp="1"/>
          </p:cNvSpPr>
          <p:nvPr>
            <p:ph type="title"/>
          </p:nvPr>
        </p:nvSpPr>
        <p:spPr/>
        <p:txBody>
          <a:bodyPr/>
          <a:lstStyle/>
          <a:p>
            <a:r>
              <a:rPr lang="de-DE" dirty="0"/>
              <a:t>Zyklischer Belastungstest einer </a:t>
            </a:r>
            <a:r>
              <a:rPr lang="de-DE" dirty="0" err="1"/>
              <a:t>Baffle</a:t>
            </a:r>
            <a:r>
              <a:rPr lang="de-DE" dirty="0"/>
              <a:t>-Probe </a:t>
            </a:r>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27</a:t>
            </a:fld>
            <a:endParaRPr lang="de-DE" dirty="0"/>
          </a:p>
        </p:txBody>
      </p:sp>
      <p:pic>
        <p:nvPicPr>
          <p:cNvPr id="7" name="Grafik 6"/>
          <p:cNvPicPr>
            <a:picLocks noChangeAspect="1"/>
          </p:cNvPicPr>
          <p:nvPr/>
        </p:nvPicPr>
        <p:blipFill rotWithShape="1">
          <a:blip r:embed="rId2"/>
          <a:srcRect l="53768" t="9430" r="5420" b="24086"/>
          <a:stretch/>
        </p:blipFill>
        <p:spPr>
          <a:xfrm>
            <a:off x="2025571" y="2003367"/>
            <a:ext cx="8099331" cy="4123113"/>
          </a:xfrm>
          <a:prstGeom prst="rect">
            <a:avLst/>
          </a:prstGeom>
        </p:spPr>
      </p:pic>
    </p:spTree>
    <p:extLst>
      <p:ext uri="{BB962C8B-B14F-4D97-AF65-F5344CB8AC3E}">
        <p14:creationId xmlns:p14="http://schemas.microsoft.com/office/powerpoint/2010/main" val="291659266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13"/>
          </p:nvPr>
        </p:nvSpPr>
        <p:spPr>
          <a:xfrm>
            <a:off x="1224715" y="443471"/>
            <a:ext cx="10801349" cy="4772024"/>
          </a:xfrm>
        </p:spPr>
        <p:txBody>
          <a:bodyPr/>
          <a:lstStyle/>
          <a:p>
            <a:endParaRPr lang="de-DE" dirty="0" smtClean="0"/>
          </a:p>
          <a:p>
            <a:pPr marL="285750" indent="-285750">
              <a:buFont typeface="Arial" panose="020B0604020202020204" pitchFamily="34" charset="0"/>
              <a:buChar char="•"/>
            </a:pPr>
            <a:r>
              <a:rPr lang="de-DE" dirty="0" smtClean="0"/>
              <a:t>INLET / OUTLET </a:t>
            </a:r>
            <a:r>
              <a:rPr lang="de-DE" dirty="0" err="1" smtClean="0"/>
              <a:t>positions</a:t>
            </a:r>
            <a:endParaRPr lang="de-DE" dirty="0" smtClean="0"/>
          </a:p>
          <a:p>
            <a:pPr marL="285750" indent="-285750">
              <a:buFont typeface="Arial" panose="020B0604020202020204" pitchFamily="34" charset="0"/>
              <a:buChar char="•"/>
            </a:pPr>
            <a:endParaRPr lang="de-DE" dirty="0"/>
          </a:p>
        </p:txBody>
      </p:sp>
      <p:sp>
        <p:nvSpPr>
          <p:cNvPr id="3" name="Titel 2"/>
          <p:cNvSpPr>
            <a:spLocks noGrp="1"/>
          </p:cNvSpPr>
          <p:nvPr>
            <p:ph type="title"/>
          </p:nvPr>
        </p:nvSpPr>
        <p:spPr/>
        <p:txBody>
          <a:bodyPr/>
          <a:lstStyle/>
          <a:p>
            <a:r>
              <a:rPr lang="en-US" dirty="0" smtClean="0"/>
              <a:t>Questions</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28</a:t>
            </a:fld>
            <a:endParaRPr lang="de-DE" dirty="0"/>
          </a:p>
        </p:txBody>
      </p:sp>
      <p:pic>
        <p:nvPicPr>
          <p:cNvPr id="11" name="Grafik 10"/>
          <p:cNvPicPr>
            <a:picLocks noChangeAspect="1"/>
          </p:cNvPicPr>
          <p:nvPr/>
        </p:nvPicPr>
        <p:blipFill>
          <a:blip r:embed="rId2"/>
          <a:stretch>
            <a:fillRect/>
          </a:stretch>
        </p:blipFill>
        <p:spPr>
          <a:xfrm>
            <a:off x="555181" y="1409665"/>
            <a:ext cx="11296801" cy="5080033"/>
          </a:xfrm>
          <a:prstGeom prst="rect">
            <a:avLst/>
          </a:prstGeom>
        </p:spPr>
      </p:pic>
      <p:sp>
        <p:nvSpPr>
          <p:cNvPr id="12" name="Textfeld 11"/>
          <p:cNvSpPr txBox="1"/>
          <p:nvPr/>
        </p:nvSpPr>
        <p:spPr>
          <a:xfrm>
            <a:off x="8258476" y="1704948"/>
            <a:ext cx="591509" cy="267894"/>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lIns="0" tIns="0" rIns="0" bIns="0" rtlCol="0" anchor="t" anchorCtr="0">
            <a:spAutoFit/>
          </a:bodyPr>
          <a:lstStyle/>
          <a:p>
            <a:pPr algn="l">
              <a:lnSpc>
                <a:spcPts val="2300"/>
              </a:lnSpc>
              <a:spcBef>
                <a:spcPts val="1150"/>
              </a:spcBef>
            </a:pPr>
            <a:r>
              <a:rPr lang="de-DE" sz="1600" b="1" dirty="0" smtClean="0">
                <a:effectLst>
                  <a:outerShdw blurRad="38100" dist="38100" dir="2700000" algn="tl">
                    <a:srgbClr val="000000">
                      <a:alpha val="43137"/>
                    </a:srgbClr>
                  </a:outerShdw>
                </a:effectLst>
              </a:rPr>
              <a:t>INLET</a:t>
            </a:r>
          </a:p>
        </p:txBody>
      </p:sp>
      <p:sp>
        <p:nvSpPr>
          <p:cNvPr id="13" name="Textfeld 12"/>
          <p:cNvSpPr txBox="1"/>
          <p:nvPr/>
        </p:nvSpPr>
        <p:spPr>
          <a:xfrm>
            <a:off x="8430127" y="3949681"/>
            <a:ext cx="591509" cy="267894"/>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lIns="0" tIns="0" rIns="0" bIns="0" rtlCol="0" anchor="t" anchorCtr="0">
            <a:spAutoFit/>
          </a:bodyPr>
          <a:lstStyle/>
          <a:p>
            <a:pPr algn="l">
              <a:lnSpc>
                <a:spcPts val="2300"/>
              </a:lnSpc>
              <a:spcBef>
                <a:spcPts val="1150"/>
              </a:spcBef>
            </a:pPr>
            <a:r>
              <a:rPr lang="de-DE" sz="1600" b="1" dirty="0" smtClean="0">
                <a:effectLst>
                  <a:outerShdw blurRad="38100" dist="38100" dir="2700000" algn="tl">
                    <a:srgbClr val="000000">
                      <a:alpha val="43137"/>
                    </a:srgbClr>
                  </a:outerShdw>
                </a:effectLst>
              </a:rPr>
              <a:t>INLET</a:t>
            </a:r>
          </a:p>
        </p:txBody>
      </p:sp>
      <p:sp>
        <p:nvSpPr>
          <p:cNvPr id="14" name="Textfeld 13"/>
          <p:cNvSpPr txBox="1"/>
          <p:nvPr/>
        </p:nvSpPr>
        <p:spPr>
          <a:xfrm>
            <a:off x="5187806" y="4350291"/>
            <a:ext cx="591509" cy="267894"/>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lIns="0" tIns="0" rIns="0" bIns="0" rtlCol="0" anchor="t" anchorCtr="0">
            <a:spAutoFit/>
          </a:bodyPr>
          <a:lstStyle/>
          <a:p>
            <a:pPr algn="l">
              <a:lnSpc>
                <a:spcPts val="2300"/>
              </a:lnSpc>
              <a:spcBef>
                <a:spcPts val="1150"/>
              </a:spcBef>
            </a:pPr>
            <a:r>
              <a:rPr lang="de-DE" sz="1600" b="1" dirty="0" smtClean="0">
                <a:effectLst>
                  <a:outerShdw blurRad="38100" dist="38100" dir="2700000" algn="tl">
                    <a:srgbClr val="000000">
                      <a:alpha val="43137"/>
                    </a:srgbClr>
                  </a:outerShdw>
                </a:effectLst>
              </a:rPr>
              <a:t>INLET</a:t>
            </a:r>
          </a:p>
        </p:txBody>
      </p:sp>
      <p:sp>
        <p:nvSpPr>
          <p:cNvPr id="15" name="Ellipse 14"/>
          <p:cNvSpPr/>
          <p:nvPr/>
        </p:nvSpPr>
        <p:spPr>
          <a:xfrm>
            <a:off x="8453059" y="2025246"/>
            <a:ext cx="202341" cy="182880"/>
          </a:xfrm>
          <a:prstGeom prst="ellipse">
            <a:avLst/>
          </a:prstGeom>
          <a:solidFill>
            <a:schemeClr val="tx1"/>
          </a:solidFill>
          <a:ln w="19050" cmpd="sng">
            <a:noFill/>
            <a:prstDash val="dash"/>
            <a:tailEnd type="triangle" w="lg" len="med"/>
          </a:ln>
        </p:spPr>
        <p:style>
          <a:lnRef idx="1">
            <a:schemeClr val="accent1"/>
          </a:lnRef>
          <a:fillRef idx="0">
            <a:schemeClr val="accent1"/>
          </a:fillRef>
          <a:effectRef idx="0">
            <a:schemeClr val="accent1"/>
          </a:effectRef>
          <a:fontRef idx="minor">
            <a:schemeClr val="tx1"/>
          </a:fontRef>
        </p:style>
        <p:txBody>
          <a:bodyPr wrap="square" lIns="144000" tIns="108000" rIns="144000" bIns="144000" rtlCol="0" anchor="t" anchorCtr="0"/>
          <a:lstStyle/>
          <a:p>
            <a:pPr algn="l">
              <a:spcBef>
                <a:spcPts val="1150"/>
              </a:spcBef>
              <a:buClr>
                <a:srgbClr val="116656"/>
              </a:buClr>
              <a:buSzPct val="120000"/>
            </a:pPr>
            <a:endParaRPr lang="de-DE" sz="1300" b="1" dirty="0" smtClean="0">
              <a:solidFill>
                <a:srgbClr val="FF0000"/>
              </a:solidFill>
            </a:endParaRPr>
          </a:p>
        </p:txBody>
      </p:sp>
      <p:sp>
        <p:nvSpPr>
          <p:cNvPr id="16" name="Ellipse 15"/>
          <p:cNvSpPr/>
          <p:nvPr/>
        </p:nvSpPr>
        <p:spPr>
          <a:xfrm>
            <a:off x="8227786" y="3821279"/>
            <a:ext cx="202341" cy="182880"/>
          </a:xfrm>
          <a:prstGeom prst="ellipse">
            <a:avLst/>
          </a:prstGeom>
          <a:solidFill>
            <a:schemeClr val="tx1"/>
          </a:solidFill>
          <a:ln w="19050" cmpd="sng">
            <a:noFill/>
            <a:prstDash val="dash"/>
            <a:tailEnd type="triangle" w="lg" len="med"/>
          </a:ln>
        </p:spPr>
        <p:style>
          <a:lnRef idx="1">
            <a:schemeClr val="accent1"/>
          </a:lnRef>
          <a:fillRef idx="0">
            <a:schemeClr val="accent1"/>
          </a:fillRef>
          <a:effectRef idx="0">
            <a:schemeClr val="accent1"/>
          </a:effectRef>
          <a:fontRef idx="minor">
            <a:schemeClr val="tx1"/>
          </a:fontRef>
        </p:style>
        <p:txBody>
          <a:bodyPr wrap="square" lIns="144000" tIns="108000" rIns="144000" bIns="144000" rtlCol="0" anchor="t" anchorCtr="0"/>
          <a:lstStyle/>
          <a:p>
            <a:pPr algn="l">
              <a:spcBef>
                <a:spcPts val="1150"/>
              </a:spcBef>
              <a:buClr>
                <a:srgbClr val="116656"/>
              </a:buClr>
              <a:buSzPct val="120000"/>
            </a:pPr>
            <a:endParaRPr lang="de-DE" sz="1300" b="1" dirty="0" smtClean="0">
              <a:solidFill>
                <a:srgbClr val="FF0000"/>
              </a:solidFill>
            </a:endParaRPr>
          </a:p>
        </p:txBody>
      </p:sp>
      <p:sp>
        <p:nvSpPr>
          <p:cNvPr id="17" name="Ellipse 16"/>
          <p:cNvSpPr/>
          <p:nvPr/>
        </p:nvSpPr>
        <p:spPr>
          <a:xfrm>
            <a:off x="5832903" y="4392798"/>
            <a:ext cx="202341" cy="182880"/>
          </a:xfrm>
          <a:prstGeom prst="ellipse">
            <a:avLst/>
          </a:prstGeom>
          <a:solidFill>
            <a:schemeClr val="tx1"/>
          </a:solidFill>
          <a:ln w="19050" cmpd="sng">
            <a:noFill/>
            <a:prstDash val="dash"/>
            <a:tailEnd type="triangle" w="lg" len="med"/>
          </a:ln>
        </p:spPr>
        <p:style>
          <a:lnRef idx="1">
            <a:schemeClr val="accent1"/>
          </a:lnRef>
          <a:fillRef idx="0">
            <a:schemeClr val="accent1"/>
          </a:fillRef>
          <a:effectRef idx="0">
            <a:schemeClr val="accent1"/>
          </a:effectRef>
          <a:fontRef idx="minor">
            <a:schemeClr val="tx1"/>
          </a:fontRef>
        </p:style>
        <p:txBody>
          <a:bodyPr wrap="square" lIns="144000" tIns="108000" rIns="144000" bIns="144000" rtlCol="0" anchor="t" anchorCtr="0"/>
          <a:lstStyle/>
          <a:p>
            <a:pPr algn="l">
              <a:spcBef>
                <a:spcPts val="1150"/>
              </a:spcBef>
              <a:buClr>
                <a:srgbClr val="116656"/>
              </a:buClr>
              <a:buSzPct val="120000"/>
            </a:pPr>
            <a:endParaRPr lang="de-DE" sz="1300" b="1" dirty="0" smtClean="0">
              <a:solidFill>
                <a:srgbClr val="FF0000"/>
              </a:solidFill>
            </a:endParaRPr>
          </a:p>
        </p:txBody>
      </p:sp>
    </p:spTree>
    <p:extLst>
      <p:ext uri="{BB962C8B-B14F-4D97-AF65-F5344CB8AC3E}">
        <p14:creationId xmlns:p14="http://schemas.microsoft.com/office/powerpoint/2010/main" val="150511130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13"/>
          </p:nvPr>
        </p:nvSpPr>
        <p:spPr>
          <a:xfrm>
            <a:off x="366078" y="888533"/>
            <a:ext cx="10801349" cy="4772024"/>
          </a:xfrm>
        </p:spPr>
        <p:txBody>
          <a:bodyPr/>
          <a:lstStyle/>
          <a:p>
            <a:endParaRPr lang="de-DE" dirty="0"/>
          </a:p>
          <a:p>
            <a:pPr marL="285750" indent="-285750">
              <a:buFont typeface="Arial" panose="020B0604020202020204" pitchFamily="34" charset="0"/>
              <a:buChar char="•"/>
            </a:pPr>
            <a:r>
              <a:rPr lang="de-DE" dirty="0" err="1" smtClean="0"/>
              <a:t>Thermocouple</a:t>
            </a:r>
            <a:r>
              <a:rPr lang="de-DE" dirty="0" smtClean="0"/>
              <a:t> </a:t>
            </a:r>
            <a:r>
              <a:rPr lang="de-DE" dirty="0" err="1" smtClean="0"/>
              <a:t>measurement</a:t>
            </a:r>
            <a:r>
              <a:rPr lang="de-DE" dirty="0" smtClean="0"/>
              <a:t> </a:t>
            </a:r>
            <a:r>
              <a:rPr lang="de-DE" dirty="0" err="1" smtClean="0"/>
              <a:t>data</a:t>
            </a:r>
            <a:r>
              <a:rPr lang="de-DE" dirty="0" smtClean="0"/>
              <a:t> </a:t>
            </a:r>
            <a:r>
              <a:rPr lang="de-DE" dirty="0" err="1" smtClean="0"/>
              <a:t>and</a:t>
            </a:r>
            <a:r>
              <a:rPr lang="de-DE" dirty="0" smtClean="0"/>
              <a:t> </a:t>
            </a:r>
            <a:r>
              <a:rPr lang="de-DE" dirty="0" err="1" smtClean="0"/>
              <a:t>positions</a:t>
            </a:r>
            <a:endParaRPr lang="de-DE" dirty="0" smtClean="0"/>
          </a:p>
          <a:p>
            <a:pPr marL="465138" lvl="2" indent="-285750"/>
            <a:r>
              <a:rPr lang="en-US" dirty="0"/>
              <a:t>do we really have thermal sensors only in the tip of triangle shaped area?</a:t>
            </a:r>
            <a:r>
              <a:rPr lang="de-DE" dirty="0" smtClean="0"/>
              <a:t> </a:t>
            </a:r>
            <a:endParaRPr lang="de-DE" dirty="0"/>
          </a:p>
        </p:txBody>
      </p:sp>
      <p:sp>
        <p:nvSpPr>
          <p:cNvPr id="3" name="Titel 2"/>
          <p:cNvSpPr>
            <a:spLocks noGrp="1"/>
          </p:cNvSpPr>
          <p:nvPr>
            <p:ph type="title"/>
          </p:nvPr>
        </p:nvSpPr>
        <p:spPr/>
        <p:txBody>
          <a:bodyPr/>
          <a:lstStyle/>
          <a:p>
            <a:r>
              <a:rPr lang="en-US" dirty="0" smtClean="0"/>
              <a:t>Questions</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29</a:t>
            </a:fld>
            <a:endParaRPr lang="de-DE" dirty="0"/>
          </a:p>
        </p:txBody>
      </p:sp>
      <p:pic>
        <p:nvPicPr>
          <p:cNvPr id="10" name="Grafik 9"/>
          <p:cNvPicPr>
            <a:picLocks noChangeAspect="1"/>
          </p:cNvPicPr>
          <p:nvPr/>
        </p:nvPicPr>
        <p:blipFill rotWithShape="1">
          <a:blip r:embed="rId2"/>
          <a:srcRect t="2220"/>
          <a:stretch/>
        </p:blipFill>
        <p:spPr>
          <a:xfrm>
            <a:off x="366078" y="2612091"/>
            <a:ext cx="7202765" cy="3519098"/>
          </a:xfrm>
          <a:prstGeom prst="rect">
            <a:avLst/>
          </a:prstGeom>
        </p:spPr>
      </p:pic>
      <p:pic>
        <p:nvPicPr>
          <p:cNvPr id="12" name="Grafik 11"/>
          <p:cNvPicPr>
            <a:picLocks noChangeAspect="1"/>
          </p:cNvPicPr>
          <p:nvPr/>
        </p:nvPicPr>
        <p:blipFill>
          <a:blip r:embed="rId3"/>
          <a:stretch>
            <a:fillRect/>
          </a:stretch>
        </p:blipFill>
        <p:spPr>
          <a:xfrm>
            <a:off x="4918510" y="2164883"/>
            <a:ext cx="6886173" cy="4395109"/>
          </a:xfrm>
          <a:prstGeom prst="rect">
            <a:avLst/>
          </a:prstGeom>
        </p:spPr>
      </p:pic>
    </p:spTree>
    <p:extLst>
      <p:ext uri="{BB962C8B-B14F-4D97-AF65-F5344CB8AC3E}">
        <p14:creationId xmlns:p14="http://schemas.microsoft.com/office/powerpoint/2010/main" val="394766352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lOwljrLqbAKeirqT9tDIj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AvLHmIlg6ixrRaGTEjx9L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Pvw6CLxiq3S5Do27j6Qo1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AvLHmIlg6ixrRaGTEjx9L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AvLHmIlg6ixrRaGTEjx9L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AvLHmIlg6ixrRaGTEjx9L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lOwljrLqbAKeirqT9tDIj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AvLHmIlg6ixrRaGTEjx9L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Pvw6CLxiq3S5Do27j6Qo1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AvLHmIlg6ixrRaGTEjx9L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AvLHmIlg6ixrRaGTEjx9L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AvLHmIlg6ixrRaGTEjx9Lw"/>
</p:tagLst>
</file>

<file path=ppt/theme/theme1.xml><?xml version="1.0" encoding="utf-8"?>
<a:theme xmlns:a="http://schemas.openxmlformats.org/drawingml/2006/main" name="W7X">
  <a:themeElements>
    <a:clrScheme name="MPG Color Scheme">
      <a:dk1>
        <a:srgbClr val="000000"/>
      </a:dk1>
      <a:lt1>
        <a:srgbClr val="FFFFFF"/>
      </a:lt1>
      <a:dk2>
        <a:srgbClr val="005555"/>
      </a:dk2>
      <a:lt2>
        <a:srgbClr val="C6D325"/>
      </a:lt2>
      <a:accent1>
        <a:srgbClr val="006C66"/>
      </a:accent1>
      <a:accent2>
        <a:srgbClr val="C6D325"/>
      </a:accent2>
      <a:accent3>
        <a:srgbClr val="29485D"/>
      </a:accent3>
      <a:accent4>
        <a:srgbClr val="00B1EA"/>
      </a:accent4>
      <a:accent5>
        <a:srgbClr val="EF7C00"/>
      </a:accent5>
      <a:accent6>
        <a:srgbClr val="EEEEEE"/>
      </a:accent6>
      <a:hlink>
        <a:srgbClr val="005555"/>
      </a:hlink>
      <a:folHlink>
        <a:srgbClr val="A7A7A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19050" cmpd="sng">
          <a:noFill/>
          <a:prstDash val="dash"/>
          <a:tailEnd type="triangle" w="lg" len="med"/>
        </a:ln>
      </a:spPr>
      <a:bodyPr wrap="square" lIns="144000" tIns="108000" rIns="144000" bIns="144000" rtlCol="0" anchor="t" anchorCtr="0"/>
      <a:lstStyle>
        <a:defPPr algn="l">
          <a:spcBef>
            <a:spcPts val="1150"/>
          </a:spcBef>
          <a:buClr>
            <a:srgbClr val="116656"/>
          </a:buClr>
          <a:buSzPct val="120000"/>
          <a:defRPr sz="1300" b="1" dirty="0" smtClean="0">
            <a:solidFill>
              <a:schemeClr val="bg1"/>
            </a:solidFill>
          </a:defRPr>
        </a:defPPr>
      </a:lstStyle>
      <a:style>
        <a:lnRef idx="1">
          <a:schemeClr val="accent1"/>
        </a:lnRef>
        <a:fillRef idx="0">
          <a:schemeClr val="accent1"/>
        </a:fillRef>
        <a:effectRef idx="0">
          <a:schemeClr val="accent1"/>
        </a:effectRef>
        <a:fontRef idx="minor">
          <a:schemeClr val="tx1"/>
        </a:fontRef>
      </a:style>
    </a:spDef>
    <a:lnDef>
      <a:spPr>
        <a:ln w="19050" cmpd="sng">
          <a:prstDash val="dash"/>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chorCtr="0">
        <a:spAutoFit/>
      </a:bodyPr>
      <a:lstStyle>
        <a:defPPr marL="180000" indent="-180000" algn="l">
          <a:lnSpc>
            <a:spcPts val="2300"/>
          </a:lnSpc>
          <a:spcBef>
            <a:spcPts val="1150"/>
          </a:spcBef>
          <a:buFont typeface="Arial" panose="020B0604020202020204" pitchFamily="34" charset="0"/>
          <a:buChar char="•"/>
          <a:defRPr sz="1600" dirty="0" err="1" smtClean="0"/>
        </a:defPPr>
      </a:lstStyle>
    </a:txDef>
  </a:objectDefaults>
  <a:extraClrSchemeLst/>
  <a:custClrLst>
    <a:custClr name="MPG green dark">
      <a:srgbClr val="005555"/>
    </a:custClr>
    <a:custClr name="MPG green light">
      <a:srgbClr val="C6D325"/>
    </a:custClr>
    <a:custClr name="MPG Logo green">
      <a:srgbClr val="006C66"/>
    </a:custClr>
    <a:custClr name="MPG blue dark">
      <a:srgbClr val="29485D"/>
    </a:custClr>
    <a:custClr name="MPG blue light">
      <a:srgbClr val="00B1EA"/>
    </a:custClr>
    <a:custClr name="MPG orange">
      <a:srgbClr val="EF7C00"/>
    </a:custClr>
    <a:custClr name="MPG grey dark">
      <a:srgbClr val="777777"/>
    </a:custClr>
    <a:custClr name="MPG grey">
      <a:srgbClr val="A7A7A8"/>
    </a:custClr>
    <a:custClr name="MPG grey light">
      <a:srgbClr val="EEEEEE"/>
    </a:custClr>
  </a:custClrLst>
  <a:extLst>
    <a:ext uri="{05A4C25C-085E-4340-85A3-A5531E510DB2}">
      <thm15:themeFamily xmlns:thm15="http://schemas.microsoft.com/office/thememl/2012/main" name="Slide Template W7X 2022_Final_v7.potx" id="{95C92FA2-B49F-4845-A52C-E3D11675774C}" vid="{84D73EFA-8736-4355-BF7C-D0635A96761B}"/>
    </a:ext>
  </a:extLst>
</a:theme>
</file>

<file path=ppt/theme/theme2.xml><?xml version="1.0" encoding="utf-8"?>
<a:theme xmlns:a="http://schemas.openxmlformats.org/drawingml/2006/main" name="IPP">
  <a:themeElements>
    <a:clrScheme name="MPG Color Scheme">
      <a:dk1>
        <a:srgbClr val="000000"/>
      </a:dk1>
      <a:lt1>
        <a:srgbClr val="FFFFFF"/>
      </a:lt1>
      <a:dk2>
        <a:srgbClr val="005555"/>
      </a:dk2>
      <a:lt2>
        <a:srgbClr val="C6D325"/>
      </a:lt2>
      <a:accent1>
        <a:srgbClr val="006C66"/>
      </a:accent1>
      <a:accent2>
        <a:srgbClr val="C6D325"/>
      </a:accent2>
      <a:accent3>
        <a:srgbClr val="29485D"/>
      </a:accent3>
      <a:accent4>
        <a:srgbClr val="00B1EA"/>
      </a:accent4>
      <a:accent5>
        <a:srgbClr val="EF7C00"/>
      </a:accent5>
      <a:accent6>
        <a:srgbClr val="EEEEEE"/>
      </a:accent6>
      <a:hlink>
        <a:srgbClr val="005555"/>
      </a:hlink>
      <a:folHlink>
        <a:srgbClr val="A7A7A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19050" cmpd="sng">
          <a:noFill/>
          <a:prstDash val="dash"/>
          <a:tailEnd type="triangle" w="lg" len="med"/>
        </a:ln>
      </a:spPr>
      <a:bodyPr wrap="square" lIns="144000" tIns="108000" rIns="144000" bIns="144000" rtlCol="0" anchor="t" anchorCtr="0"/>
      <a:lstStyle>
        <a:defPPr algn="l">
          <a:spcBef>
            <a:spcPts val="1150"/>
          </a:spcBef>
          <a:buClr>
            <a:srgbClr val="116656"/>
          </a:buClr>
          <a:buSzPct val="120000"/>
          <a:defRPr sz="1300" b="1" dirty="0" smtClean="0">
            <a:solidFill>
              <a:schemeClr val="bg1"/>
            </a:solidFill>
          </a:defRPr>
        </a:defPPr>
      </a:lstStyle>
      <a:style>
        <a:lnRef idx="1">
          <a:schemeClr val="accent1"/>
        </a:lnRef>
        <a:fillRef idx="0">
          <a:schemeClr val="accent1"/>
        </a:fillRef>
        <a:effectRef idx="0">
          <a:schemeClr val="accent1"/>
        </a:effectRef>
        <a:fontRef idx="minor">
          <a:schemeClr val="tx1"/>
        </a:fontRef>
      </a:style>
    </a:spDef>
    <a:lnDef>
      <a:spPr>
        <a:ln w="19050" cmpd="sng">
          <a:prstDash val="dash"/>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chorCtr="0">
        <a:spAutoFit/>
      </a:bodyPr>
      <a:lstStyle>
        <a:defPPr marL="180000" indent="-180000" algn="l">
          <a:lnSpc>
            <a:spcPts val="2300"/>
          </a:lnSpc>
          <a:spcBef>
            <a:spcPts val="1150"/>
          </a:spcBef>
          <a:buFont typeface="Arial" panose="020B0604020202020204" pitchFamily="34" charset="0"/>
          <a:buChar char="•"/>
          <a:defRPr sz="1600" dirty="0" err="1" smtClean="0"/>
        </a:defPPr>
      </a:lstStyle>
    </a:txDef>
  </a:objectDefaults>
  <a:extraClrSchemeLst/>
  <a:custClrLst>
    <a:custClr name="MPG green dark">
      <a:srgbClr val="005555"/>
    </a:custClr>
    <a:custClr name="MPG green light">
      <a:srgbClr val="C6D325"/>
    </a:custClr>
    <a:custClr name="MPG Logo green">
      <a:srgbClr val="006C66"/>
    </a:custClr>
    <a:custClr name="MPG blue dark">
      <a:srgbClr val="29485D"/>
    </a:custClr>
    <a:custClr name="MPG blue light">
      <a:srgbClr val="00B1EA"/>
    </a:custClr>
    <a:custClr name="MPG orange">
      <a:srgbClr val="EF7C00"/>
    </a:custClr>
    <a:custClr name="MPG grey dark">
      <a:srgbClr val="777777"/>
    </a:custClr>
    <a:custClr name="MPG grey">
      <a:srgbClr val="A7A7A8"/>
    </a:custClr>
    <a:custClr name="MPG grey light">
      <a:srgbClr val="EEEEEE"/>
    </a:custClr>
  </a:custClrLst>
  <a:extLst>
    <a:ext uri="{05A4C25C-085E-4340-85A3-A5531E510DB2}">
      <thm15:themeFamily xmlns:thm15="http://schemas.microsoft.com/office/thememl/2012/main" name="Slide Template W7X 2022_Final_v7.potx" id="{95C92FA2-B49F-4845-A52C-E3D11675774C}" vid="{FB26D247-7D62-4E6D-AFAB-EA1FCBC0DD0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Slide Template W7X 2022_Final_v8</Template>
  <TotalTime>0</TotalTime>
  <Words>1047</Words>
  <Application>Microsoft Office PowerPoint</Application>
  <PresentationFormat>Breitbild</PresentationFormat>
  <Paragraphs>278</Paragraphs>
  <Slides>29</Slides>
  <Notes>0</Notes>
  <HiddenSlides>0</HiddenSlides>
  <MMClips>0</MMClips>
  <ScaleCrop>false</ScaleCrop>
  <HeadingPairs>
    <vt:vector size="8" baseType="variant">
      <vt:variant>
        <vt:lpstr>Verwendete Schriftarten</vt:lpstr>
      </vt:variant>
      <vt:variant>
        <vt:i4>7</vt:i4>
      </vt:variant>
      <vt:variant>
        <vt:lpstr>Design</vt:lpstr>
      </vt:variant>
      <vt:variant>
        <vt:i4>2</vt:i4>
      </vt:variant>
      <vt:variant>
        <vt:lpstr>Eingebettete OLE-Server</vt:lpstr>
      </vt:variant>
      <vt:variant>
        <vt:i4>1</vt:i4>
      </vt:variant>
      <vt:variant>
        <vt:lpstr>Folientitel</vt:lpstr>
      </vt:variant>
      <vt:variant>
        <vt:i4>29</vt:i4>
      </vt:variant>
    </vt:vector>
  </HeadingPairs>
  <TitlesOfParts>
    <vt:vector size="39" baseType="lpstr">
      <vt:lpstr>.SF NS Symbols Regular</vt:lpstr>
      <vt:lpstr>Arial</vt:lpstr>
      <vt:lpstr>Arial Narrow</vt:lpstr>
      <vt:lpstr>Calibri</vt:lpstr>
      <vt:lpstr>Cambria Math</vt:lpstr>
      <vt:lpstr>Symbol</vt:lpstr>
      <vt:lpstr>Wingdings 3</vt:lpstr>
      <vt:lpstr>W7X</vt:lpstr>
      <vt:lpstr>IPP</vt:lpstr>
      <vt:lpstr>think-cell Folie</vt:lpstr>
      <vt:lpstr>Thermal analysis of the diam loop in HM31  and Baffle module 9v analysis</vt:lpstr>
      <vt:lpstr>Introduction</vt:lpstr>
      <vt:lpstr>Boundary conditions</vt:lpstr>
      <vt:lpstr>Results: cooling water heat up</vt:lpstr>
      <vt:lpstr>Results temperatures in HSs - 250 kW/m2</vt:lpstr>
      <vt:lpstr>Results temperatures in HSs - 150 kW/m2</vt:lpstr>
      <vt:lpstr>Results temperatures in HSs - 250 kW/m2</vt:lpstr>
      <vt:lpstr>Results temperatures in HSs - CuCrZr - 250 kW/m2</vt:lpstr>
      <vt:lpstr>Results: Heat balance &amp; radiation towards PV – 250 kW/m2</vt:lpstr>
      <vt:lpstr>Results: Heat balance &amp; radiation towards PV – 150 kW/m2</vt:lpstr>
      <vt:lpstr>PV Heat flux – without bolts connecting HS to PV- 250 kW/m2</vt:lpstr>
      <vt:lpstr>PV Heat flux – without bolts connecting HS to PV - 150 kW/m2</vt:lpstr>
      <vt:lpstr>PV Temperature – with bolts connection to the PV</vt:lpstr>
      <vt:lpstr>PV added to the simulation</vt:lpstr>
      <vt:lpstr>Welding the PV cooling pipes</vt:lpstr>
      <vt:lpstr>PV with cooling pipes - temperature profile</vt:lpstr>
      <vt:lpstr>Baffle module 9v transient analysis</vt:lpstr>
      <vt:lpstr>Importing the temperature profile of graphite surface</vt:lpstr>
      <vt:lpstr>Issue #1 - Bolts positions are not properly matching</vt:lpstr>
      <vt:lpstr>Imported surface temperature profile</vt:lpstr>
      <vt:lpstr>Thermocouple results validation</vt:lpstr>
      <vt:lpstr>Issue #2 – How to evaluate the heat flux profile</vt:lpstr>
      <vt:lpstr>Heat flux results – average per tile</vt:lpstr>
      <vt:lpstr>Questions</vt:lpstr>
      <vt:lpstr>Comparison one tile Workbench vs. Fluent - 250 kW/m2</vt:lpstr>
      <vt:lpstr>Questions</vt:lpstr>
      <vt:lpstr>Zyklischer Belastungstest einer Baffle-Probe </vt:lpstr>
      <vt:lpstr>Questions</vt:lpstr>
      <vt:lpstr>Questions</vt:lpstr>
    </vt:vector>
  </TitlesOfParts>
  <Company>Max-Planck-Institut f. Plasmaphysik, Greifswald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 please read before first use (1/2)</dc:title>
  <dc:creator>Mikhail Khokhlov</dc:creator>
  <cp:lastModifiedBy>Vojtech Smolik</cp:lastModifiedBy>
  <cp:revision>161</cp:revision>
  <dcterms:created xsi:type="dcterms:W3CDTF">2022-05-23T12:50:53Z</dcterms:created>
  <dcterms:modified xsi:type="dcterms:W3CDTF">2024-04-18T07:43:18Z</dcterms:modified>
</cp:coreProperties>
</file>