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7" r:id="rId3"/>
    <p:sldId id="259" r:id="rId4"/>
    <p:sldId id="268" r:id="rId5"/>
    <p:sldId id="269" r:id="rId6"/>
    <p:sldId id="261" r:id="rId7"/>
    <p:sldId id="270" r:id="rId8"/>
    <p:sldId id="271" r:id="rId9"/>
    <p:sldId id="274" r:id="rId10"/>
    <p:sldId id="275" r:id="rId11"/>
    <p:sldId id="276" r:id="rId12"/>
    <p:sldId id="277" r:id="rId13"/>
    <p:sldId id="265" r:id="rId14"/>
    <p:sldId id="262" r:id="rId1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Mikhail Khokhlov" initials="mikk" lastIdx="31" clrIdx="0">
    <p:extLst>
      <p:ext uri="{19B8F6BF-5375-455C-9EA6-DF929625EA0E}">
        <p15:presenceInfo xmlns:p15="http://schemas.microsoft.com/office/powerpoint/2012/main" userId="Mikhail Khokhlov"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9" d="100"/>
          <a:sy n="99" d="100"/>
        </p:scale>
        <p:origin x="84" y="4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4-04-17T14:57:16.456" idx="29">
    <p:pos x="3323" y="1088"/>
    <p:text>If it is not to hard, please reshuffle the project: please put the transient to the bottom and 250kW one to the top</p:text>
    <p:extLst>
      <p:ext uri="{C676402C-5697-4E1C-873F-D02D1690AC5C}">
        <p15:threadingInfo xmlns:p15="http://schemas.microsoft.com/office/powerpoint/2012/main" timeZoneBias="-1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4-04-17T15:05:46.824" idx="30">
    <p:pos x="10" y="10"/>
    <p:text>Please separate this slide in two: 1) with the results of radiation calculation (for this please separate the whole circle of HSs in two parts so all of HS can be visible 2) With the explanation of scaling procedure</p:text>
    <p:extLst>
      <p:ext uri="{C676402C-5697-4E1C-873F-D02D1690AC5C}">
        <p15:threadingInfo xmlns:p15="http://schemas.microsoft.com/office/powerpoint/2012/main" timeZoneBias="-1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4-04-17T15:05:46.824" idx="30">
    <p:pos x="10" y="10"/>
    <p:text>Please separate this slide in two: 1) with the results of radiation calculation (for this please separate the whole circle of HSs in two parts so all of HS can be visible 2) With the explanation of scaling procedure</p:text>
    <p:extLst>
      <p:ext uri="{C676402C-5697-4E1C-873F-D02D1690AC5C}">
        <p15:threadingInfo xmlns:p15="http://schemas.microsoft.com/office/powerpoint/2012/main" timeZoneBias="-1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4-04-17T15:15:27.246" idx="31">
    <p:pos x="10" y="10"/>
    <p:text>Please put two more slides like this with two other results from slide 2</p:text>
    <p:extLst>
      <p:ext uri="{C676402C-5697-4E1C-873F-D02D1690AC5C}">
        <p15:threadingInfo xmlns:p15="http://schemas.microsoft.com/office/powerpoint/2012/main" timeZoneBias="-12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24-01-23T08:55:47.029" idx="22">
    <p:pos x="5111" y="1793"/>
    <p:text>this result is folling out of pattern, can you please check once more?</p:text>
    <p:extLst>
      <p:ext uri="{C676402C-5697-4E1C-873F-D02D1690AC5C}">
        <p15:threadingInfo xmlns:p15="http://schemas.microsoft.com/office/powerpoint/2012/main" timeZoneBias="-6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2" dt="2024-01-23T09:08:01.932" idx="28">
    <p:pos x="10" y="10"/>
    <p:text>We need to remind Gunnar</p:text>
    <p:extLst>
      <p:ext uri="{C676402C-5697-4E1C-873F-D02D1690AC5C}">
        <p15:threadingInfo xmlns:p15="http://schemas.microsoft.com/office/powerpoint/2012/main" timeZoneBias="-60"/>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smtClean="0"/>
              <a:t>Titelmasterformat durch Klicken bearbeiten</a:t>
            </a:r>
            <a:endParaRPr lang="de-DE"/>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3202CCEB-0B6D-414B-843A-CA78D9A60681}" type="datetimeFigureOut">
              <a:rPr lang="de-DE" smtClean="0"/>
              <a:t>17.04.2024</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93FB389C-8033-4E64-9854-6D983E1C6194}" type="slidenum">
              <a:rPr lang="de-DE" smtClean="0"/>
              <a:t>‹Nr.›</a:t>
            </a:fld>
            <a:endParaRPr lang="de-DE"/>
          </a:p>
        </p:txBody>
      </p:sp>
    </p:spTree>
    <p:extLst>
      <p:ext uri="{BB962C8B-B14F-4D97-AF65-F5344CB8AC3E}">
        <p14:creationId xmlns:p14="http://schemas.microsoft.com/office/powerpoint/2010/main" val="3492400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3202CCEB-0B6D-414B-843A-CA78D9A60681}" type="datetimeFigureOut">
              <a:rPr lang="de-DE" smtClean="0"/>
              <a:t>17.04.2024</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93FB389C-8033-4E64-9854-6D983E1C6194}" type="slidenum">
              <a:rPr lang="de-DE" smtClean="0"/>
              <a:t>‹Nr.›</a:t>
            </a:fld>
            <a:endParaRPr lang="de-DE"/>
          </a:p>
        </p:txBody>
      </p:sp>
    </p:spTree>
    <p:extLst>
      <p:ext uri="{BB962C8B-B14F-4D97-AF65-F5344CB8AC3E}">
        <p14:creationId xmlns:p14="http://schemas.microsoft.com/office/powerpoint/2010/main" val="871389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smtClean="0"/>
              <a:t>Titelmasterformat durch Klicken bearbeiten</a:t>
            </a:r>
            <a:endParaRPr lang="de-DE"/>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smtClean="0"/>
              <a:t>Formatvorlagen des Textmasters bearbeiten</a:t>
            </a:r>
          </a:p>
        </p:txBody>
      </p:sp>
      <p:sp>
        <p:nvSpPr>
          <p:cNvPr id="4" name="Datumsplatzhalter 3"/>
          <p:cNvSpPr>
            <a:spLocks noGrp="1"/>
          </p:cNvSpPr>
          <p:nvPr>
            <p:ph type="dt" sz="half" idx="10"/>
          </p:nvPr>
        </p:nvSpPr>
        <p:spPr/>
        <p:txBody>
          <a:bodyPr/>
          <a:lstStyle/>
          <a:p>
            <a:fld id="{3202CCEB-0B6D-414B-843A-CA78D9A60681}" type="datetimeFigureOut">
              <a:rPr lang="de-DE" smtClean="0"/>
              <a:t>17.04.2024</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93FB389C-8033-4E64-9854-6D983E1C6194}" type="slidenum">
              <a:rPr lang="de-DE" smtClean="0"/>
              <a:t>‹Nr.›</a:t>
            </a:fld>
            <a:endParaRPr lang="de-DE"/>
          </a:p>
        </p:txBody>
      </p:sp>
    </p:spTree>
    <p:extLst>
      <p:ext uri="{BB962C8B-B14F-4D97-AF65-F5344CB8AC3E}">
        <p14:creationId xmlns:p14="http://schemas.microsoft.com/office/powerpoint/2010/main" val="585076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838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6172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3202CCEB-0B6D-414B-843A-CA78D9A60681}" type="datetimeFigureOut">
              <a:rPr lang="de-DE" smtClean="0"/>
              <a:t>17.04.2024</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FB389C-8033-4E64-9854-6D983E1C6194}" type="slidenum">
              <a:rPr lang="de-DE" smtClean="0"/>
              <a:t>‹Nr.›</a:t>
            </a:fld>
            <a:endParaRPr lang="de-DE"/>
          </a:p>
        </p:txBody>
      </p:sp>
    </p:spTree>
    <p:extLst>
      <p:ext uri="{BB962C8B-B14F-4D97-AF65-F5344CB8AC3E}">
        <p14:creationId xmlns:p14="http://schemas.microsoft.com/office/powerpoint/2010/main" val="2681912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smtClean="0"/>
              <a:t>Titelmasterformat durch Klicken bearbeiten</a:t>
            </a:r>
            <a:endParaRPr lang="de-DE"/>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3202CCEB-0B6D-414B-843A-CA78D9A60681}" type="datetimeFigureOut">
              <a:rPr lang="de-DE" smtClean="0"/>
              <a:t>17.04.2024</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93FB389C-8033-4E64-9854-6D983E1C6194}" type="slidenum">
              <a:rPr lang="de-DE" smtClean="0"/>
              <a:t>‹Nr.›</a:t>
            </a:fld>
            <a:endParaRPr lang="de-DE"/>
          </a:p>
        </p:txBody>
      </p:sp>
    </p:spTree>
    <p:extLst>
      <p:ext uri="{BB962C8B-B14F-4D97-AF65-F5344CB8AC3E}">
        <p14:creationId xmlns:p14="http://schemas.microsoft.com/office/powerpoint/2010/main" val="3893190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3202CCEB-0B6D-414B-843A-CA78D9A60681}" type="datetimeFigureOut">
              <a:rPr lang="de-DE" smtClean="0"/>
              <a:t>17.04.2024</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93FB389C-8033-4E64-9854-6D983E1C6194}" type="slidenum">
              <a:rPr lang="de-DE" smtClean="0"/>
              <a:t>‹Nr.›</a:t>
            </a:fld>
            <a:endParaRPr lang="de-DE"/>
          </a:p>
        </p:txBody>
      </p:sp>
    </p:spTree>
    <p:extLst>
      <p:ext uri="{BB962C8B-B14F-4D97-AF65-F5344CB8AC3E}">
        <p14:creationId xmlns:p14="http://schemas.microsoft.com/office/powerpoint/2010/main" val="884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3202CCEB-0B6D-414B-843A-CA78D9A60681}" type="datetimeFigureOut">
              <a:rPr lang="de-DE" smtClean="0"/>
              <a:t>17.04.2024</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93FB389C-8033-4E64-9854-6D983E1C6194}" type="slidenum">
              <a:rPr lang="de-DE" smtClean="0"/>
              <a:t>‹Nr.›</a:t>
            </a:fld>
            <a:endParaRPr lang="de-DE"/>
          </a:p>
        </p:txBody>
      </p:sp>
    </p:spTree>
    <p:extLst>
      <p:ext uri="{BB962C8B-B14F-4D97-AF65-F5344CB8AC3E}">
        <p14:creationId xmlns:p14="http://schemas.microsoft.com/office/powerpoint/2010/main" val="2803200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de-DE"/>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3202CCEB-0B6D-414B-843A-CA78D9A60681}" type="datetimeFigureOut">
              <a:rPr lang="de-DE" smtClean="0"/>
              <a:t>17.04.2024</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FB389C-8033-4E64-9854-6D983E1C6194}" type="slidenum">
              <a:rPr lang="de-DE" smtClean="0"/>
              <a:t>‹Nr.›</a:t>
            </a:fld>
            <a:endParaRPr lang="de-DE"/>
          </a:p>
        </p:txBody>
      </p:sp>
    </p:spTree>
    <p:extLst>
      <p:ext uri="{BB962C8B-B14F-4D97-AF65-F5344CB8AC3E}">
        <p14:creationId xmlns:p14="http://schemas.microsoft.com/office/powerpoint/2010/main" val="2001553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de-DE"/>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3202CCEB-0B6D-414B-843A-CA78D9A60681}" type="datetimeFigureOut">
              <a:rPr lang="de-DE" smtClean="0"/>
              <a:t>17.04.2024</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FB389C-8033-4E64-9854-6D983E1C6194}" type="slidenum">
              <a:rPr lang="de-DE" smtClean="0"/>
              <a:t>‹Nr.›</a:t>
            </a:fld>
            <a:endParaRPr lang="de-DE"/>
          </a:p>
        </p:txBody>
      </p:sp>
    </p:spTree>
    <p:extLst>
      <p:ext uri="{BB962C8B-B14F-4D97-AF65-F5344CB8AC3E}">
        <p14:creationId xmlns:p14="http://schemas.microsoft.com/office/powerpoint/2010/main" val="2387630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3202CCEB-0B6D-414B-843A-CA78D9A60681}" type="datetimeFigureOut">
              <a:rPr lang="de-DE" smtClean="0"/>
              <a:t>17.04.2024</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93FB389C-8033-4E64-9854-6D983E1C6194}" type="slidenum">
              <a:rPr lang="de-DE" smtClean="0"/>
              <a:t>‹Nr.›</a:t>
            </a:fld>
            <a:endParaRPr lang="de-DE"/>
          </a:p>
        </p:txBody>
      </p:sp>
    </p:spTree>
    <p:extLst>
      <p:ext uri="{BB962C8B-B14F-4D97-AF65-F5344CB8AC3E}">
        <p14:creationId xmlns:p14="http://schemas.microsoft.com/office/powerpoint/2010/main" val="1193495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3202CCEB-0B6D-414B-843A-CA78D9A60681}" type="datetimeFigureOut">
              <a:rPr lang="de-DE" smtClean="0"/>
              <a:t>17.04.2024</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93FB389C-8033-4E64-9854-6D983E1C6194}" type="slidenum">
              <a:rPr lang="de-DE" smtClean="0"/>
              <a:t>‹Nr.›</a:t>
            </a:fld>
            <a:endParaRPr lang="de-DE"/>
          </a:p>
        </p:txBody>
      </p:sp>
    </p:spTree>
    <p:extLst>
      <p:ext uri="{BB962C8B-B14F-4D97-AF65-F5344CB8AC3E}">
        <p14:creationId xmlns:p14="http://schemas.microsoft.com/office/powerpoint/2010/main" val="1559923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el und Inhal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3E053EA-A9E0-4FC3-87BC-5CADB14D4D06}"/>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35" name="think-cell Folie" r:id="rId5" imgW="384" imgH="385" progId="TCLayout.ActiveDocument.1">
                  <p:embed/>
                </p:oleObj>
              </mc:Choice>
              <mc:Fallback>
                <p:oleObj name="think-cell Folie" r:id="rId5" imgW="384" imgH="385" progId="TCLayout.ActiveDocument.1">
                  <p:embed/>
                  <p:pic>
                    <p:nvPicPr>
                      <p:cNvPr id="6" name="Object 5" hidden="1">
                        <a:extLst>
                          <a:ext uri="{FF2B5EF4-FFF2-40B4-BE49-F238E27FC236}">
                            <a16:creationId xmlns:a16="http://schemas.microsoft.com/office/drawing/2014/main" id="{E3E053EA-A9E0-4FC3-87BC-5CADB14D4D0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336F15A-9D0F-40C1-A205-2471F1ECE4E2}"/>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300" b="1" i="0" baseline="0" dirty="0">
              <a:latin typeface="Arial" panose="020B0604020202020204" pitchFamily="34" charset="0"/>
              <a:ea typeface="+mj-ea"/>
              <a:cs typeface="+mj-cs"/>
              <a:sym typeface="Arial" panose="020B0604020202020204" pitchFamily="34" charset="0"/>
            </a:endParaRPr>
          </a:p>
        </p:txBody>
      </p:sp>
      <p:sp>
        <p:nvSpPr>
          <p:cNvPr id="4" name="Inhaltsplatzhalter 3"/>
          <p:cNvSpPr>
            <a:spLocks noGrp="1"/>
          </p:cNvSpPr>
          <p:nvPr>
            <p:ph sz="quarter" idx="13"/>
          </p:nvPr>
        </p:nvSpPr>
        <p:spPr>
          <a:xfrm>
            <a:off x="695326" y="1609726"/>
            <a:ext cx="10801349" cy="4772024"/>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a:p>
        </p:txBody>
      </p:sp>
      <p:sp>
        <p:nvSpPr>
          <p:cNvPr id="11" name="Titel 10"/>
          <p:cNvSpPr>
            <a:spLocks noGrp="1"/>
          </p:cNvSpPr>
          <p:nvPr>
            <p:ph type="title"/>
          </p:nvPr>
        </p:nvSpPr>
        <p:spPr>
          <a:xfrm>
            <a:off x="695326" y="441325"/>
            <a:ext cx="9576471" cy="894416"/>
          </a:xfrm>
        </p:spPr>
        <p:txBody>
          <a:bodyPr/>
          <a:lstStyle>
            <a:lvl1pPr>
              <a:defRPr/>
            </a:lvl1pPr>
          </a:lstStyle>
          <a:p>
            <a:r>
              <a:rPr lang="en-US" smtClean="0"/>
              <a:t>Click to edit Master title style</a:t>
            </a:r>
            <a:endParaRPr lang="de-DE" dirty="0"/>
          </a:p>
        </p:txBody>
      </p:sp>
      <p:sp>
        <p:nvSpPr>
          <p:cNvPr id="2" name="Datumsplatzhalter 1"/>
          <p:cNvSpPr>
            <a:spLocks noGrp="1"/>
          </p:cNvSpPr>
          <p:nvPr>
            <p:ph type="dt" sz="half" idx="14"/>
          </p:nvPr>
        </p:nvSpPr>
        <p:spPr/>
        <p:txBody>
          <a:bodyPr/>
          <a:lstStyle/>
          <a:p>
            <a:r>
              <a:rPr lang="de-DE"/>
              <a:t>Short title</a:t>
            </a:r>
            <a:endParaRPr lang="de-DE" dirty="0"/>
          </a:p>
        </p:txBody>
      </p:sp>
      <p:sp>
        <p:nvSpPr>
          <p:cNvPr id="3" name="Fußzeilenplatzhalter 2"/>
          <p:cNvSpPr>
            <a:spLocks noGrp="1"/>
          </p:cNvSpPr>
          <p:nvPr>
            <p:ph type="ftr" sz="quarter" idx="15"/>
          </p:nvPr>
        </p:nvSpPr>
        <p:spPr/>
        <p:txBody>
          <a:bodyPr/>
          <a:lstStyle/>
          <a:p>
            <a:pPr algn="l">
              <a:tabLst>
                <a:tab pos="9775825" algn="r"/>
                <a:tab pos="10226675" algn="r"/>
              </a:tabLst>
            </a:pPr>
            <a:r>
              <a:rPr lang="de-DE"/>
              <a:t>Max-Planck-Institut für Plasmaphysik | Name | DD.MM.YYYY</a:t>
            </a:r>
            <a:endParaRPr lang="de-DE" dirty="0"/>
          </a:p>
        </p:txBody>
      </p:sp>
      <p:sp>
        <p:nvSpPr>
          <p:cNvPr id="9" name="Foliennummernplatzhalter 8"/>
          <p:cNvSpPr>
            <a:spLocks noGrp="1"/>
          </p:cNvSpPr>
          <p:nvPr>
            <p:ph type="sldNum" sz="quarter" idx="16"/>
          </p:nvPr>
        </p:nvSpPr>
        <p:spPr/>
        <p:txBody>
          <a:bodyPr/>
          <a:lstStyle/>
          <a:p>
            <a:fld id="{3B1A4699-952B-42DA-8DC4-38A59B49610C}" type="slidenum">
              <a:rPr lang="de-DE" smtClean="0"/>
              <a:pPr/>
              <a:t>‹Nr.›</a:t>
            </a:fld>
            <a:endParaRPr lang="de-DE" dirty="0"/>
          </a:p>
        </p:txBody>
      </p:sp>
    </p:spTree>
    <p:extLst>
      <p:ext uri="{BB962C8B-B14F-4D97-AF65-F5344CB8AC3E}">
        <p14:creationId xmlns:p14="http://schemas.microsoft.com/office/powerpoint/2010/main" val="1460033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02CCEB-0B6D-414B-843A-CA78D9A60681}" type="datetimeFigureOut">
              <a:rPr lang="de-DE" smtClean="0"/>
              <a:t>17.04.2024</a:t>
            </a:fld>
            <a:endParaRPr lang="de-DE"/>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FB389C-8033-4E64-9854-6D983E1C6194}" type="slidenum">
              <a:rPr lang="de-DE" smtClean="0"/>
              <a:t>‹Nr.›</a:t>
            </a:fld>
            <a:endParaRPr lang="de-DE"/>
          </a:p>
        </p:txBody>
      </p:sp>
    </p:spTree>
    <p:extLst>
      <p:ext uri="{BB962C8B-B14F-4D97-AF65-F5344CB8AC3E}">
        <p14:creationId xmlns:p14="http://schemas.microsoft.com/office/powerpoint/2010/main" val="2569827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5" Type="http://schemas.openxmlformats.org/officeDocument/2006/relationships/comments" Target="../comments/commen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comments" Target="../comments/comment3.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nhaltsplatzhalter 3"/>
          <p:cNvPicPr>
            <a:picLocks noGrp="1" noChangeAspect="1"/>
          </p:cNvPicPr>
          <p:nvPr>
            <p:ph sz="quarter" idx="13"/>
          </p:nvPr>
        </p:nvPicPr>
        <p:blipFill rotWithShape="1">
          <a:blip r:embed="rId2"/>
          <a:srcRect l="-76" t="164" r="28992" b="-164"/>
          <a:stretch/>
        </p:blipFill>
        <p:spPr>
          <a:xfrm>
            <a:off x="84068" y="1335741"/>
            <a:ext cx="7325142" cy="4772025"/>
          </a:xfrm>
          <a:prstGeom prst="rect">
            <a:avLst/>
          </a:prstGeom>
        </p:spPr>
      </p:pic>
      <p:sp>
        <p:nvSpPr>
          <p:cNvPr id="3" name="Titel 2"/>
          <p:cNvSpPr>
            <a:spLocks noGrp="1"/>
          </p:cNvSpPr>
          <p:nvPr>
            <p:ph type="title"/>
          </p:nvPr>
        </p:nvSpPr>
        <p:spPr/>
        <p:txBody>
          <a:bodyPr/>
          <a:lstStyle/>
          <a:p>
            <a:r>
              <a:rPr lang="de-DE" dirty="0" err="1" smtClean="0"/>
              <a:t>Heat</a:t>
            </a:r>
            <a:r>
              <a:rPr lang="de-DE" dirty="0" smtClean="0"/>
              <a:t> </a:t>
            </a:r>
            <a:r>
              <a:rPr lang="de-DE" dirty="0" err="1" smtClean="0"/>
              <a:t>shield</a:t>
            </a:r>
            <a:r>
              <a:rPr lang="de-DE" dirty="0" smtClean="0"/>
              <a:t> </a:t>
            </a:r>
            <a:r>
              <a:rPr lang="de-DE" dirty="0" err="1" smtClean="0"/>
              <a:t>simulation</a:t>
            </a:r>
            <a:endParaRPr lang="de-DE" dirty="0"/>
          </a:p>
        </p:txBody>
      </p:sp>
      <p:sp>
        <p:nvSpPr>
          <p:cNvPr id="5" name="Textfeld 4"/>
          <p:cNvSpPr txBox="1"/>
          <p:nvPr/>
        </p:nvSpPr>
        <p:spPr>
          <a:xfrm>
            <a:off x="7846647" y="1112886"/>
            <a:ext cx="3894912" cy="369332"/>
          </a:xfrm>
          <a:prstGeom prst="rect">
            <a:avLst/>
          </a:prstGeom>
          <a:noFill/>
        </p:spPr>
        <p:txBody>
          <a:bodyPr wrap="none" rtlCol="0">
            <a:spAutoFit/>
          </a:bodyPr>
          <a:lstStyle/>
          <a:p>
            <a:r>
              <a:rPr lang="de-DE" dirty="0" err="1" smtClean="0"/>
              <a:t>Bolts</a:t>
            </a:r>
            <a:r>
              <a:rPr lang="de-DE" dirty="0" smtClean="0"/>
              <a:t> </a:t>
            </a:r>
            <a:r>
              <a:rPr lang="de-DE" dirty="0" err="1" smtClean="0"/>
              <a:t>attaching</a:t>
            </a:r>
            <a:r>
              <a:rPr lang="de-DE" dirty="0" smtClean="0"/>
              <a:t> HS </a:t>
            </a:r>
            <a:r>
              <a:rPr lang="de-DE" dirty="0" err="1" smtClean="0"/>
              <a:t>to</a:t>
            </a:r>
            <a:r>
              <a:rPr lang="de-DE" dirty="0" smtClean="0"/>
              <a:t> PV – </a:t>
            </a:r>
            <a:r>
              <a:rPr lang="de-DE" dirty="0" err="1" smtClean="0"/>
              <a:t>fixed</a:t>
            </a:r>
            <a:r>
              <a:rPr lang="de-DE" dirty="0" smtClean="0"/>
              <a:t> </a:t>
            </a:r>
            <a:r>
              <a:rPr lang="de-DE" dirty="0" err="1" smtClean="0"/>
              <a:t>to</a:t>
            </a:r>
            <a:r>
              <a:rPr lang="de-DE" dirty="0" smtClean="0"/>
              <a:t> 30 °C</a:t>
            </a:r>
            <a:endParaRPr lang="de-DE" dirty="0"/>
          </a:p>
        </p:txBody>
      </p:sp>
      <p:sp>
        <p:nvSpPr>
          <p:cNvPr id="6" name="Textfeld 5"/>
          <p:cNvSpPr txBox="1"/>
          <p:nvPr/>
        </p:nvSpPr>
        <p:spPr>
          <a:xfrm>
            <a:off x="7846647" y="2368025"/>
            <a:ext cx="4065728" cy="646331"/>
          </a:xfrm>
          <a:prstGeom prst="rect">
            <a:avLst/>
          </a:prstGeom>
          <a:noFill/>
        </p:spPr>
        <p:txBody>
          <a:bodyPr wrap="none" rtlCol="0">
            <a:spAutoFit/>
          </a:bodyPr>
          <a:lstStyle/>
          <a:p>
            <a:r>
              <a:rPr lang="de-DE" dirty="0" err="1" smtClean="0"/>
              <a:t>Water</a:t>
            </a:r>
            <a:r>
              <a:rPr lang="de-DE" dirty="0" smtClean="0"/>
              <a:t> </a:t>
            </a:r>
            <a:r>
              <a:rPr lang="de-DE" dirty="0" err="1" smtClean="0"/>
              <a:t>flow</a:t>
            </a:r>
            <a:r>
              <a:rPr lang="de-DE" dirty="0" smtClean="0"/>
              <a:t> in </a:t>
            </a:r>
            <a:r>
              <a:rPr lang="de-DE" dirty="0" err="1" smtClean="0"/>
              <a:t>pipes</a:t>
            </a:r>
            <a:r>
              <a:rPr lang="de-DE" dirty="0" smtClean="0"/>
              <a:t> </a:t>
            </a:r>
            <a:r>
              <a:rPr lang="de-DE" dirty="0" err="1" smtClean="0"/>
              <a:t>simulated</a:t>
            </a:r>
            <a:r>
              <a:rPr lang="de-DE" dirty="0" smtClean="0"/>
              <a:t> </a:t>
            </a:r>
            <a:r>
              <a:rPr lang="de-DE" dirty="0" err="1" smtClean="0"/>
              <a:t>using</a:t>
            </a:r>
            <a:r>
              <a:rPr lang="de-DE" dirty="0" smtClean="0"/>
              <a:t> Fluid</a:t>
            </a:r>
          </a:p>
          <a:p>
            <a:r>
              <a:rPr lang="de-DE" dirty="0" smtClean="0"/>
              <a:t>Beam </a:t>
            </a:r>
            <a:r>
              <a:rPr lang="de-DE" dirty="0" err="1" smtClean="0"/>
              <a:t>elements</a:t>
            </a:r>
            <a:r>
              <a:rPr lang="de-DE" dirty="0" smtClean="0"/>
              <a:t> = </a:t>
            </a:r>
            <a:r>
              <a:rPr lang="de-DE" dirty="0" err="1" smtClean="0"/>
              <a:t>known</a:t>
            </a:r>
            <a:r>
              <a:rPr lang="de-DE" dirty="0" smtClean="0"/>
              <a:t> </a:t>
            </a:r>
            <a:r>
              <a:rPr lang="de-DE" dirty="0" err="1" smtClean="0"/>
              <a:t>dT</a:t>
            </a:r>
            <a:r>
              <a:rPr lang="de-DE" dirty="0" smtClean="0"/>
              <a:t> per </a:t>
            </a:r>
            <a:r>
              <a:rPr lang="de-DE" dirty="0" err="1" smtClean="0"/>
              <a:t>module</a:t>
            </a:r>
            <a:r>
              <a:rPr lang="de-DE" dirty="0" smtClean="0"/>
              <a:t> </a:t>
            </a:r>
            <a:endParaRPr lang="de-DE" dirty="0"/>
          </a:p>
        </p:txBody>
      </p:sp>
      <p:sp>
        <p:nvSpPr>
          <p:cNvPr id="7" name="Textfeld 6"/>
          <p:cNvSpPr txBox="1"/>
          <p:nvPr/>
        </p:nvSpPr>
        <p:spPr>
          <a:xfrm>
            <a:off x="7787578" y="4008312"/>
            <a:ext cx="3107069" cy="369332"/>
          </a:xfrm>
          <a:prstGeom prst="rect">
            <a:avLst/>
          </a:prstGeom>
          <a:noFill/>
        </p:spPr>
        <p:txBody>
          <a:bodyPr wrap="none" rtlCol="0">
            <a:spAutoFit/>
          </a:bodyPr>
          <a:lstStyle/>
          <a:p>
            <a:r>
              <a:rPr lang="de-DE" dirty="0" err="1" smtClean="0"/>
              <a:t>Sigraflex</a:t>
            </a:r>
            <a:r>
              <a:rPr lang="de-DE" dirty="0" smtClean="0"/>
              <a:t> </a:t>
            </a:r>
            <a:r>
              <a:rPr lang="de-DE" dirty="0" err="1" smtClean="0"/>
              <a:t>simplyfied</a:t>
            </a:r>
            <a:r>
              <a:rPr lang="de-DE" dirty="0" smtClean="0"/>
              <a:t> </a:t>
            </a:r>
            <a:r>
              <a:rPr lang="de-DE" dirty="0" err="1" smtClean="0"/>
              <a:t>to</a:t>
            </a:r>
            <a:r>
              <a:rPr lang="de-DE" dirty="0" smtClean="0"/>
              <a:t> </a:t>
            </a:r>
            <a:r>
              <a:rPr lang="de-DE" dirty="0" err="1" smtClean="0"/>
              <a:t>contact</a:t>
            </a:r>
            <a:r>
              <a:rPr lang="de-DE" dirty="0" smtClean="0"/>
              <a:t>: </a:t>
            </a:r>
            <a:endParaRPr lang="de-DE" dirty="0"/>
          </a:p>
        </p:txBody>
      </p:sp>
      <p:pic>
        <p:nvPicPr>
          <p:cNvPr id="8" name="Grafik 7"/>
          <p:cNvPicPr>
            <a:picLocks noChangeAspect="1"/>
          </p:cNvPicPr>
          <p:nvPr/>
        </p:nvPicPr>
        <p:blipFill rotWithShape="1">
          <a:blip r:embed="rId3"/>
          <a:srcRect t="68776" r="91920" b="24884"/>
          <a:stretch/>
        </p:blipFill>
        <p:spPr>
          <a:xfrm>
            <a:off x="9522368" y="4377644"/>
            <a:ext cx="2330938" cy="571500"/>
          </a:xfrm>
          <a:prstGeom prst="rect">
            <a:avLst/>
          </a:prstGeom>
        </p:spPr>
      </p:pic>
      <p:sp>
        <p:nvSpPr>
          <p:cNvPr id="9" name="Textfeld 8"/>
          <p:cNvSpPr txBox="1"/>
          <p:nvPr/>
        </p:nvSpPr>
        <p:spPr>
          <a:xfrm>
            <a:off x="7787578" y="5133810"/>
            <a:ext cx="4304127" cy="646331"/>
          </a:xfrm>
          <a:prstGeom prst="rect">
            <a:avLst/>
          </a:prstGeom>
          <a:noFill/>
        </p:spPr>
        <p:txBody>
          <a:bodyPr wrap="none" rtlCol="0">
            <a:spAutoFit/>
          </a:bodyPr>
          <a:lstStyle/>
          <a:p>
            <a:r>
              <a:rPr lang="de-DE" dirty="0" smtClean="0"/>
              <a:t>Radiation </a:t>
            </a:r>
            <a:r>
              <a:rPr lang="de-DE" dirty="0" err="1" smtClean="0"/>
              <a:t>from</a:t>
            </a:r>
            <a:r>
              <a:rPr lang="de-DE" dirty="0" smtClean="0"/>
              <a:t> </a:t>
            </a:r>
            <a:r>
              <a:rPr lang="de-DE" dirty="0" err="1" smtClean="0"/>
              <a:t>heat</a:t>
            </a:r>
            <a:r>
              <a:rPr lang="de-DE" dirty="0" smtClean="0"/>
              <a:t> </a:t>
            </a:r>
            <a:r>
              <a:rPr lang="de-DE" dirty="0" err="1" smtClean="0"/>
              <a:t>shield</a:t>
            </a:r>
            <a:r>
              <a:rPr lang="de-DE" dirty="0" smtClean="0"/>
              <a:t> </a:t>
            </a:r>
            <a:r>
              <a:rPr lang="de-DE" dirty="0" err="1" smtClean="0"/>
              <a:t>to</a:t>
            </a:r>
            <a:r>
              <a:rPr lang="de-DE" dirty="0" smtClean="0"/>
              <a:t> PV </a:t>
            </a:r>
            <a:r>
              <a:rPr lang="de-DE" dirty="0" err="1" smtClean="0"/>
              <a:t>considered</a:t>
            </a:r>
            <a:endParaRPr lang="de-DE" dirty="0" smtClean="0"/>
          </a:p>
          <a:p>
            <a:r>
              <a:rPr lang="de-DE" dirty="0" err="1" smtClean="0"/>
              <a:t>Including</a:t>
            </a:r>
            <a:r>
              <a:rPr lang="de-DE" dirty="0" smtClean="0"/>
              <a:t> </a:t>
            </a:r>
            <a:r>
              <a:rPr lang="de-DE" dirty="0" err="1" smtClean="0"/>
              <a:t>pipes</a:t>
            </a:r>
            <a:r>
              <a:rPr lang="de-DE" dirty="0" smtClean="0"/>
              <a:t>, </a:t>
            </a:r>
            <a:r>
              <a:rPr lang="de-DE" dirty="0" err="1" smtClean="0"/>
              <a:t>heat</a:t>
            </a:r>
            <a:r>
              <a:rPr lang="de-DE" dirty="0" smtClean="0"/>
              <a:t> </a:t>
            </a:r>
            <a:r>
              <a:rPr lang="de-DE" dirty="0" err="1" smtClean="0"/>
              <a:t>sinks</a:t>
            </a:r>
            <a:r>
              <a:rPr lang="de-DE" dirty="0" smtClean="0"/>
              <a:t> </a:t>
            </a:r>
            <a:r>
              <a:rPr lang="de-DE" dirty="0" err="1" smtClean="0"/>
              <a:t>and</a:t>
            </a:r>
            <a:r>
              <a:rPr lang="de-DE" dirty="0" smtClean="0"/>
              <a:t> </a:t>
            </a:r>
            <a:r>
              <a:rPr lang="de-DE" dirty="0" err="1" smtClean="0"/>
              <a:t>graphite</a:t>
            </a:r>
            <a:endParaRPr lang="de-DE" dirty="0"/>
          </a:p>
        </p:txBody>
      </p:sp>
      <p:sp>
        <p:nvSpPr>
          <p:cNvPr id="10" name="Rechteck 9"/>
          <p:cNvSpPr/>
          <p:nvPr/>
        </p:nvSpPr>
        <p:spPr>
          <a:xfrm>
            <a:off x="339516" y="6477098"/>
            <a:ext cx="11852484" cy="369332"/>
          </a:xfrm>
          <a:prstGeom prst="rect">
            <a:avLst/>
          </a:prstGeom>
        </p:spPr>
        <p:txBody>
          <a:bodyPr wrap="square">
            <a:spAutoFit/>
          </a:bodyPr>
          <a:lstStyle/>
          <a:p>
            <a:r>
              <a:rPr lang="en-US" dirty="0" smtClean="0"/>
              <a:t>flow rates (applied only on HSs) predicted by </a:t>
            </a:r>
            <a:r>
              <a:rPr lang="en-US" dirty="0" err="1" smtClean="0"/>
              <a:t>KiP</a:t>
            </a:r>
            <a:r>
              <a:rPr lang="en-US" dirty="0" smtClean="0"/>
              <a:t>: Hydraulic calculation of 1st wall cooling loops (OP1 and OP2) 29HDQV v2.0 </a:t>
            </a:r>
            <a:endParaRPr lang="en-US" dirty="0"/>
          </a:p>
        </p:txBody>
      </p:sp>
      <p:sp>
        <p:nvSpPr>
          <p:cNvPr id="11" name="Rechteck 10"/>
          <p:cNvSpPr/>
          <p:nvPr/>
        </p:nvSpPr>
        <p:spPr>
          <a:xfrm>
            <a:off x="7846647" y="1636747"/>
            <a:ext cx="6096000" cy="646331"/>
          </a:xfrm>
          <a:prstGeom prst="rect">
            <a:avLst/>
          </a:prstGeom>
        </p:spPr>
        <p:txBody>
          <a:bodyPr>
            <a:spAutoFit/>
          </a:bodyPr>
          <a:lstStyle/>
          <a:p>
            <a:r>
              <a:rPr lang="en-US" dirty="0" smtClean="0"/>
              <a:t>Inlet temperature 30 °C , </a:t>
            </a:r>
          </a:p>
          <a:p>
            <a:r>
              <a:rPr lang="en-US" dirty="0" smtClean="0"/>
              <a:t>pipe convection 17 000 W/m2C</a:t>
            </a:r>
          </a:p>
        </p:txBody>
      </p:sp>
      <p:cxnSp>
        <p:nvCxnSpPr>
          <p:cNvPr id="13" name="Gerader Verbinder 12"/>
          <p:cNvCxnSpPr/>
          <p:nvPr/>
        </p:nvCxnSpPr>
        <p:spPr>
          <a:xfrm flipH="1">
            <a:off x="4853354" y="1316617"/>
            <a:ext cx="2990286" cy="7950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p:nvPr/>
        </p:nvCxnSpPr>
        <p:spPr>
          <a:xfrm flipH="1">
            <a:off x="4626708" y="1808637"/>
            <a:ext cx="3262472" cy="10727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p:nvCxnSpPr>
        <p:spPr>
          <a:xfrm flipH="1">
            <a:off x="7229231" y="2564803"/>
            <a:ext cx="659949" cy="324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p:nvPr/>
        </p:nvCxnSpPr>
        <p:spPr>
          <a:xfrm flipH="1">
            <a:off x="6940062" y="4192978"/>
            <a:ext cx="906585" cy="3853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p:nvCxnSpPr>
        <p:spPr>
          <a:xfrm flipH="1" flipV="1">
            <a:off x="5556738" y="4276500"/>
            <a:ext cx="2289909" cy="10505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8916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smtClean="0"/>
              <a:t>Heat</a:t>
            </a:r>
            <a:r>
              <a:rPr lang="de-DE" dirty="0" smtClean="0"/>
              <a:t> </a:t>
            </a:r>
            <a:r>
              <a:rPr lang="de-DE" dirty="0" err="1" smtClean="0"/>
              <a:t>load</a:t>
            </a:r>
            <a:r>
              <a:rPr lang="de-DE" dirty="0" smtClean="0"/>
              <a:t> </a:t>
            </a:r>
            <a:r>
              <a:rPr lang="de-DE" dirty="0" err="1" smtClean="0"/>
              <a:t>to</a:t>
            </a:r>
            <a:r>
              <a:rPr lang="de-DE" dirty="0" smtClean="0"/>
              <a:t> </a:t>
            </a:r>
            <a:r>
              <a:rPr lang="de-DE" dirty="0" err="1" smtClean="0"/>
              <a:t>plasma</a:t>
            </a:r>
            <a:r>
              <a:rPr lang="de-DE" dirty="0" smtClean="0"/>
              <a:t> </a:t>
            </a:r>
            <a:r>
              <a:rPr lang="de-DE" dirty="0" err="1" smtClean="0"/>
              <a:t>facing</a:t>
            </a:r>
            <a:r>
              <a:rPr lang="de-DE" dirty="0" smtClean="0"/>
              <a:t> </a:t>
            </a:r>
            <a:r>
              <a:rPr lang="de-DE" dirty="0" err="1" smtClean="0"/>
              <a:t>graphite</a:t>
            </a:r>
            <a:r>
              <a:rPr lang="de-DE" dirty="0" smtClean="0"/>
              <a:t> </a:t>
            </a:r>
            <a:r>
              <a:rPr lang="de-DE" dirty="0" err="1" smtClean="0"/>
              <a:t>tiles</a:t>
            </a:r>
            <a:endParaRPr lang="de-DE" dirty="0"/>
          </a:p>
        </p:txBody>
      </p:sp>
      <p:sp>
        <p:nvSpPr>
          <p:cNvPr id="3" name="Inhaltsplatzhalter 2"/>
          <p:cNvSpPr>
            <a:spLocks noGrp="1"/>
          </p:cNvSpPr>
          <p:nvPr>
            <p:ph idx="1"/>
          </p:nvPr>
        </p:nvSpPr>
        <p:spPr>
          <a:xfrm>
            <a:off x="3358121" y="1690688"/>
            <a:ext cx="7868138" cy="4074623"/>
          </a:xfrm>
        </p:spPr>
        <p:txBody>
          <a:bodyPr/>
          <a:lstStyle/>
          <a:p>
            <a:r>
              <a:rPr lang="de-DE" dirty="0" smtClean="0"/>
              <a:t>4 MW, 90s – </a:t>
            </a:r>
            <a:r>
              <a:rPr lang="de-DE" dirty="0" err="1" smtClean="0"/>
              <a:t>heat</a:t>
            </a:r>
            <a:r>
              <a:rPr lang="de-DE" dirty="0" smtClean="0"/>
              <a:t> </a:t>
            </a:r>
            <a:r>
              <a:rPr lang="de-DE" dirty="0" err="1" smtClean="0"/>
              <a:t>load</a:t>
            </a:r>
            <a:r>
              <a:rPr lang="de-DE" dirty="0" smtClean="0"/>
              <a:t> </a:t>
            </a:r>
            <a:r>
              <a:rPr lang="de-DE" dirty="0" err="1" smtClean="0"/>
              <a:t>profile</a:t>
            </a:r>
            <a:r>
              <a:rPr lang="de-DE" dirty="0" smtClean="0"/>
              <a:t> </a:t>
            </a:r>
            <a:r>
              <a:rPr lang="de-DE" dirty="0" err="1" smtClean="0"/>
              <a:t>is</a:t>
            </a:r>
            <a:r>
              <a:rPr lang="de-DE" dirty="0" smtClean="0"/>
              <a:t> </a:t>
            </a:r>
            <a:r>
              <a:rPr lang="de-DE" dirty="0" err="1" smtClean="0"/>
              <a:t>imported</a:t>
            </a:r>
            <a:r>
              <a:rPr lang="de-DE" dirty="0" smtClean="0"/>
              <a:t> </a:t>
            </a:r>
            <a:r>
              <a:rPr lang="de-DE" dirty="0" err="1" smtClean="0"/>
              <a:t>from</a:t>
            </a:r>
            <a:r>
              <a:rPr lang="de-DE" dirty="0" smtClean="0"/>
              <a:t> a separate </a:t>
            </a:r>
            <a:r>
              <a:rPr lang="de-DE" dirty="0" err="1" smtClean="0"/>
              <a:t>simulation</a:t>
            </a:r>
            <a:r>
              <a:rPr lang="de-DE" dirty="0" smtClean="0"/>
              <a:t> – </a:t>
            </a:r>
            <a:r>
              <a:rPr lang="de-DE" dirty="0" err="1" smtClean="0"/>
              <a:t>shown</a:t>
            </a:r>
            <a:r>
              <a:rPr lang="de-DE" dirty="0" smtClean="0"/>
              <a:t> on </a:t>
            </a:r>
            <a:r>
              <a:rPr lang="de-DE" dirty="0" err="1" smtClean="0"/>
              <a:t>the</a:t>
            </a:r>
            <a:r>
              <a:rPr lang="de-DE" dirty="0" smtClean="0"/>
              <a:t> </a:t>
            </a:r>
            <a:r>
              <a:rPr lang="de-DE" dirty="0" err="1" smtClean="0"/>
              <a:t>next</a:t>
            </a:r>
            <a:r>
              <a:rPr lang="de-DE" dirty="0" smtClean="0"/>
              <a:t> </a:t>
            </a:r>
            <a:r>
              <a:rPr lang="de-DE" dirty="0" err="1" smtClean="0"/>
              <a:t>slide</a:t>
            </a:r>
            <a:endParaRPr lang="de-DE" dirty="0" smtClean="0"/>
          </a:p>
          <a:p>
            <a:endParaRPr lang="de-DE" dirty="0"/>
          </a:p>
          <a:p>
            <a:r>
              <a:rPr lang="de-DE" dirty="0" smtClean="0"/>
              <a:t> </a:t>
            </a:r>
            <a:r>
              <a:rPr lang="en-US" dirty="0" smtClean="0"/>
              <a:t>Uniform heat flux 250 𝑘𝑊/𝑚 and 150 𝑘𝑊/𝑚2 by Specification of Design Loads for In-vessel Components of W7-X, 2AYMBW</a:t>
            </a:r>
          </a:p>
          <a:p>
            <a:endParaRPr lang="en-US" dirty="0" smtClean="0"/>
          </a:p>
          <a:p>
            <a:r>
              <a:rPr lang="de-DE" dirty="0" smtClean="0"/>
              <a:t>4MW </a:t>
            </a:r>
            <a:r>
              <a:rPr lang="de-DE" dirty="0" err="1" smtClean="0"/>
              <a:t>imported</a:t>
            </a:r>
            <a:r>
              <a:rPr lang="de-DE" dirty="0" smtClean="0"/>
              <a:t> </a:t>
            </a:r>
            <a:r>
              <a:rPr lang="de-DE" dirty="0" err="1" smtClean="0"/>
              <a:t>heat</a:t>
            </a:r>
            <a:r>
              <a:rPr lang="de-DE" dirty="0" smtClean="0"/>
              <a:t> </a:t>
            </a:r>
            <a:r>
              <a:rPr lang="de-DE" dirty="0" err="1" smtClean="0"/>
              <a:t>load</a:t>
            </a:r>
            <a:r>
              <a:rPr lang="de-DE" dirty="0" smtClean="0"/>
              <a:t> </a:t>
            </a:r>
            <a:r>
              <a:rPr lang="de-DE" dirty="0" err="1" smtClean="0"/>
              <a:t>profile</a:t>
            </a:r>
            <a:r>
              <a:rPr lang="de-DE" dirty="0" smtClean="0"/>
              <a:t>, </a:t>
            </a:r>
            <a:r>
              <a:rPr lang="de-DE" dirty="0" err="1" smtClean="0"/>
              <a:t>steady</a:t>
            </a:r>
            <a:r>
              <a:rPr lang="de-DE" dirty="0" smtClean="0"/>
              <a:t> </a:t>
            </a:r>
            <a:r>
              <a:rPr lang="de-DE" dirty="0" err="1" smtClean="0"/>
              <a:t>state</a:t>
            </a:r>
            <a:r>
              <a:rPr lang="de-DE" dirty="0" smtClean="0"/>
              <a:t> </a:t>
            </a:r>
            <a:r>
              <a:rPr lang="de-DE" dirty="0" err="1" smtClean="0"/>
              <a:t>solution</a:t>
            </a:r>
            <a:endParaRPr lang="de-DE" dirty="0"/>
          </a:p>
        </p:txBody>
      </p:sp>
      <p:pic>
        <p:nvPicPr>
          <p:cNvPr id="4" name="Grafik 3"/>
          <p:cNvPicPr>
            <a:picLocks noChangeAspect="1"/>
          </p:cNvPicPr>
          <p:nvPr/>
        </p:nvPicPr>
        <p:blipFill rotWithShape="1">
          <a:blip r:embed="rId2"/>
          <a:srcRect l="60200"/>
          <a:stretch/>
        </p:blipFill>
        <p:spPr>
          <a:xfrm>
            <a:off x="265722" y="1457325"/>
            <a:ext cx="3092399" cy="5400675"/>
          </a:xfrm>
          <a:prstGeom prst="rect">
            <a:avLst/>
          </a:prstGeom>
        </p:spPr>
      </p:pic>
    </p:spTree>
    <p:extLst>
      <p:ext uri="{BB962C8B-B14F-4D97-AF65-F5344CB8AC3E}">
        <p14:creationId xmlns:p14="http://schemas.microsoft.com/office/powerpoint/2010/main" val="2699252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695326" y="262423"/>
            <a:ext cx="9576471" cy="894416"/>
          </a:xfrm>
        </p:spPr>
        <p:txBody>
          <a:bodyPr>
            <a:normAutofit fontScale="90000"/>
          </a:bodyPr>
          <a:lstStyle/>
          <a:p>
            <a:r>
              <a:rPr lang="de-DE" dirty="0" err="1" smtClean="0"/>
              <a:t>Heat</a:t>
            </a:r>
            <a:r>
              <a:rPr lang="de-DE" dirty="0" smtClean="0"/>
              <a:t> </a:t>
            </a:r>
            <a:r>
              <a:rPr lang="de-DE" dirty="0" err="1" smtClean="0"/>
              <a:t>flux</a:t>
            </a:r>
            <a:r>
              <a:rPr lang="de-DE" dirty="0" smtClean="0"/>
              <a:t> </a:t>
            </a:r>
            <a:r>
              <a:rPr lang="de-DE" dirty="0" err="1" smtClean="0"/>
              <a:t>profile</a:t>
            </a:r>
            <a:r>
              <a:rPr lang="de-DE" dirty="0" smtClean="0"/>
              <a:t> on </a:t>
            </a:r>
            <a:r>
              <a:rPr lang="de-DE" dirty="0" err="1" smtClean="0"/>
              <a:t>the</a:t>
            </a:r>
            <a:r>
              <a:rPr lang="de-DE" dirty="0" smtClean="0"/>
              <a:t> </a:t>
            </a:r>
            <a:r>
              <a:rPr lang="de-DE" dirty="0" err="1" smtClean="0"/>
              <a:t>first</a:t>
            </a:r>
            <a:r>
              <a:rPr lang="de-DE" dirty="0" smtClean="0"/>
              <a:t> wall - </a:t>
            </a:r>
            <a:r>
              <a:rPr lang="de-DE" dirty="0" err="1" smtClean="0"/>
              <a:t>simulation</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3</a:t>
            </a:fld>
            <a:endParaRPr lang="de-DE" dirty="0"/>
          </a:p>
        </p:txBody>
      </p:sp>
      <p:pic>
        <p:nvPicPr>
          <p:cNvPr id="8" name="Grafik 7"/>
          <p:cNvPicPr>
            <a:picLocks noChangeAspect="1"/>
          </p:cNvPicPr>
          <p:nvPr/>
        </p:nvPicPr>
        <p:blipFill rotWithShape="1">
          <a:blip r:embed="rId2"/>
          <a:srcRect b="2013"/>
          <a:stretch/>
        </p:blipFill>
        <p:spPr>
          <a:xfrm>
            <a:off x="467850" y="1196532"/>
            <a:ext cx="3990975" cy="1381320"/>
          </a:xfrm>
          <a:prstGeom prst="rect">
            <a:avLst/>
          </a:prstGeom>
        </p:spPr>
      </p:pic>
      <p:pic>
        <p:nvPicPr>
          <p:cNvPr id="10" name="Inhaltsplatzhalter 9"/>
          <p:cNvPicPr>
            <a:picLocks noGrp="1" noChangeAspect="1"/>
          </p:cNvPicPr>
          <p:nvPr>
            <p:ph sz="quarter" idx="13"/>
          </p:nvPr>
        </p:nvPicPr>
        <p:blipFill rotWithShape="1">
          <a:blip r:embed="rId3"/>
          <a:srcRect r="34752"/>
          <a:stretch/>
        </p:blipFill>
        <p:spPr>
          <a:xfrm>
            <a:off x="5253449" y="1087266"/>
            <a:ext cx="6675488" cy="4772025"/>
          </a:xfrm>
          <a:prstGeom prst="rect">
            <a:avLst/>
          </a:prstGeom>
        </p:spPr>
      </p:pic>
      <p:sp>
        <p:nvSpPr>
          <p:cNvPr id="11" name="Rechteck 10"/>
          <p:cNvSpPr/>
          <p:nvPr/>
        </p:nvSpPr>
        <p:spPr>
          <a:xfrm>
            <a:off x="402032" y="3088772"/>
            <a:ext cx="4773398" cy="1754326"/>
          </a:xfrm>
          <a:prstGeom prst="rect">
            <a:avLst/>
          </a:prstGeom>
        </p:spPr>
        <p:txBody>
          <a:bodyPr wrap="square">
            <a:spAutoFit/>
          </a:bodyPr>
          <a:lstStyle/>
          <a:p>
            <a:r>
              <a:rPr lang="de-DE" dirty="0" smtClean="0"/>
              <a:t>10 MW power  </a:t>
            </a:r>
            <a:r>
              <a:rPr lang="de-DE" b="1" dirty="0" smtClean="0"/>
              <a:t>~ </a:t>
            </a:r>
            <a:r>
              <a:rPr lang="de-DE" dirty="0" smtClean="0"/>
              <a:t>100 </a:t>
            </a:r>
            <a:r>
              <a:rPr lang="de-DE" dirty="0"/>
              <a:t>kW/m2 </a:t>
            </a:r>
            <a:r>
              <a:rPr lang="de-DE" dirty="0" err="1" smtClean="0"/>
              <a:t>load</a:t>
            </a:r>
            <a:endParaRPr lang="en-US" dirty="0" smtClean="0"/>
          </a:p>
          <a:p>
            <a:r>
              <a:rPr lang="en-US" dirty="0"/>
              <a:t>	</a:t>
            </a:r>
            <a:r>
              <a:rPr lang="en-US" dirty="0" smtClean="0"/>
              <a:t>↓</a:t>
            </a:r>
          </a:p>
          <a:p>
            <a:pPr marL="285750" indent="-285750">
              <a:buFont typeface="Arial" panose="020B0604020202020204" pitchFamily="34" charset="0"/>
              <a:buChar char="•"/>
            </a:pPr>
            <a:r>
              <a:rPr lang="en-US" dirty="0" smtClean="0"/>
              <a:t>Plasma last closed surface – 882 °C</a:t>
            </a:r>
          </a:p>
          <a:p>
            <a:pPr marL="285750" indent="-285750">
              <a:buFont typeface="Arial" panose="020B0604020202020204" pitchFamily="34" charset="0"/>
              <a:buChar char="•"/>
            </a:pPr>
            <a:r>
              <a:rPr lang="de-DE" dirty="0" smtClean="0"/>
              <a:t>First wall </a:t>
            </a:r>
            <a:r>
              <a:rPr lang="de-DE" dirty="0" err="1" smtClean="0"/>
              <a:t>surface</a:t>
            </a:r>
            <a:r>
              <a:rPr lang="de-DE" dirty="0" smtClean="0"/>
              <a:t> – 22 °C</a:t>
            </a:r>
          </a:p>
          <a:p>
            <a:pPr marL="285750" indent="-285750">
              <a:buFont typeface="Arial" panose="020B0604020202020204" pitchFamily="34" charset="0"/>
              <a:buChar char="•"/>
            </a:pPr>
            <a:endParaRPr lang="de-DE" dirty="0" smtClean="0"/>
          </a:p>
          <a:p>
            <a:r>
              <a:rPr lang="de-DE" dirty="0" smtClean="0"/>
              <a:t>   →  </a:t>
            </a:r>
            <a:r>
              <a:rPr lang="de-DE" b="1" dirty="0" err="1" smtClean="0"/>
              <a:t>heat</a:t>
            </a:r>
            <a:r>
              <a:rPr lang="de-DE" b="1" dirty="0" smtClean="0"/>
              <a:t> </a:t>
            </a:r>
            <a:r>
              <a:rPr lang="de-DE" b="1" dirty="0" err="1" smtClean="0"/>
              <a:t>load</a:t>
            </a:r>
            <a:r>
              <a:rPr lang="de-DE" b="1" dirty="0" smtClean="0"/>
              <a:t> </a:t>
            </a:r>
            <a:r>
              <a:rPr lang="de-DE" b="1" dirty="0" err="1" smtClean="0"/>
              <a:t>profile</a:t>
            </a:r>
            <a:r>
              <a:rPr lang="de-DE" b="1" dirty="0" smtClean="0"/>
              <a:t> on </a:t>
            </a:r>
            <a:r>
              <a:rPr lang="de-DE" b="1" dirty="0" err="1" smtClean="0"/>
              <a:t>the</a:t>
            </a:r>
            <a:r>
              <a:rPr lang="de-DE" b="1" dirty="0" smtClean="0"/>
              <a:t> FW</a:t>
            </a:r>
            <a:endParaRPr lang="de-DE" b="1" dirty="0"/>
          </a:p>
        </p:txBody>
      </p:sp>
      <p:sp>
        <p:nvSpPr>
          <p:cNvPr id="12" name="Textfeld 11"/>
          <p:cNvSpPr txBox="1"/>
          <p:nvPr/>
        </p:nvSpPr>
        <p:spPr>
          <a:xfrm>
            <a:off x="7831527" y="1504125"/>
            <a:ext cx="3079369" cy="294953"/>
          </a:xfrm>
          <a:prstGeom prst="rect">
            <a:avLst/>
          </a:prstGeom>
          <a:noFill/>
        </p:spPr>
        <p:txBody>
          <a:bodyPr wrap="none" lIns="0" tIns="0" rIns="0" bIns="0" rtlCol="0" anchor="t" anchorCtr="0">
            <a:spAutoFit/>
          </a:bodyPr>
          <a:lstStyle/>
          <a:p>
            <a:pPr algn="l">
              <a:lnSpc>
                <a:spcPts val="2300"/>
              </a:lnSpc>
              <a:spcBef>
                <a:spcPts val="1150"/>
              </a:spcBef>
            </a:pPr>
            <a:r>
              <a:rPr lang="de-DE" sz="1600" b="1" dirty="0" smtClean="0">
                <a:solidFill>
                  <a:schemeClr val="bg1"/>
                </a:solidFill>
              </a:rPr>
              <a:t>Abschirmhaus HM 31/40 (41/50)</a:t>
            </a:r>
          </a:p>
        </p:txBody>
      </p:sp>
      <p:sp>
        <p:nvSpPr>
          <p:cNvPr id="13" name="Gleichschenkliges Dreieck 12"/>
          <p:cNvSpPr/>
          <p:nvPr/>
        </p:nvSpPr>
        <p:spPr>
          <a:xfrm>
            <a:off x="8258175" y="3480653"/>
            <a:ext cx="171450" cy="171450"/>
          </a:xfrm>
          <a:prstGeom prst="triangle">
            <a:avLst/>
          </a:prstGeom>
          <a:solidFill>
            <a:srgbClr val="FFFF00"/>
          </a:solidFill>
          <a:ln w="19050" cmpd="sng">
            <a:noFill/>
            <a:prstDash val="dash"/>
            <a:tailEnd type="triangle" w="lg" len="med"/>
          </a:ln>
        </p:spPr>
        <p:style>
          <a:lnRef idx="1">
            <a:schemeClr val="accent1"/>
          </a:lnRef>
          <a:fillRef idx="0">
            <a:schemeClr val="accent1"/>
          </a:fillRef>
          <a:effectRef idx="0">
            <a:schemeClr val="accent1"/>
          </a:effectRef>
          <a:fontRef idx="minor">
            <a:schemeClr val="tx1"/>
          </a:fontRef>
        </p:style>
        <p:txBody>
          <a:bodyPr wrap="square" lIns="144000" tIns="108000" rIns="144000" bIns="144000" rtlCol="0" anchor="t" anchorCtr="0"/>
          <a:lstStyle/>
          <a:p>
            <a:pPr algn="l">
              <a:spcBef>
                <a:spcPts val="1150"/>
              </a:spcBef>
              <a:buClr>
                <a:srgbClr val="116656"/>
              </a:buClr>
              <a:buSzPct val="120000"/>
            </a:pPr>
            <a:endParaRPr lang="de-DE" sz="1300" b="1" dirty="0" smtClean="0">
              <a:solidFill>
                <a:schemeClr val="bg1"/>
              </a:solidFill>
            </a:endParaRPr>
          </a:p>
        </p:txBody>
      </p:sp>
      <p:sp>
        <p:nvSpPr>
          <p:cNvPr id="14" name="Textfeld 13"/>
          <p:cNvSpPr txBox="1"/>
          <p:nvPr/>
        </p:nvSpPr>
        <p:spPr>
          <a:xfrm>
            <a:off x="8659788" y="3059595"/>
            <a:ext cx="1447512" cy="743793"/>
          </a:xfrm>
          <a:prstGeom prst="rect">
            <a:avLst/>
          </a:prstGeom>
          <a:noFill/>
        </p:spPr>
        <p:txBody>
          <a:bodyPr wrap="none" lIns="0" tIns="0" rIns="0" bIns="0" rtlCol="0" anchor="t" anchorCtr="0">
            <a:spAutoFit/>
          </a:bodyPr>
          <a:lstStyle/>
          <a:p>
            <a:pPr algn="l">
              <a:lnSpc>
                <a:spcPts val="2300"/>
              </a:lnSpc>
              <a:spcBef>
                <a:spcPts val="1150"/>
              </a:spcBef>
            </a:pPr>
            <a:r>
              <a:rPr lang="de-DE" sz="1600" b="1" dirty="0" smtClean="0">
                <a:solidFill>
                  <a:srgbClr val="FFFF00"/>
                </a:solidFill>
              </a:rPr>
              <a:t>QXD31CT403</a:t>
            </a:r>
          </a:p>
          <a:p>
            <a:pPr algn="l">
              <a:lnSpc>
                <a:spcPts val="2300"/>
              </a:lnSpc>
              <a:spcBef>
                <a:spcPts val="1150"/>
              </a:spcBef>
            </a:pPr>
            <a:r>
              <a:rPr lang="de-DE" sz="1600" b="1" dirty="0" smtClean="0">
                <a:solidFill>
                  <a:srgbClr val="FFFF00"/>
                </a:solidFill>
              </a:rPr>
              <a:t>Pt 1000 </a:t>
            </a:r>
            <a:r>
              <a:rPr lang="de-DE" sz="1600" b="1" dirty="0" err="1" smtClean="0">
                <a:solidFill>
                  <a:srgbClr val="FFFF00"/>
                </a:solidFill>
              </a:rPr>
              <a:t>sensor</a:t>
            </a:r>
            <a:endParaRPr lang="de-DE" sz="1600" b="1" dirty="0" smtClean="0">
              <a:solidFill>
                <a:srgbClr val="FFFF00"/>
              </a:solidFill>
            </a:endParaRPr>
          </a:p>
        </p:txBody>
      </p:sp>
      <p:pic>
        <p:nvPicPr>
          <p:cNvPr id="15" name="Grafik 14"/>
          <p:cNvPicPr>
            <a:picLocks noChangeAspect="1"/>
          </p:cNvPicPr>
          <p:nvPr/>
        </p:nvPicPr>
        <p:blipFill>
          <a:blip r:embed="rId4"/>
          <a:stretch>
            <a:fillRect/>
          </a:stretch>
        </p:blipFill>
        <p:spPr>
          <a:xfrm>
            <a:off x="3642278" y="4025349"/>
            <a:ext cx="4438144" cy="2832652"/>
          </a:xfrm>
          <a:prstGeom prst="rect">
            <a:avLst/>
          </a:prstGeom>
        </p:spPr>
      </p:pic>
      <p:sp>
        <p:nvSpPr>
          <p:cNvPr id="16" name="Textfeld 15"/>
          <p:cNvSpPr txBox="1"/>
          <p:nvPr/>
        </p:nvSpPr>
        <p:spPr>
          <a:xfrm>
            <a:off x="3977722" y="6347309"/>
            <a:ext cx="2295693" cy="294953"/>
          </a:xfrm>
          <a:prstGeom prst="rect">
            <a:avLst/>
          </a:prstGeom>
          <a:noFill/>
        </p:spPr>
        <p:txBody>
          <a:bodyPr wrap="none" lIns="0" tIns="0" rIns="0" bIns="0" rtlCol="0" anchor="t" anchorCtr="0">
            <a:spAutoFit/>
          </a:bodyPr>
          <a:lstStyle/>
          <a:p>
            <a:pPr algn="l">
              <a:lnSpc>
                <a:spcPts val="2300"/>
              </a:lnSpc>
              <a:spcBef>
                <a:spcPts val="1150"/>
              </a:spcBef>
            </a:pPr>
            <a:r>
              <a:rPr lang="de-DE" sz="1600" b="1" dirty="0" smtClean="0">
                <a:solidFill>
                  <a:srgbClr val="FFFF00"/>
                </a:solidFill>
              </a:rPr>
              <a:t>HS </a:t>
            </a:r>
            <a:r>
              <a:rPr lang="de-DE" sz="1600" b="1" dirty="0" err="1" smtClean="0">
                <a:solidFill>
                  <a:srgbClr val="FFFF00"/>
                </a:solidFill>
              </a:rPr>
              <a:t>thermocoupels</a:t>
            </a:r>
            <a:r>
              <a:rPr lang="de-DE" sz="1600" b="1" dirty="0" smtClean="0">
                <a:solidFill>
                  <a:srgbClr val="FFFF00"/>
                </a:solidFill>
              </a:rPr>
              <a:t> 41 </a:t>
            </a:r>
            <a:r>
              <a:rPr lang="de-DE" sz="1600" b="1" dirty="0" err="1" smtClean="0">
                <a:solidFill>
                  <a:srgbClr val="FFFF00"/>
                </a:solidFill>
              </a:rPr>
              <a:t>to</a:t>
            </a:r>
            <a:r>
              <a:rPr lang="de-DE" sz="1600" b="1" dirty="0" smtClean="0">
                <a:solidFill>
                  <a:srgbClr val="FFFF00"/>
                </a:solidFill>
              </a:rPr>
              <a:t> 43</a:t>
            </a:r>
          </a:p>
        </p:txBody>
      </p:sp>
      <p:sp>
        <p:nvSpPr>
          <p:cNvPr id="17" name="Textfeld 16"/>
          <p:cNvSpPr txBox="1"/>
          <p:nvPr/>
        </p:nvSpPr>
        <p:spPr>
          <a:xfrm>
            <a:off x="10731394" y="4140822"/>
            <a:ext cx="771045" cy="275332"/>
          </a:xfrm>
          <a:prstGeom prst="rect">
            <a:avLst/>
          </a:prstGeom>
          <a:noFill/>
        </p:spPr>
        <p:txBody>
          <a:bodyPr wrap="none" lIns="0" tIns="0" rIns="0" bIns="0" rtlCol="0" anchor="t" anchorCtr="0">
            <a:spAutoFit/>
          </a:bodyPr>
          <a:lstStyle/>
          <a:p>
            <a:pPr algn="l">
              <a:lnSpc>
                <a:spcPts val="2300"/>
              </a:lnSpc>
              <a:spcBef>
                <a:spcPts val="1150"/>
              </a:spcBef>
            </a:pPr>
            <a:r>
              <a:rPr lang="de-DE" sz="1600" b="1" dirty="0" smtClean="0">
                <a:solidFill>
                  <a:srgbClr val="FFFF00"/>
                </a:solidFill>
              </a:rPr>
              <a:t>AEU </a:t>
            </a:r>
            <a:r>
              <a:rPr lang="de-DE" sz="1600" b="1" dirty="0" err="1" smtClean="0">
                <a:solidFill>
                  <a:srgbClr val="FFFF00"/>
                </a:solidFill>
              </a:rPr>
              <a:t>port</a:t>
            </a:r>
            <a:endParaRPr lang="de-DE" sz="1600" b="1" dirty="0" smtClean="0">
              <a:solidFill>
                <a:srgbClr val="FFFF00"/>
              </a:solidFill>
            </a:endParaRPr>
          </a:p>
        </p:txBody>
      </p:sp>
    </p:spTree>
    <p:extLst>
      <p:ext uri="{BB962C8B-B14F-4D97-AF65-F5344CB8AC3E}">
        <p14:creationId xmlns:p14="http://schemas.microsoft.com/office/powerpoint/2010/main" val="12001470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1172970" y="193951"/>
            <a:ext cx="9576471" cy="894416"/>
          </a:xfrm>
        </p:spPr>
        <p:txBody>
          <a:bodyPr>
            <a:normAutofit/>
          </a:bodyPr>
          <a:lstStyle/>
          <a:p>
            <a:r>
              <a:rPr lang="de-DE" dirty="0" smtClean="0"/>
              <a:t>10 MW </a:t>
            </a:r>
            <a:r>
              <a:rPr lang="de-DE" dirty="0" err="1" smtClean="0"/>
              <a:t>heat</a:t>
            </a:r>
            <a:r>
              <a:rPr lang="de-DE" dirty="0" smtClean="0"/>
              <a:t> </a:t>
            </a:r>
            <a:r>
              <a:rPr lang="de-DE" dirty="0" err="1" smtClean="0"/>
              <a:t>flux</a:t>
            </a:r>
            <a:r>
              <a:rPr lang="de-DE" dirty="0" smtClean="0"/>
              <a:t> </a:t>
            </a:r>
            <a:r>
              <a:rPr lang="de-DE" dirty="0" err="1" smtClean="0"/>
              <a:t>profile</a:t>
            </a:r>
            <a:endParaRPr lang="de-DE" dirty="0"/>
          </a:p>
        </p:txBody>
      </p:sp>
      <p:pic>
        <p:nvPicPr>
          <p:cNvPr id="2" name="Grafik 1"/>
          <p:cNvPicPr>
            <a:picLocks noChangeAspect="1"/>
          </p:cNvPicPr>
          <p:nvPr/>
        </p:nvPicPr>
        <p:blipFill>
          <a:blip r:embed="rId2"/>
          <a:stretch>
            <a:fillRect/>
          </a:stretch>
        </p:blipFill>
        <p:spPr>
          <a:xfrm>
            <a:off x="0" y="1155031"/>
            <a:ext cx="6242290" cy="3306510"/>
          </a:xfrm>
          <a:prstGeom prst="rect">
            <a:avLst/>
          </a:prstGeom>
        </p:spPr>
      </p:pic>
      <p:pic>
        <p:nvPicPr>
          <p:cNvPr id="7" name="Grafik 6"/>
          <p:cNvPicPr>
            <a:picLocks noChangeAspect="1"/>
          </p:cNvPicPr>
          <p:nvPr/>
        </p:nvPicPr>
        <p:blipFill rotWithShape="1">
          <a:blip r:embed="rId3"/>
          <a:srcRect r="24113" b="19545"/>
          <a:stretch/>
        </p:blipFill>
        <p:spPr>
          <a:xfrm>
            <a:off x="4533499" y="2557128"/>
            <a:ext cx="7658501" cy="4300872"/>
          </a:xfrm>
          <a:prstGeom prst="rect">
            <a:avLst/>
          </a:prstGeom>
        </p:spPr>
      </p:pic>
      <p:pic>
        <p:nvPicPr>
          <p:cNvPr id="30" name="Grafik 29"/>
          <p:cNvPicPr>
            <a:picLocks noChangeAspect="1"/>
          </p:cNvPicPr>
          <p:nvPr/>
        </p:nvPicPr>
        <p:blipFill rotWithShape="1">
          <a:blip r:embed="rId4"/>
          <a:srcRect t="27234" r="93922" b="37570"/>
          <a:stretch/>
        </p:blipFill>
        <p:spPr>
          <a:xfrm>
            <a:off x="3984859" y="3692197"/>
            <a:ext cx="1137848" cy="2436337"/>
          </a:xfrm>
          <a:prstGeom prst="rect">
            <a:avLst/>
          </a:prstGeom>
        </p:spPr>
      </p:pic>
    </p:spTree>
    <p:extLst>
      <p:ext uri="{BB962C8B-B14F-4D97-AF65-F5344CB8AC3E}">
        <p14:creationId xmlns:p14="http://schemas.microsoft.com/office/powerpoint/2010/main" val="29930872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710957" y="91594"/>
            <a:ext cx="9576471" cy="894416"/>
          </a:xfrm>
        </p:spPr>
        <p:txBody>
          <a:bodyPr>
            <a:normAutofit fontScale="90000"/>
          </a:bodyPr>
          <a:lstStyle/>
          <a:p>
            <a:r>
              <a:rPr lang="de-DE" dirty="0" err="1" smtClean="0"/>
              <a:t>Scaling</a:t>
            </a:r>
            <a:r>
              <a:rPr lang="de-DE" dirty="0" smtClean="0"/>
              <a:t> </a:t>
            </a:r>
            <a:r>
              <a:rPr lang="de-DE" dirty="0" err="1" smtClean="0"/>
              <a:t>the</a:t>
            </a:r>
            <a:r>
              <a:rPr lang="de-DE" dirty="0" smtClean="0"/>
              <a:t> </a:t>
            </a:r>
            <a:r>
              <a:rPr lang="de-DE" dirty="0" err="1" smtClean="0"/>
              <a:t>heat</a:t>
            </a:r>
            <a:r>
              <a:rPr lang="de-DE" dirty="0" smtClean="0"/>
              <a:t> </a:t>
            </a:r>
            <a:r>
              <a:rPr lang="de-DE" dirty="0" err="1" smtClean="0"/>
              <a:t>flux</a:t>
            </a:r>
            <a:r>
              <a:rPr lang="de-DE" dirty="0" smtClean="0"/>
              <a:t> </a:t>
            </a:r>
            <a:r>
              <a:rPr lang="de-DE" dirty="0" err="1" smtClean="0"/>
              <a:t>load</a:t>
            </a:r>
            <a:r>
              <a:rPr lang="de-DE" dirty="0" smtClean="0"/>
              <a:t> </a:t>
            </a:r>
            <a:r>
              <a:rPr lang="de-DE" dirty="0" err="1" smtClean="0"/>
              <a:t>for</a:t>
            </a:r>
            <a:r>
              <a:rPr lang="de-DE" dirty="0" smtClean="0"/>
              <a:t> a </a:t>
            </a:r>
            <a:r>
              <a:rPr lang="de-DE" dirty="0" err="1" smtClean="0"/>
              <a:t>specific</a:t>
            </a:r>
            <a:r>
              <a:rPr lang="de-DE" dirty="0" smtClean="0"/>
              <a:t> pulse</a:t>
            </a:r>
            <a:endParaRPr lang="de-DE" dirty="0"/>
          </a:p>
        </p:txBody>
      </p:sp>
      <p:sp>
        <p:nvSpPr>
          <p:cNvPr id="4" name="Datumsplatzhalter 3"/>
          <p:cNvSpPr>
            <a:spLocks noGrp="1"/>
          </p:cNvSpPr>
          <p:nvPr>
            <p:ph type="dt" sz="half" idx="14"/>
          </p:nvPr>
        </p:nvSpPr>
        <p:spPr/>
        <p:txBody>
          <a:bodyPr/>
          <a:lstStyle/>
          <a:p>
            <a:r>
              <a:rPr lang="de-DE" dirty="0"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5</a:t>
            </a:fld>
            <a:endParaRPr lang="de-DE" dirty="0"/>
          </a:p>
        </p:txBody>
      </p:sp>
      <p:pic>
        <p:nvPicPr>
          <p:cNvPr id="8" name="Grafik 7"/>
          <p:cNvPicPr>
            <a:picLocks noChangeAspect="1"/>
          </p:cNvPicPr>
          <p:nvPr/>
        </p:nvPicPr>
        <p:blipFill>
          <a:blip r:embed="rId2"/>
          <a:stretch>
            <a:fillRect/>
          </a:stretch>
        </p:blipFill>
        <p:spPr>
          <a:xfrm>
            <a:off x="292502" y="4029406"/>
            <a:ext cx="7788912" cy="2412050"/>
          </a:xfrm>
          <a:prstGeom prst="rect">
            <a:avLst/>
          </a:prstGeom>
        </p:spPr>
      </p:pic>
      <p:sp>
        <p:nvSpPr>
          <p:cNvPr id="10" name="Rechteck 9"/>
          <p:cNvSpPr/>
          <p:nvPr/>
        </p:nvSpPr>
        <p:spPr>
          <a:xfrm>
            <a:off x="560094" y="1756540"/>
            <a:ext cx="10874719" cy="1015663"/>
          </a:xfrm>
          <a:prstGeom prst="rect">
            <a:avLst/>
          </a:prstGeom>
        </p:spPr>
        <p:txBody>
          <a:bodyPr wrap="square">
            <a:spAutoFit/>
          </a:bodyPr>
          <a:lstStyle/>
          <a:p>
            <a:r>
              <a:rPr lang="de-DE" sz="2000" b="1" dirty="0" smtClean="0"/>
              <a:t>10 MW Power</a:t>
            </a:r>
            <a:r>
              <a:rPr lang="de-DE" sz="2000" dirty="0" smtClean="0"/>
              <a:t> </a:t>
            </a:r>
            <a:r>
              <a:rPr lang="de-DE" sz="2000" dirty="0" err="1" smtClean="0"/>
              <a:t>resulting</a:t>
            </a:r>
            <a:r>
              <a:rPr lang="de-DE" sz="2000" dirty="0" smtClean="0"/>
              <a:t> in </a:t>
            </a:r>
            <a:r>
              <a:rPr lang="de-DE" sz="2000" dirty="0" err="1"/>
              <a:t>h</a:t>
            </a:r>
            <a:r>
              <a:rPr lang="de-DE" sz="2000" dirty="0" err="1" smtClean="0"/>
              <a:t>eat</a:t>
            </a:r>
            <a:r>
              <a:rPr lang="de-DE" sz="2000" dirty="0" smtClean="0"/>
              <a:t> </a:t>
            </a:r>
            <a:r>
              <a:rPr lang="de-DE" sz="2000" dirty="0" err="1"/>
              <a:t>f</a:t>
            </a:r>
            <a:r>
              <a:rPr lang="de-DE" sz="2000" dirty="0" err="1" smtClean="0"/>
              <a:t>lux</a:t>
            </a:r>
            <a:r>
              <a:rPr lang="de-DE" sz="2000" dirty="0" smtClean="0"/>
              <a:t> </a:t>
            </a:r>
            <a:r>
              <a:rPr lang="de-DE" sz="2000" dirty="0" err="1" smtClean="0"/>
              <a:t>distribution</a:t>
            </a:r>
            <a:r>
              <a:rPr lang="de-DE" sz="2000" dirty="0" smtClean="0"/>
              <a:t> ranging </a:t>
            </a:r>
            <a:r>
              <a:rPr lang="de-DE" sz="2000" dirty="0" err="1" smtClean="0"/>
              <a:t>from</a:t>
            </a:r>
            <a:r>
              <a:rPr lang="de-DE" sz="2000" dirty="0" smtClean="0"/>
              <a:t> 20 </a:t>
            </a:r>
            <a:r>
              <a:rPr lang="de-DE" sz="2000" dirty="0" err="1" smtClean="0"/>
              <a:t>to</a:t>
            </a:r>
            <a:r>
              <a:rPr lang="de-DE" sz="2000" dirty="0" smtClean="0"/>
              <a:t> 99 kW/m2</a:t>
            </a:r>
            <a:r>
              <a:rPr lang="de-DE" sz="2000" dirty="0" smtClean="0"/>
              <a:t>.</a:t>
            </a:r>
          </a:p>
          <a:p>
            <a:r>
              <a:rPr lang="de-DE" sz="2000" dirty="0" err="1" smtClean="0"/>
              <a:t>To</a:t>
            </a:r>
            <a:r>
              <a:rPr lang="de-DE" sz="2000" dirty="0" smtClean="0"/>
              <a:t> </a:t>
            </a:r>
            <a:r>
              <a:rPr lang="de-DE" sz="2000" dirty="0" err="1" smtClean="0"/>
              <a:t>use</a:t>
            </a:r>
            <a:r>
              <a:rPr lang="de-DE" sz="2000" dirty="0" smtClean="0"/>
              <a:t> </a:t>
            </a:r>
            <a:r>
              <a:rPr lang="de-DE" sz="2000" dirty="0" err="1" smtClean="0"/>
              <a:t>this</a:t>
            </a:r>
            <a:r>
              <a:rPr lang="de-DE" sz="2000" dirty="0" smtClean="0"/>
              <a:t> </a:t>
            </a:r>
            <a:r>
              <a:rPr lang="de-DE" sz="2000" dirty="0" err="1" smtClean="0"/>
              <a:t>profile</a:t>
            </a:r>
            <a:r>
              <a:rPr lang="de-DE" sz="2000" dirty="0" smtClean="0"/>
              <a:t> </a:t>
            </a:r>
            <a:r>
              <a:rPr lang="de-DE" sz="2000" dirty="0" err="1" smtClean="0"/>
              <a:t>for</a:t>
            </a:r>
            <a:r>
              <a:rPr lang="de-DE" sz="2000" dirty="0" smtClean="0"/>
              <a:t> </a:t>
            </a:r>
            <a:r>
              <a:rPr lang="de-DE" sz="2000" dirty="0" err="1" smtClean="0"/>
              <a:t>specific</a:t>
            </a:r>
            <a:r>
              <a:rPr lang="de-DE" sz="2000" dirty="0" smtClean="0"/>
              <a:t> </a:t>
            </a:r>
            <a:r>
              <a:rPr lang="de-DE" sz="2000" dirty="0" err="1" smtClean="0"/>
              <a:t>pulses</a:t>
            </a:r>
            <a:r>
              <a:rPr lang="de-DE" sz="2000" dirty="0" smtClean="0"/>
              <a:t>, </a:t>
            </a:r>
            <a:r>
              <a:rPr lang="de-DE" sz="2000" dirty="0" err="1" smtClean="0"/>
              <a:t>we</a:t>
            </a:r>
            <a:r>
              <a:rPr lang="de-DE" sz="2000" dirty="0" smtClean="0"/>
              <a:t> </a:t>
            </a:r>
            <a:r>
              <a:rPr lang="de-DE" sz="2000" dirty="0" err="1" smtClean="0"/>
              <a:t>need</a:t>
            </a:r>
            <a:r>
              <a:rPr lang="de-DE" sz="2000" dirty="0" smtClean="0"/>
              <a:t> </a:t>
            </a:r>
            <a:r>
              <a:rPr lang="de-DE" sz="2000" dirty="0" err="1" smtClean="0"/>
              <a:t>to</a:t>
            </a:r>
            <a:r>
              <a:rPr lang="de-DE" sz="2000" dirty="0" smtClean="0"/>
              <a:t> </a:t>
            </a:r>
            <a:r>
              <a:rPr lang="de-DE" sz="2000" dirty="0" err="1" smtClean="0"/>
              <a:t>scale</a:t>
            </a:r>
            <a:r>
              <a:rPr lang="de-DE" sz="2000" dirty="0" smtClean="0"/>
              <a:t> down </a:t>
            </a:r>
            <a:r>
              <a:rPr lang="de-DE" sz="2000" dirty="0" err="1" smtClean="0"/>
              <a:t>the</a:t>
            </a:r>
            <a:r>
              <a:rPr lang="de-DE" sz="2000" dirty="0" smtClean="0"/>
              <a:t> </a:t>
            </a:r>
            <a:r>
              <a:rPr lang="de-DE" sz="2000" dirty="0" err="1" smtClean="0"/>
              <a:t>load</a:t>
            </a:r>
            <a:r>
              <a:rPr lang="de-DE" sz="2000" dirty="0" smtClean="0"/>
              <a:t> </a:t>
            </a:r>
            <a:r>
              <a:rPr lang="de-DE" sz="2000" dirty="0" err="1" smtClean="0"/>
              <a:t>by</a:t>
            </a:r>
            <a:r>
              <a:rPr lang="de-DE" sz="2000" dirty="0" smtClean="0"/>
              <a:t> </a:t>
            </a:r>
            <a:r>
              <a:rPr lang="de-DE" sz="2000" dirty="0" err="1" smtClean="0"/>
              <a:t>multiplying</a:t>
            </a:r>
            <a:r>
              <a:rPr lang="de-DE" sz="2000" dirty="0"/>
              <a:t> </a:t>
            </a:r>
            <a:r>
              <a:rPr lang="de-DE" sz="2000" dirty="0" err="1" smtClean="0"/>
              <a:t>it</a:t>
            </a:r>
            <a:r>
              <a:rPr lang="de-DE" sz="2000" dirty="0" smtClean="0"/>
              <a:t> </a:t>
            </a:r>
            <a:r>
              <a:rPr lang="de-DE" sz="2000" dirty="0" err="1" smtClean="0"/>
              <a:t>by</a:t>
            </a:r>
            <a:r>
              <a:rPr lang="de-DE" sz="2000" dirty="0" smtClean="0"/>
              <a:t> </a:t>
            </a:r>
            <a:r>
              <a:rPr lang="de-DE" sz="2000" dirty="0" err="1" smtClean="0"/>
              <a:t>coefficient</a:t>
            </a:r>
            <a:r>
              <a:rPr lang="de-DE" sz="2000" dirty="0" smtClean="0"/>
              <a:t>.</a:t>
            </a:r>
          </a:p>
          <a:p>
            <a:endParaRPr lang="de-DE" sz="2000" dirty="0"/>
          </a:p>
        </p:txBody>
      </p:sp>
      <p:cxnSp>
        <p:nvCxnSpPr>
          <p:cNvPr id="12" name="Gerade Verbindung mit Pfeil 11"/>
          <p:cNvCxnSpPr/>
          <p:nvPr/>
        </p:nvCxnSpPr>
        <p:spPr>
          <a:xfrm flipH="1">
            <a:off x="5418667" y="4060733"/>
            <a:ext cx="3517880" cy="773733"/>
          </a:xfrm>
          <a:prstGeom prst="straightConnector1">
            <a:avLst/>
          </a:prstGeom>
          <a:ln w="57150" cmpd="sng">
            <a:prstDash val="sys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Rechteck 15"/>
          <p:cNvSpPr/>
          <p:nvPr/>
        </p:nvSpPr>
        <p:spPr>
          <a:xfrm>
            <a:off x="8936547" y="3861363"/>
            <a:ext cx="3901766" cy="923330"/>
          </a:xfrm>
          <a:prstGeom prst="rect">
            <a:avLst/>
          </a:prstGeom>
        </p:spPr>
        <p:txBody>
          <a:bodyPr wrap="square">
            <a:spAutoFit/>
          </a:bodyPr>
          <a:lstStyle/>
          <a:p>
            <a:r>
              <a:rPr lang="de-DE" b="1" dirty="0"/>
              <a:t>4</a:t>
            </a:r>
            <a:r>
              <a:rPr lang="de-DE" b="1" dirty="0" smtClean="0"/>
              <a:t> MW Power</a:t>
            </a:r>
          </a:p>
          <a:p>
            <a:endParaRPr lang="de-DE" dirty="0"/>
          </a:p>
          <a:p>
            <a:endParaRPr lang="de-DE" dirty="0"/>
          </a:p>
        </p:txBody>
      </p:sp>
      <p:pic>
        <p:nvPicPr>
          <p:cNvPr id="17" name="Grafik 16"/>
          <p:cNvPicPr>
            <a:picLocks noChangeAspect="1"/>
          </p:cNvPicPr>
          <p:nvPr/>
        </p:nvPicPr>
        <p:blipFill>
          <a:blip r:embed="rId3"/>
          <a:stretch>
            <a:fillRect/>
          </a:stretch>
        </p:blipFill>
        <p:spPr>
          <a:xfrm>
            <a:off x="8401225" y="4539524"/>
            <a:ext cx="3429000" cy="942975"/>
          </a:xfrm>
          <a:prstGeom prst="rect">
            <a:avLst/>
          </a:prstGeom>
        </p:spPr>
      </p:pic>
      <p:cxnSp>
        <p:nvCxnSpPr>
          <p:cNvPr id="18" name="Gerade Verbindung mit Pfeil 17"/>
          <p:cNvCxnSpPr/>
          <p:nvPr/>
        </p:nvCxnSpPr>
        <p:spPr>
          <a:xfrm>
            <a:off x="9668933" y="4298524"/>
            <a:ext cx="1024467" cy="626745"/>
          </a:xfrm>
          <a:prstGeom prst="straightConnector1">
            <a:avLst/>
          </a:prstGeom>
          <a:ln w="57150" cmpd="sng">
            <a:solidFill>
              <a:srgbClr val="FF0000"/>
            </a:solidFill>
            <a:prstDash val="soli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Rechteck 21"/>
          <p:cNvSpPr/>
          <p:nvPr/>
        </p:nvSpPr>
        <p:spPr>
          <a:xfrm>
            <a:off x="8317797" y="3450401"/>
            <a:ext cx="3595856" cy="369332"/>
          </a:xfrm>
          <a:prstGeom prst="rect">
            <a:avLst/>
          </a:prstGeom>
        </p:spPr>
        <p:txBody>
          <a:bodyPr wrap="none">
            <a:spAutoFit/>
          </a:bodyPr>
          <a:lstStyle/>
          <a:p>
            <a:r>
              <a:rPr lang="de-DE" b="1" dirty="0" err="1" smtClean="0"/>
              <a:t>Scaling</a:t>
            </a:r>
            <a:r>
              <a:rPr lang="de-DE" b="1" dirty="0" smtClean="0"/>
              <a:t> </a:t>
            </a:r>
            <a:r>
              <a:rPr lang="de-DE" b="1" dirty="0" err="1" smtClean="0"/>
              <a:t>the</a:t>
            </a:r>
            <a:r>
              <a:rPr lang="de-DE" b="1" dirty="0" smtClean="0"/>
              <a:t> </a:t>
            </a:r>
            <a:r>
              <a:rPr lang="de-DE" b="1" dirty="0" err="1" smtClean="0"/>
              <a:t>resulting</a:t>
            </a:r>
            <a:r>
              <a:rPr lang="de-DE" b="1" dirty="0" smtClean="0"/>
              <a:t> HF </a:t>
            </a:r>
            <a:r>
              <a:rPr lang="de-DE" b="1" dirty="0" err="1" smtClean="0"/>
              <a:t>profile</a:t>
            </a:r>
            <a:endParaRPr lang="de-DE" b="1" dirty="0"/>
          </a:p>
        </p:txBody>
      </p:sp>
      <p:sp>
        <p:nvSpPr>
          <p:cNvPr id="26" name="Rechteck 25"/>
          <p:cNvSpPr/>
          <p:nvPr/>
        </p:nvSpPr>
        <p:spPr>
          <a:xfrm>
            <a:off x="7971548" y="5657000"/>
            <a:ext cx="3942105" cy="369332"/>
          </a:xfrm>
          <a:prstGeom prst="rect">
            <a:avLst/>
          </a:prstGeom>
        </p:spPr>
        <p:txBody>
          <a:bodyPr wrap="none">
            <a:spAutoFit/>
          </a:bodyPr>
          <a:lstStyle/>
          <a:p>
            <a:r>
              <a:rPr lang="de-DE" b="1" i="1" u="sng" dirty="0" err="1" smtClean="0"/>
              <a:t>For</a:t>
            </a:r>
            <a:r>
              <a:rPr lang="de-DE" b="1" i="1" u="sng" dirty="0" smtClean="0"/>
              <a:t> </a:t>
            </a:r>
            <a:r>
              <a:rPr lang="de-DE" b="1" i="1" u="sng" dirty="0" err="1" smtClean="0"/>
              <a:t>pulses</a:t>
            </a:r>
            <a:r>
              <a:rPr lang="de-DE" b="1" i="1" u="sng" dirty="0" smtClean="0"/>
              <a:t> </a:t>
            </a:r>
            <a:r>
              <a:rPr lang="de-DE" b="1" i="1" u="sng" dirty="0" err="1" smtClean="0"/>
              <a:t>with</a:t>
            </a:r>
            <a:r>
              <a:rPr lang="de-DE" b="1" i="1" u="sng" dirty="0" smtClean="0"/>
              <a:t> </a:t>
            </a:r>
            <a:r>
              <a:rPr lang="de-DE" b="1" i="1" u="sng" dirty="0" err="1" smtClean="0"/>
              <a:t>good</a:t>
            </a:r>
            <a:r>
              <a:rPr lang="de-DE" b="1" i="1" u="sng" dirty="0" smtClean="0"/>
              <a:t> </a:t>
            </a:r>
            <a:r>
              <a:rPr lang="de-DE" b="1" i="1" u="sng" dirty="0" err="1" smtClean="0"/>
              <a:t>detachment</a:t>
            </a:r>
            <a:r>
              <a:rPr lang="de-DE" b="1" i="1" u="sng" dirty="0" smtClean="0"/>
              <a:t>!</a:t>
            </a:r>
            <a:endParaRPr lang="de-DE" b="1" i="1" u="sng" dirty="0"/>
          </a:p>
        </p:txBody>
      </p:sp>
      <p:cxnSp>
        <p:nvCxnSpPr>
          <p:cNvPr id="28" name="Gerade Verbindung mit Pfeil 27"/>
          <p:cNvCxnSpPr/>
          <p:nvPr/>
        </p:nvCxnSpPr>
        <p:spPr>
          <a:xfrm>
            <a:off x="2175933" y="4611896"/>
            <a:ext cx="0" cy="221040"/>
          </a:xfrm>
          <a:prstGeom prst="straightConnector1">
            <a:avLst/>
          </a:prstGeom>
          <a:ln w="28575" cmpd="sng">
            <a:solidFill>
              <a:srgbClr val="FF0000"/>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0464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6</a:t>
            </a:fld>
            <a:endParaRPr lang="de-DE" dirty="0"/>
          </a:p>
        </p:txBody>
      </p:sp>
      <p:sp>
        <p:nvSpPr>
          <p:cNvPr id="10" name="Rechteck 9"/>
          <p:cNvSpPr/>
          <p:nvPr/>
        </p:nvSpPr>
        <p:spPr>
          <a:xfrm>
            <a:off x="1551686" y="5660557"/>
            <a:ext cx="3698448" cy="369332"/>
          </a:xfrm>
          <a:prstGeom prst="rect">
            <a:avLst/>
          </a:prstGeom>
        </p:spPr>
        <p:txBody>
          <a:bodyPr wrap="none">
            <a:spAutoFit/>
          </a:bodyPr>
          <a:lstStyle/>
          <a:p>
            <a:r>
              <a:rPr lang="en-US" dirty="0" smtClean="0"/>
              <a:t>Steady state solution, 250 MW/m2</a:t>
            </a:r>
            <a:endParaRPr lang="de-DE" dirty="0"/>
          </a:p>
        </p:txBody>
      </p:sp>
      <p:sp>
        <p:nvSpPr>
          <p:cNvPr id="11" name="Rechteck 10"/>
          <p:cNvSpPr/>
          <p:nvPr/>
        </p:nvSpPr>
        <p:spPr>
          <a:xfrm>
            <a:off x="7143750" y="1029255"/>
            <a:ext cx="4773398" cy="5355312"/>
          </a:xfrm>
          <a:prstGeom prst="rect">
            <a:avLst/>
          </a:prstGeom>
        </p:spPr>
        <p:txBody>
          <a:bodyPr wrap="square">
            <a:spAutoFit/>
          </a:bodyPr>
          <a:lstStyle/>
          <a:p>
            <a:pPr marL="285750" indent="-285750">
              <a:buFont typeface="Arial" panose="020B0604020202020204" pitchFamily="34" charset="0"/>
              <a:buChar char="•"/>
            </a:pPr>
            <a:r>
              <a:rPr lang="en-US" dirty="0" smtClean="0"/>
              <a:t>HS cooling pipes – water fluid elements simulated with mass flow rates predicted by </a:t>
            </a:r>
            <a:r>
              <a:rPr lang="en-US" dirty="0" err="1" smtClean="0"/>
              <a:t>KiP</a:t>
            </a:r>
            <a:r>
              <a:rPr lang="en-US" dirty="0"/>
              <a:t> </a:t>
            </a:r>
            <a:r>
              <a:rPr lang="en-US" dirty="0" smtClean="0"/>
              <a:t>Hydraulic Calculation </a:t>
            </a:r>
            <a:r>
              <a:rPr lang="de-DE" i="1" u="sng" dirty="0"/>
              <a:t>29HDQV v2.0 </a:t>
            </a:r>
            <a:endParaRPr lang="de-DE" i="1" u="sng" dirty="0" smtClean="0"/>
          </a:p>
          <a:p>
            <a:pPr marL="285750" indent="-285750">
              <a:buFont typeface="Arial" panose="020B0604020202020204" pitchFamily="34" charset="0"/>
              <a:buChar char="•"/>
            </a:pPr>
            <a:endParaRPr lang="de-DE" i="1" u="sng" dirty="0"/>
          </a:p>
          <a:p>
            <a:pPr marL="285750" indent="-285750">
              <a:buFont typeface="Arial" panose="020B0604020202020204" pitchFamily="34" charset="0"/>
              <a:buChar char="•"/>
            </a:pPr>
            <a:r>
              <a:rPr lang="en-US" dirty="0"/>
              <a:t>Uniform load 250 </a:t>
            </a:r>
            <a:r>
              <a:rPr lang="en-US" dirty="0" smtClean="0"/>
              <a:t>MW/m2.</a:t>
            </a:r>
            <a:endParaRPr lang="de-DE" i="1" u="sng" dirty="0" smtClean="0"/>
          </a:p>
          <a:p>
            <a:endParaRPr lang="de-DE" i="1" u="sng" dirty="0" smtClean="0"/>
          </a:p>
          <a:p>
            <a:pPr marL="285750" indent="-285750">
              <a:buFont typeface="Arial" panose="020B0604020202020204" pitchFamily="34" charset="0"/>
              <a:buChar char="•"/>
            </a:pPr>
            <a:r>
              <a:rPr lang="en-US" dirty="0"/>
              <a:t>Radiative load to PV with its cooling pipes </a:t>
            </a:r>
            <a:r>
              <a:rPr lang="en-US" dirty="0" smtClean="0"/>
              <a:t>is solved </a:t>
            </a:r>
            <a:r>
              <a:rPr lang="en-US" dirty="0"/>
              <a:t>in a separate project</a:t>
            </a:r>
            <a:r>
              <a:rPr lang="en-US" dirty="0" smtClean="0"/>
              <a:t>.</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Solved for </a:t>
            </a:r>
            <a:r>
              <a:rPr lang="en-US" b="1" i="1" dirty="0" smtClean="0"/>
              <a:t>steady state</a:t>
            </a:r>
            <a:r>
              <a:rPr lang="en-US" dirty="0" smtClean="0"/>
              <a:t>.</a:t>
            </a:r>
            <a:endParaRPr lang="de-DE"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b="1" i="1" dirty="0" smtClean="0"/>
              <a:t>Heat load profile</a:t>
            </a:r>
            <a:r>
              <a:rPr lang="en-US" dirty="0" smtClean="0"/>
              <a:t> simulated separately using the last closed plasma surface and then applied to the simulation.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de-DE" dirty="0"/>
          </a:p>
        </p:txBody>
      </p:sp>
      <p:pic>
        <p:nvPicPr>
          <p:cNvPr id="12" name="Grafik 11"/>
          <p:cNvPicPr>
            <a:picLocks noChangeAspect="1"/>
          </p:cNvPicPr>
          <p:nvPr/>
        </p:nvPicPr>
        <p:blipFill rotWithShape="1">
          <a:blip r:embed="rId2"/>
          <a:srcRect r="13023"/>
          <a:stretch/>
        </p:blipFill>
        <p:spPr>
          <a:xfrm>
            <a:off x="123825" y="1074639"/>
            <a:ext cx="7019925" cy="4585917"/>
          </a:xfrm>
          <a:prstGeom prst="rect">
            <a:avLst/>
          </a:prstGeom>
        </p:spPr>
      </p:pic>
      <p:pic>
        <p:nvPicPr>
          <p:cNvPr id="13" name="Grafik 12"/>
          <p:cNvPicPr>
            <a:picLocks noChangeAspect="1"/>
          </p:cNvPicPr>
          <p:nvPr/>
        </p:nvPicPr>
        <p:blipFill rotWithShape="1">
          <a:blip r:embed="rId2"/>
          <a:srcRect l="355" t="17484" r="93627" b="58423"/>
          <a:stretch/>
        </p:blipFill>
        <p:spPr>
          <a:xfrm>
            <a:off x="123825" y="1840797"/>
            <a:ext cx="978840" cy="2226378"/>
          </a:xfrm>
          <a:prstGeom prst="rect">
            <a:avLst/>
          </a:prstGeom>
        </p:spPr>
      </p:pic>
      <p:sp>
        <p:nvSpPr>
          <p:cNvPr id="14" name="Stern mit 5 Zacken 13"/>
          <p:cNvSpPr/>
          <p:nvPr/>
        </p:nvSpPr>
        <p:spPr>
          <a:xfrm>
            <a:off x="2160802" y="2453785"/>
            <a:ext cx="209550" cy="232265"/>
          </a:xfrm>
          <a:prstGeom prst="star5">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sp>
        <p:nvSpPr>
          <p:cNvPr id="15" name="Textfeld 14"/>
          <p:cNvSpPr txBox="1"/>
          <p:nvPr/>
        </p:nvSpPr>
        <p:spPr>
          <a:xfrm>
            <a:off x="1290637" y="3622651"/>
            <a:ext cx="914400" cy="369332"/>
          </a:xfrm>
          <a:prstGeom prst="rect">
            <a:avLst/>
          </a:prstGeom>
          <a:noFill/>
        </p:spPr>
        <p:txBody>
          <a:bodyPr wrap="square" rtlCol="0">
            <a:spAutoFit/>
          </a:bodyPr>
          <a:lstStyle/>
          <a:p>
            <a:r>
              <a:rPr lang="en-US" dirty="0" smtClean="0"/>
              <a:t>CT402</a:t>
            </a:r>
            <a:endParaRPr lang="de-DE" dirty="0"/>
          </a:p>
        </p:txBody>
      </p:sp>
      <p:sp>
        <p:nvSpPr>
          <p:cNvPr id="16" name="Titel 2"/>
          <p:cNvSpPr>
            <a:spLocks noGrp="1"/>
          </p:cNvSpPr>
          <p:nvPr>
            <p:ph type="title"/>
          </p:nvPr>
        </p:nvSpPr>
        <p:spPr>
          <a:xfrm>
            <a:off x="123825" y="300970"/>
            <a:ext cx="9576471" cy="894416"/>
          </a:xfrm>
        </p:spPr>
        <p:txBody>
          <a:bodyPr/>
          <a:lstStyle/>
          <a:p>
            <a:r>
              <a:rPr lang="de-DE" dirty="0"/>
              <a:t>2</a:t>
            </a:r>
            <a:r>
              <a:rPr lang="de-DE" dirty="0" smtClean="0"/>
              <a:t>50 kW/m2 </a:t>
            </a:r>
            <a:r>
              <a:rPr lang="de-DE" dirty="0" err="1" smtClean="0"/>
              <a:t>unifrom</a:t>
            </a:r>
            <a:r>
              <a:rPr lang="de-DE" dirty="0" smtClean="0"/>
              <a:t> </a:t>
            </a:r>
            <a:r>
              <a:rPr lang="de-DE" dirty="0" err="1" smtClean="0"/>
              <a:t>heat</a:t>
            </a:r>
            <a:r>
              <a:rPr lang="de-DE" dirty="0" smtClean="0"/>
              <a:t> </a:t>
            </a:r>
            <a:r>
              <a:rPr lang="de-DE" dirty="0" err="1" smtClean="0"/>
              <a:t>load</a:t>
            </a:r>
            <a:endParaRPr lang="de-DE" dirty="0"/>
          </a:p>
        </p:txBody>
      </p:sp>
    </p:spTree>
    <p:extLst>
      <p:ext uri="{BB962C8B-B14F-4D97-AF65-F5344CB8AC3E}">
        <p14:creationId xmlns:p14="http://schemas.microsoft.com/office/powerpoint/2010/main" val="27952318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smtClean="0"/>
              <a:t>150 kW/m2 </a:t>
            </a:r>
            <a:r>
              <a:rPr lang="de-DE" dirty="0" err="1" smtClean="0"/>
              <a:t>unifrom</a:t>
            </a:r>
            <a:r>
              <a:rPr lang="de-DE" dirty="0" smtClean="0"/>
              <a:t> </a:t>
            </a:r>
            <a:r>
              <a:rPr lang="de-DE" dirty="0" err="1" smtClean="0"/>
              <a:t>heat</a:t>
            </a:r>
            <a:r>
              <a:rPr lang="de-DE" dirty="0" smtClean="0"/>
              <a:t> </a:t>
            </a:r>
            <a:r>
              <a:rPr lang="de-DE" dirty="0" err="1" smtClean="0"/>
              <a:t>load</a:t>
            </a:r>
            <a:endParaRPr lang="de-DE" dirty="0"/>
          </a:p>
        </p:txBody>
      </p:sp>
      <p:pic>
        <p:nvPicPr>
          <p:cNvPr id="4" name="Grafik 3"/>
          <p:cNvPicPr>
            <a:picLocks noChangeAspect="1"/>
          </p:cNvPicPr>
          <p:nvPr/>
        </p:nvPicPr>
        <p:blipFill>
          <a:blip r:embed="rId2"/>
          <a:stretch>
            <a:fillRect/>
          </a:stretch>
        </p:blipFill>
        <p:spPr>
          <a:xfrm>
            <a:off x="835693" y="1212783"/>
            <a:ext cx="10136195" cy="5369092"/>
          </a:xfrm>
          <a:prstGeom prst="rect">
            <a:avLst/>
          </a:prstGeom>
        </p:spPr>
      </p:pic>
    </p:spTree>
    <p:extLst>
      <p:ext uri="{BB962C8B-B14F-4D97-AF65-F5344CB8AC3E}">
        <p14:creationId xmlns:p14="http://schemas.microsoft.com/office/powerpoint/2010/main" val="2437983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13"/>
          </p:nvPr>
        </p:nvSpPr>
        <p:spPr/>
        <p:txBody>
          <a:bodyPr/>
          <a:lstStyle/>
          <a:p>
            <a:endParaRPr lang="de-DE"/>
          </a:p>
        </p:txBody>
      </p:sp>
      <p:sp>
        <p:nvSpPr>
          <p:cNvPr id="3" name="Titel 2"/>
          <p:cNvSpPr>
            <a:spLocks noGrp="1"/>
          </p:cNvSpPr>
          <p:nvPr>
            <p:ph type="title"/>
          </p:nvPr>
        </p:nvSpPr>
        <p:spPr/>
        <p:txBody>
          <a:bodyPr/>
          <a:lstStyle/>
          <a:p>
            <a:r>
              <a:rPr lang="de-DE" dirty="0" smtClean="0"/>
              <a:t>4MW </a:t>
            </a:r>
            <a:r>
              <a:rPr lang="de-DE" dirty="0" err="1" smtClean="0"/>
              <a:t>heat</a:t>
            </a:r>
            <a:r>
              <a:rPr lang="de-DE" dirty="0" smtClean="0"/>
              <a:t> </a:t>
            </a:r>
            <a:r>
              <a:rPr lang="de-DE" dirty="0" err="1" smtClean="0"/>
              <a:t>load</a:t>
            </a:r>
            <a:r>
              <a:rPr lang="de-DE" dirty="0" smtClean="0"/>
              <a:t> </a:t>
            </a:r>
            <a:r>
              <a:rPr lang="de-DE" dirty="0" err="1" smtClean="0"/>
              <a:t>profile</a:t>
            </a:r>
            <a:endParaRPr lang="de-DE" dirty="0"/>
          </a:p>
        </p:txBody>
      </p:sp>
      <p:pic>
        <p:nvPicPr>
          <p:cNvPr id="4" name="Grafik 3"/>
          <p:cNvPicPr>
            <a:picLocks noChangeAspect="1"/>
          </p:cNvPicPr>
          <p:nvPr/>
        </p:nvPicPr>
        <p:blipFill>
          <a:blip r:embed="rId2"/>
          <a:stretch>
            <a:fillRect/>
          </a:stretch>
        </p:blipFill>
        <p:spPr>
          <a:xfrm>
            <a:off x="695326" y="1401751"/>
            <a:ext cx="10300736" cy="5456249"/>
          </a:xfrm>
          <a:prstGeom prst="rect">
            <a:avLst/>
          </a:prstGeom>
        </p:spPr>
      </p:pic>
    </p:spTree>
    <p:extLst>
      <p:ext uri="{BB962C8B-B14F-4D97-AF65-F5344CB8AC3E}">
        <p14:creationId xmlns:p14="http://schemas.microsoft.com/office/powerpoint/2010/main" val="326945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smtClean="0"/>
              <a:t>4MW </a:t>
            </a:r>
            <a:r>
              <a:rPr lang="de-DE" dirty="0" err="1" smtClean="0"/>
              <a:t>heat</a:t>
            </a:r>
            <a:r>
              <a:rPr lang="de-DE" dirty="0" smtClean="0"/>
              <a:t> </a:t>
            </a:r>
            <a:r>
              <a:rPr lang="de-DE" dirty="0" err="1" smtClean="0"/>
              <a:t>load</a:t>
            </a:r>
            <a:r>
              <a:rPr lang="de-DE" dirty="0" smtClean="0"/>
              <a:t> </a:t>
            </a:r>
            <a:r>
              <a:rPr lang="de-DE" dirty="0" err="1" smtClean="0"/>
              <a:t>profile</a:t>
            </a:r>
            <a:r>
              <a:rPr lang="de-DE" dirty="0" smtClean="0"/>
              <a:t>, 90s</a:t>
            </a:r>
            <a:endParaRPr lang="de-DE" dirty="0"/>
          </a:p>
        </p:txBody>
      </p:sp>
      <p:pic>
        <p:nvPicPr>
          <p:cNvPr id="5" name="Grafik 4"/>
          <p:cNvPicPr>
            <a:picLocks noChangeAspect="1"/>
          </p:cNvPicPr>
          <p:nvPr/>
        </p:nvPicPr>
        <p:blipFill>
          <a:blip r:embed="rId2"/>
          <a:stretch>
            <a:fillRect/>
          </a:stretch>
        </p:blipFill>
        <p:spPr>
          <a:xfrm>
            <a:off x="1211079" y="1471360"/>
            <a:ext cx="9780972" cy="5180933"/>
          </a:xfrm>
          <a:prstGeom prst="rect">
            <a:avLst/>
          </a:prstGeom>
        </p:spPr>
      </p:pic>
    </p:spTree>
    <p:extLst>
      <p:ext uri="{BB962C8B-B14F-4D97-AF65-F5344CB8AC3E}">
        <p14:creationId xmlns:p14="http://schemas.microsoft.com/office/powerpoint/2010/main" val="670760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p:cNvPicPr>
            <a:picLocks noChangeAspect="1"/>
          </p:cNvPicPr>
          <p:nvPr/>
        </p:nvPicPr>
        <p:blipFill rotWithShape="1">
          <a:blip r:embed="rId2"/>
          <a:srcRect t="412" r="24661"/>
          <a:stretch/>
        </p:blipFill>
        <p:spPr>
          <a:xfrm>
            <a:off x="2948677" y="3363045"/>
            <a:ext cx="5965399" cy="3543531"/>
          </a:xfrm>
          <a:prstGeom prst="rect">
            <a:avLst/>
          </a:prstGeom>
        </p:spPr>
      </p:pic>
      <p:graphicFrame>
        <p:nvGraphicFramePr>
          <p:cNvPr id="9" name="Inhaltsplatzhalter 8"/>
          <p:cNvGraphicFramePr>
            <a:graphicFrameLocks noGrp="1"/>
          </p:cNvGraphicFramePr>
          <p:nvPr>
            <p:ph sz="quarter" idx="13"/>
            <p:extLst/>
          </p:nvPr>
        </p:nvGraphicFramePr>
        <p:xfrm>
          <a:off x="142413" y="888533"/>
          <a:ext cx="11958320" cy="2560320"/>
        </p:xfrm>
        <a:graphic>
          <a:graphicData uri="http://schemas.openxmlformats.org/drawingml/2006/table">
            <a:tbl>
              <a:tblPr firstRow="1" bandRow="1">
                <a:tableStyleId>{5C22544A-7EE6-4342-B048-85BDC9FD1C3A}</a:tableStyleId>
              </a:tblPr>
              <a:tblGrid>
                <a:gridCol w="2002706">
                  <a:extLst>
                    <a:ext uri="{9D8B030D-6E8A-4147-A177-3AD203B41FA5}">
                      <a16:colId xmlns:a16="http://schemas.microsoft.com/office/drawing/2014/main" val="4175661464"/>
                    </a:ext>
                  </a:extLst>
                </a:gridCol>
                <a:gridCol w="2042830">
                  <a:extLst>
                    <a:ext uri="{9D8B030D-6E8A-4147-A177-3AD203B41FA5}">
                      <a16:colId xmlns:a16="http://schemas.microsoft.com/office/drawing/2014/main" val="2858066201"/>
                    </a:ext>
                  </a:extLst>
                </a:gridCol>
                <a:gridCol w="2291464">
                  <a:extLst>
                    <a:ext uri="{9D8B030D-6E8A-4147-A177-3AD203B41FA5}">
                      <a16:colId xmlns:a16="http://schemas.microsoft.com/office/drawing/2014/main" val="749316236"/>
                    </a:ext>
                  </a:extLst>
                </a:gridCol>
                <a:gridCol w="2291464">
                  <a:extLst>
                    <a:ext uri="{9D8B030D-6E8A-4147-A177-3AD203B41FA5}">
                      <a16:colId xmlns:a16="http://schemas.microsoft.com/office/drawing/2014/main" val="2766650352"/>
                    </a:ext>
                  </a:extLst>
                </a:gridCol>
                <a:gridCol w="3329856">
                  <a:extLst>
                    <a:ext uri="{9D8B030D-6E8A-4147-A177-3AD203B41FA5}">
                      <a16:colId xmlns:a16="http://schemas.microsoft.com/office/drawing/2014/main" val="1552399456"/>
                    </a:ext>
                  </a:extLst>
                </a:gridCol>
              </a:tblGrid>
              <a:tr h="370840">
                <a:tc>
                  <a:txBody>
                    <a:bodyPr/>
                    <a:lstStyle/>
                    <a:p>
                      <a:endParaRPr lang="de-DE" dirty="0"/>
                    </a:p>
                  </a:txBody>
                  <a:tcPr/>
                </a:tc>
                <a:tc>
                  <a:txBody>
                    <a:bodyPr/>
                    <a:lstStyle/>
                    <a:p>
                      <a:r>
                        <a:rPr lang="de-DE" dirty="0" smtClean="0"/>
                        <a:t>DT [K] </a:t>
                      </a:r>
                      <a:r>
                        <a:rPr lang="de-DE" dirty="0" err="1" smtClean="0"/>
                        <a:t>predicted</a:t>
                      </a:r>
                      <a:r>
                        <a:rPr lang="de-DE" baseline="0" dirty="0" smtClean="0"/>
                        <a:t> </a:t>
                      </a:r>
                      <a:r>
                        <a:rPr lang="de-DE" baseline="0" dirty="0" err="1" smtClean="0"/>
                        <a:t>by</a:t>
                      </a:r>
                      <a:r>
                        <a:rPr lang="de-DE" baseline="0" dirty="0" smtClean="0"/>
                        <a:t> </a:t>
                      </a:r>
                      <a:r>
                        <a:rPr lang="de-DE" dirty="0" smtClean="0"/>
                        <a:t>29HDQV v2.0 </a:t>
                      </a:r>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DT [K] </a:t>
                      </a:r>
                      <a:r>
                        <a:rPr lang="de-DE" dirty="0" err="1" smtClean="0"/>
                        <a:t>Workbench</a:t>
                      </a:r>
                      <a:r>
                        <a:rPr lang="de-DE" baseline="0" dirty="0" smtClean="0"/>
                        <a:t> </a:t>
                      </a:r>
                      <a:r>
                        <a:rPr lang="de-DE" baseline="0" dirty="0" err="1" smtClean="0"/>
                        <a:t>result</a:t>
                      </a:r>
                      <a:r>
                        <a:rPr lang="de-DE" baseline="0" dirty="0" smtClean="0"/>
                        <a:t> 250 kW/m2</a:t>
                      </a:r>
                      <a:endParaRPr lang="de-D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DT [K] </a:t>
                      </a:r>
                      <a:r>
                        <a:rPr lang="de-DE" dirty="0" err="1" smtClean="0"/>
                        <a:t>Workbench</a:t>
                      </a:r>
                      <a:r>
                        <a:rPr lang="de-DE" baseline="0" dirty="0" smtClean="0"/>
                        <a:t> </a:t>
                      </a:r>
                      <a:r>
                        <a:rPr lang="de-DE" baseline="0" dirty="0" err="1" smtClean="0"/>
                        <a:t>result</a:t>
                      </a:r>
                      <a:r>
                        <a:rPr lang="de-DE" baseline="0" dirty="0" smtClean="0"/>
                        <a:t> 150 kW/m2</a:t>
                      </a:r>
                      <a:endParaRPr lang="de-D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Flow</a:t>
                      </a:r>
                      <a:r>
                        <a:rPr lang="de-DE" baseline="0" dirty="0" smtClean="0"/>
                        <a:t> rate </a:t>
                      </a:r>
                      <a:r>
                        <a:rPr lang="de-DE" dirty="0" smtClean="0"/>
                        <a:t>[l/s]</a:t>
                      </a:r>
                    </a:p>
                  </a:txBody>
                  <a:tcPr/>
                </a:tc>
                <a:extLst>
                  <a:ext uri="{0D108BD9-81ED-4DB2-BD59-A6C34878D82A}">
                    <a16:rowId xmlns:a16="http://schemas.microsoft.com/office/drawing/2014/main" val="4124498501"/>
                  </a:ext>
                </a:extLst>
              </a:tr>
              <a:tr h="370840">
                <a:tc>
                  <a:txBody>
                    <a:bodyPr/>
                    <a:lstStyle/>
                    <a:p>
                      <a:r>
                        <a:rPr lang="de-DE" dirty="0" smtClean="0"/>
                        <a:t>H77 1-ACH31AC610b</a:t>
                      </a:r>
                      <a:endParaRPr lang="de-DE" dirty="0"/>
                    </a:p>
                  </a:txBody>
                  <a:tcPr/>
                </a:tc>
                <a:tc>
                  <a:txBody>
                    <a:bodyPr/>
                    <a:lstStyle/>
                    <a:p>
                      <a:pPr algn="ctr"/>
                      <a:r>
                        <a:rPr lang="de-DE" dirty="0" smtClean="0"/>
                        <a:t>10</a:t>
                      </a:r>
                      <a:endParaRPr lang="de-DE" dirty="0"/>
                    </a:p>
                  </a:txBody>
                  <a:tcPr/>
                </a:tc>
                <a:tc>
                  <a:txBody>
                    <a:bodyPr/>
                    <a:lstStyle/>
                    <a:p>
                      <a:pPr algn="ctr"/>
                      <a:r>
                        <a:rPr lang="de-DE" dirty="0" smtClean="0"/>
                        <a:t>18,5</a:t>
                      </a:r>
                      <a:endParaRPr lang="de-DE" dirty="0"/>
                    </a:p>
                  </a:txBody>
                  <a:tcPr/>
                </a:tc>
                <a:tc>
                  <a:txBody>
                    <a:bodyPr/>
                    <a:lstStyle/>
                    <a:p>
                      <a:pPr algn="ctr"/>
                      <a:r>
                        <a:rPr lang="de-DE" dirty="0" smtClean="0"/>
                        <a:t>11,1</a:t>
                      </a:r>
                      <a:endParaRPr lang="de-DE" dirty="0"/>
                    </a:p>
                  </a:txBody>
                  <a:tcPr/>
                </a:tc>
                <a:tc>
                  <a:txBody>
                    <a:bodyPr/>
                    <a:lstStyle/>
                    <a:p>
                      <a:pPr algn="ctr"/>
                      <a:r>
                        <a:rPr lang="de-DE" dirty="0" smtClean="0"/>
                        <a:t>0,48</a:t>
                      </a:r>
                      <a:endParaRPr lang="de-DE" dirty="0"/>
                    </a:p>
                  </a:txBody>
                  <a:tcPr/>
                </a:tc>
                <a:extLst>
                  <a:ext uri="{0D108BD9-81ED-4DB2-BD59-A6C34878D82A}">
                    <a16:rowId xmlns:a16="http://schemas.microsoft.com/office/drawing/2014/main" val="552040801"/>
                  </a:ext>
                </a:extLst>
              </a:tr>
              <a:tr h="370840">
                <a:tc>
                  <a:txBody>
                    <a:bodyPr/>
                    <a:lstStyle/>
                    <a:p>
                      <a:r>
                        <a:rPr lang="de-DE" dirty="0" smtClean="0"/>
                        <a:t>H34 1-ACH31AC560b</a:t>
                      </a:r>
                      <a:endParaRPr lang="de-DE" dirty="0"/>
                    </a:p>
                  </a:txBody>
                  <a:tcPr/>
                </a:tc>
                <a:tc>
                  <a:txBody>
                    <a:bodyPr/>
                    <a:lstStyle/>
                    <a:p>
                      <a:pPr algn="ctr"/>
                      <a:r>
                        <a:rPr lang="de-DE" dirty="0" smtClean="0"/>
                        <a:t>16</a:t>
                      </a:r>
                      <a:endParaRPr lang="de-DE" dirty="0"/>
                    </a:p>
                  </a:txBody>
                  <a:tcPr/>
                </a:tc>
                <a:tc>
                  <a:txBody>
                    <a:bodyPr/>
                    <a:lstStyle/>
                    <a:p>
                      <a:pPr algn="ctr"/>
                      <a:r>
                        <a:rPr lang="de-DE" dirty="0" smtClean="0"/>
                        <a:t>27,1</a:t>
                      </a:r>
                      <a:endParaRPr lang="de-DE" dirty="0"/>
                    </a:p>
                  </a:txBody>
                  <a:tcPr/>
                </a:tc>
                <a:tc>
                  <a:txBody>
                    <a:bodyPr/>
                    <a:lstStyle/>
                    <a:p>
                      <a:pPr algn="ctr"/>
                      <a:r>
                        <a:rPr lang="de-DE" dirty="0" smtClean="0"/>
                        <a:t>16,4</a:t>
                      </a:r>
                      <a:endParaRPr lang="de-DE" dirty="0"/>
                    </a:p>
                  </a:txBody>
                  <a:tcPr/>
                </a:tc>
                <a:tc>
                  <a:txBody>
                    <a:bodyPr/>
                    <a:lstStyle/>
                    <a:p>
                      <a:pPr algn="ctr"/>
                      <a:r>
                        <a:rPr lang="de-DE" dirty="0" smtClean="0"/>
                        <a:t>0,45</a:t>
                      </a:r>
                      <a:endParaRPr lang="de-DE" dirty="0"/>
                    </a:p>
                  </a:txBody>
                  <a:tcPr/>
                </a:tc>
                <a:extLst>
                  <a:ext uri="{0D108BD9-81ED-4DB2-BD59-A6C34878D82A}">
                    <a16:rowId xmlns:a16="http://schemas.microsoft.com/office/drawing/2014/main" val="3190753439"/>
                  </a:ext>
                </a:extLst>
              </a:tr>
              <a:tr h="370840">
                <a:tc>
                  <a:txBody>
                    <a:bodyPr/>
                    <a:lstStyle/>
                    <a:p>
                      <a:r>
                        <a:rPr lang="de-DE" dirty="0" smtClean="0"/>
                        <a:t>H81 1-ACH31AC570b</a:t>
                      </a:r>
                      <a:endParaRPr lang="de-DE" dirty="0"/>
                    </a:p>
                  </a:txBody>
                  <a:tcPr/>
                </a:tc>
                <a:tc>
                  <a:txBody>
                    <a:bodyPr/>
                    <a:lstStyle/>
                    <a:p>
                      <a:pPr algn="ctr"/>
                      <a:r>
                        <a:rPr lang="de-DE" dirty="0" smtClean="0"/>
                        <a:t>19</a:t>
                      </a:r>
                      <a:endParaRPr lang="de-DE" dirty="0"/>
                    </a:p>
                  </a:txBody>
                  <a:tcPr/>
                </a:tc>
                <a:tc>
                  <a:txBody>
                    <a:bodyPr/>
                    <a:lstStyle/>
                    <a:p>
                      <a:pPr algn="ctr"/>
                      <a:r>
                        <a:rPr lang="de-DE" dirty="0" smtClean="0"/>
                        <a:t>27,1</a:t>
                      </a:r>
                      <a:endParaRPr lang="de-DE" dirty="0"/>
                    </a:p>
                  </a:txBody>
                  <a:tcPr/>
                </a:tc>
                <a:tc>
                  <a:txBody>
                    <a:bodyPr/>
                    <a:lstStyle/>
                    <a:p>
                      <a:pPr algn="ctr"/>
                      <a:r>
                        <a:rPr lang="de-DE" dirty="0" smtClean="0"/>
                        <a:t>16,4</a:t>
                      </a:r>
                      <a:endParaRPr lang="de-DE" dirty="0"/>
                    </a:p>
                  </a:txBody>
                  <a:tcPr/>
                </a:tc>
                <a:tc>
                  <a:txBody>
                    <a:bodyPr/>
                    <a:lstStyle/>
                    <a:p>
                      <a:pPr algn="ctr"/>
                      <a:r>
                        <a:rPr lang="de-DE" dirty="0" smtClean="0"/>
                        <a:t>0,7</a:t>
                      </a:r>
                      <a:endParaRPr lang="de-DE" dirty="0"/>
                    </a:p>
                  </a:txBody>
                  <a:tcPr/>
                </a:tc>
                <a:extLst>
                  <a:ext uri="{0D108BD9-81ED-4DB2-BD59-A6C34878D82A}">
                    <a16:rowId xmlns:a16="http://schemas.microsoft.com/office/drawing/2014/main" val="3208294858"/>
                  </a:ext>
                </a:extLst>
              </a:tr>
            </a:tbl>
          </a:graphicData>
        </a:graphic>
      </p:graphicFrame>
      <p:sp>
        <p:nvSpPr>
          <p:cNvPr id="3" name="Titel 2"/>
          <p:cNvSpPr>
            <a:spLocks noGrp="1"/>
          </p:cNvSpPr>
          <p:nvPr>
            <p:ph type="title"/>
          </p:nvPr>
        </p:nvSpPr>
        <p:spPr/>
        <p:txBody>
          <a:bodyPr/>
          <a:lstStyle/>
          <a:p>
            <a:r>
              <a:rPr lang="en-US" dirty="0" smtClean="0"/>
              <a:t>Results: cooling water heat up</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10</a:t>
            </a:fld>
            <a:endParaRPr lang="de-DE" dirty="0"/>
          </a:p>
        </p:txBody>
      </p:sp>
      <p:sp>
        <p:nvSpPr>
          <p:cNvPr id="2" name="Rechteck 1"/>
          <p:cNvSpPr/>
          <p:nvPr/>
        </p:nvSpPr>
        <p:spPr>
          <a:xfrm>
            <a:off x="4952541" y="4107872"/>
            <a:ext cx="2492990" cy="369332"/>
          </a:xfrm>
          <a:prstGeom prst="rect">
            <a:avLst/>
          </a:prstGeom>
          <a:solidFill>
            <a:srgbClr val="EEEEEE">
              <a:alpha val="45882"/>
            </a:srgbClr>
          </a:solidFill>
        </p:spPr>
        <p:txBody>
          <a:bodyPr wrap="none">
            <a:spAutoFit/>
          </a:bodyPr>
          <a:lstStyle/>
          <a:p>
            <a:r>
              <a:rPr lang="de-DE" b="1" dirty="0" smtClean="0"/>
              <a:t>H81 1-ACH31AC570b</a:t>
            </a:r>
            <a:endParaRPr lang="de-DE" b="1" dirty="0"/>
          </a:p>
        </p:txBody>
      </p:sp>
      <p:sp>
        <p:nvSpPr>
          <p:cNvPr id="11" name="Rechteck 10"/>
          <p:cNvSpPr/>
          <p:nvPr/>
        </p:nvSpPr>
        <p:spPr>
          <a:xfrm rot="283101">
            <a:off x="4875078" y="5876766"/>
            <a:ext cx="2492990" cy="369332"/>
          </a:xfrm>
          <a:prstGeom prst="rect">
            <a:avLst/>
          </a:prstGeom>
          <a:solidFill>
            <a:srgbClr val="EEEEEE">
              <a:alpha val="45882"/>
            </a:srgbClr>
          </a:solidFill>
        </p:spPr>
        <p:txBody>
          <a:bodyPr wrap="none">
            <a:spAutoFit/>
          </a:bodyPr>
          <a:lstStyle/>
          <a:p>
            <a:r>
              <a:rPr lang="de-DE" b="1" dirty="0" smtClean="0"/>
              <a:t>H34 1-ACH31AC560b</a:t>
            </a:r>
            <a:endParaRPr lang="de-DE" b="1" dirty="0"/>
          </a:p>
        </p:txBody>
      </p:sp>
      <p:sp>
        <p:nvSpPr>
          <p:cNvPr id="12" name="Rechteck 11"/>
          <p:cNvSpPr/>
          <p:nvPr/>
        </p:nvSpPr>
        <p:spPr>
          <a:xfrm rot="21434812">
            <a:off x="5494398" y="5083577"/>
            <a:ext cx="2492990" cy="369332"/>
          </a:xfrm>
          <a:prstGeom prst="rect">
            <a:avLst/>
          </a:prstGeom>
          <a:solidFill>
            <a:srgbClr val="EEEEEE">
              <a:alpha val="45882"/>
            </a:srgbClr>
          </a:solidFill>
        </p:spPr>
        <p:txBody>
          <a:bodyPr wrap="none">
            <a:spAutoFit/>
          </a:bodyPr>
          <a:lstStyle/>
          <a:p>
            <a:r>
              <a:rPr lang="de-DE" b="1" dirty="0" smtClean="0"/>
              <a:t>H77 </a:t>
            </a:r>
            <a:r>
              <a:rPr lang="de-DE" b="1" dirty="0"/>
              <a:t>1-ACH31AC610b</a:t>
            </a:r>
          </a:p>
        </p:txBody>
      </p:sp>
    </p:spTree>
    <p:extLst>
      <p:ext uri="{BB962C8B-B14F-4D97-AF65-F5344CB8AC3E}">
        <p14:creationId xmlns:p14="http://schemas.microsoft.com/office/powerpoint/2010/main" val="32818421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rmAutofit fontScale="90000"/>
          </a:bodyPr>
          <a:lstStyle/>
          <a:p>
            <a:r>
              <a:rPr lang="en-US" dirty="0" smtClean="0"/>
              <a:t>Results: Heat balance &amp; radiation towards PV – 250 kW/m2</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11</a:t>
            </a:fld>
            <a:endParaRPr lang="de-DE" dirty="0"/>
          </a:p>
        </p:txBody>
      </p:sp>
      <p:pic>
        <p:nvPicPr>
          <p:cNvPr id="12" name="Grafik 11"/>
          <p:cNvPicPr>
            <a:picLocks noChangeAspect="1"/>
          </p:cNvPicPr>
          <p:nvPr/>
        </p:nvPicPr>
        <p:blipFill rotWithShape="1">
          <a:blip r:embed="rId2"/>
          <a:srcRect t="16943" b="49240"/>
          <a:stretch/>
        </p:blipFill>
        <p:spPr>
          <a:xfrm>
            <a:off x="984770" y="4369871"/>
            <a:ext cx="10186740" cy="2050180"/>
          </a:xfrm>
          <a:prstGeom prst="rect">
            <a:avLst/>
          </a:prstGeom>
        </p:spPr>
      </p:pic>
      <p:graphicFrame>
        <p:nvGraphicFramePr>
          <p:cNvPr id="11" name="Inhaltsplatzhalter 10"/>
          <p:cNvGraphicFramePr>
            <a:graphicFrameLocks noGrp="1"/>
          </p:cNvGraphicFramePr>
          <p:nvPr>
            <p:ph sz="quarter" idx="13"/>
            <p:extLst/>
          </p:nvPr>
        </p:nvGraphicFramePr>
        <p:xfrm>
          <a:off x="528963" y="1001027"/>
          <a:ext cx="10967712" cy="4327893"/>
        </p:xfrm>
        <a:graphic>
          <a:graphicData uri="http://schemas.openxmlformats.org/drawingml/2006/table">
            <a:tbl>
              <a:tblPr firstRow="1" bandRow="1">
                <a:tableStyleId>{5C22544A-7EE6-4342-B048-85BDC9FD1C3A}</a:tableStyleId>
              </a:tblPr>
              <a:tblGrid>
                <a:gridCol w="3200125">
                  <a:extLst>
                    <a:ext uri="{9D8B030D-6E8A-4147-A177-3AD203B41FA5}">
                      <a16:colId xmlns:a16="http://schemas.microsoft.com/office/drawing/2014/main" val="107373047"/>
                    </a:ext>
                  </a:extLst>
                </a:gridCol>
                <a:gridCol w="1463040">
                  <a:extLst>
                    <a:ext uri="{9D8B030D-6E8A-4147-A177-3AD203B41FA5}">
                      <a16:colId xmlns:a16="http://schemas.microsoft.com/office/drawing/2014/main" val="382925162"/>
                    </a:ext>
                  </a:extLst>
                </a:gridCol>
                <a:gridCol w="2002054">
                  <a:extLst>
                    <a:ext uri="{9D8B030D-6E8A-4147-A177-3AD203B41FA5}">
                      <a16:colId xmlns:a16="http://schemas.microsoft.com/office/drawing/2014/main" val="856378803"/>
                    </a:ext>
                  </a:extLst>
                </a:gridCol>
                <a:gridCol w="1280160">
                  <a:extLst>
                    <a:ext uri="{9D8B030D-6E8A-4147-A177-3AD203B41FA5}">
                      <a16:colId xmlns:a16="http://schemas.microsoft.com/office/drawing/2014/main" val="859138558"/>
                    </a:ext>
                  </a:extLst>
                </a:gridCol>
                <a:gridCol w="3022333">
                  <a:extLst>
                    <a:ext uri="{9D8B030D-6E8A-4147-A177-3AD203B41FA5}">
                      <a16:colId xmlns:a16="http://schemas.microsoft.com/office/drawing/2014/main" val="2405115307"/>
                    </a:ext>
                  </a:extLst>
                </a:gridCol>
              </a:tblGrid>
              <a:tr h="2965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PF</a:t>
                      </a:r>
                      <a:r>
                        <a:rPr lang="de-DE" baseline="0" dirty="0" smtClean="0"/>
                        <a:t> </a:t>
                      </a:r>
                      <a:r>
                        <a:rPr lang="de-DE" baseline="0" dirty="0" err="1" smtClean="0"/>
                        <a:t>heat</a:t>
                      </a:r>
                      <a:r>
                        <a:rPr lang="de-DE" baseline="0" dirty="0" smtClean="0"/>
                        <a:t> </a:t>
                      </a:r>
                      <a:r>
                        <a:rPr lang="de-DE" dirty="0" smtClean="0"/>
                        <a:t>[W]</a:t>
                      </a:r>
                    </a:p>
                  </a:txBody>
                  <a:tcPr/>
                </a:tc>
                <a:tc>
                  <a:txBody>
                    <a:bodyPr/>
                    <a:lstStyle/>
                    <a:p>
                      <a:pPr algn="ctr"/>
                      <a:r>
                        <a:rPr lang="de-DE" dirty="0" smtClean="0"/>
                        <a:t>Ratio </a:t>
                      </a:r>
                      <a:r>
                        <a:rPr lang="de-DE" dirty="0" err="1" smtClean="0"/>
                        <a:t>of</a:t>
                      </a:r>
                      <a:r>
                        <a:rPr lang="de-DE" baseline="0" dirty="0" smtClean="0"/>
                        <a:t> PF </a:t>
                      </a:r>
                      <a:r>
                        <a:rPr lang="de-DE" baseline="0" dirty="0" err="1" smtClean="0"/>
                        <a:t>heat</a:t>
                      </a:r>
                      <a:endParaRPr lang="de-DE" dirty="0"/>
                    </a:p>
                  </a:txBody>
                  <a:tcPr/>
                </a:tc>
                <a:tc>
                  <a:txBody>
                    <a:bodyPr/>
                    <a:lstStyle/>
                    <a:p>
                      <a:pPr algn="ctr"/>
                      <a:r>
                        <a:rPr lang="de-DE" dirty="0" smtClean="0"/>
                        <a:t>Area [m2]</a:t>
                      </a:r>
                      <a:endParaRPr lang="de-DE" dirty="0"/>
                    </a:p>
                  </a:txBody>
                  <a:tcPr/>
                </a:tc>
                <a:tc>
                  <a:txBody>
                    <a:bodyPr/>
                    <a:lstStyle/>
                    <a:p>
                      <a:pPr algn="ctr"/>
                      <a:r>
                        <a:rPr lang="de-DE" dirty="0" err="1" smtClean="0"/>
                        <a:t>avg</a:t>
                      </a:r>
                      <a:r>
                        <a:rPr lang="de-DE" dirty="0" smtClean="0"/>
                        <a:t>. </a:t>
                      </a:r>
                      <a:r>
                        <a:rPr lang="de-DE" dirty="0" err="1" smtClean="0"/>
                        <a:t>rad</a:t>
                      </a:r>
                      <a:r>
                        <a:rPr lang="de-DE" dirty="0" smtClean="0"/>
                        <a:t>.</a:t>
                      </a:r>
                      <a:r>
                        <a:rPr lang="de-DE" baseline="0" dirty="0" smtClean="0"/>
                        <a:t> </a:t>
                      </a:r>
                      <a:r>
                        <a:rPr lang="de-DE" baseline="0" dirty="0" err="1" smtClean="0"/>
                        <a:t>heat</a:t>
                      </a:r>
                      <a:r>
                        <a:rPr lang="de-DE" baseline="0" dirty="0" smtClean="0"/>
                        <a:t> </a:t>
                      </a:r>
                      <a:r>
                        <a:rPr lang="de-DE" baseline="0" dirty="0" err="1" smtClean="0"/>
                        <a:t>flux</a:t>
                      </a:r>
                      <a:r>
                        <a:rPr lang="de-DE" baseline="0" dirty="0" smtClean="0"/>
                        <a:t> </a:t>
                      </a:r>
                      <a:r>
                        <a:rPr lang="de-DE" dirty="0" smtClean="0"/>
                        <a:t>[W/m2]</a:t>
                      </a:r>
                      <a:r>
                        <a:rPr lang="de-DE" baseline="0" dirty="0" smtClean="0"/>
                        <a:t> </a:t>
                      </a:r>
                      <a:endParaRPr lang="de-DE" dirty="0"/>
                    </a:p>
                  </a:txBody>
                  <a:tcPr/>
                </a:tc>
                <a:extLst>
                  <a:ext uri="{0D108BD9-81ED-4DB2-BD59-A6C34878D82A}">
                    <a16:rowId xmlns:a16="http://schemas.microsoft.com/office/drawing/2014/main" val="131257497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PF</a:t>
                      </a:r>
                      <a:r>
                        <a:rPr lang="de-DE" baseline="0" dirty="0" smtClean="0"/>
                        <a:t> </a:t>
                      </a:r>
                      <a:r>
                        <a:rPr lang="de-DE" baseline="0" dirty="0" err="1" smtClean="0"/>
                        <a:t>heat</a:t>
                      </a:r>
                      <a:r>
                        <a:rPr lang="de-DE" baseline="0" dirty="0" smtClean="0"/>
                        <a:t> </a:t>
                      </a:r>
                      <a:endParaRPr lang="de-DE"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t>171 172,5</a:t>
                      </a:r>
                    </a:p>
                  </a:txBody>
                  <a:tcPr/>
                </a:tc>
                <a:tc>
                  <a:txBody>
                    <a:bodyPr/>
                    <a:lstStyle/>
                    <a:p>
                      <a:pPr algn="ctr"/>
                      <a:r>
                        <a:rPr lang="de-DE" dirty="0" smtClean="0"/>
                        <a:t>100%</a:t>
                      </a:r>
                      <a:endParaRPr lang="de-DE" dirty="0"/>
                    </a:p>
                  </a:txBody>
                  <a:tcPr/>
                </a:tc>
                <a:tc>
                  <a:txBody>
                    <a:bodyPr/>
                    <a:lstStyle/>
                    <a:p>
                      <a:pPr algn="ctr"/>
                      <a:r>
                        <a:rPr lang="de-DE" dirty="0" smtClean="0"/>
                        <a:t>0,68469</a:t>
                      </a:r>
                      <a:endParaRPr lang="de-DE" dirty="0"/>
                    </a:p>
                  </a:txBody>
                  <a:tcPr/>
                </a:tc>
                <a:tc>
                  <a:txBody>
                    <a:bodyPr/>
                    <a:lstStyle/>
                    <a:p>
                      <a:pPr algn="ctr"/>
                      <a:endParaRPr lang="de-DE" dirty="0"/>
                    </a:p>
                  </a:txBody>
                  <a:tcPr/>
                </a:tc>
                <a:extLst>
                  <a:ext uri="{0D108BD9-81ED-4DB2-BD59-A6C34878D82A}">
                    <a16:rowId xmlns:a16="http://schemas.microsoft.com/office/drawing/2014/main" val="3343033724"/>
                  </a:ext>
                </a:extLst>
              </a:tr>
              <a:tr h="4569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aseline="0" dirty="0" err="1" smtClean="0"/>
                        <a:t>Convection</a:t>
                      </a:r>
                      <a:r>
                        <a:rPr lang="de-DE" baseline="0" dirty="0" smtClean="0"/>
                        <a:t> - </a:t>
                      </a:r>
                      <a:r>
                        <a:rPr lang="de-DE" baseline="0" dirty="0" err="1" smtClean="0"/>
                        <a:t>c</a:t>
                      </a:r>
                      <a:r>
                        <a:rPr lang="de-DE" dirty="0" err="1" smtClean="0"/>
                        <a:t>ooling</a:t>
                      </a:r>
                      <a:r>
                        <a:rPr lang="de-DE" baseline="0" dirty="0" smtClean="0"/>
                        <a:t> </a:t>
                      </a:r>
                      <a:r>
                        <a:rPr lang="de-DE" baseline="0" dirty="0" err="1" smtClean="0"/>
                        <a:t>pipes</a:t>
                      </a:r>
                      <a:r>
                        <a:rPr lang="de-DE" baseline="0" dirty="0" smtClean="0"/>
                        <a:t> </a:t>
                      </a:r>
                      <a:endParaRPr lang="de-DE" dirty="0" smtClean="0"/>
                    </a:p>
                  </a:txBody>
                  <a:tcPr/>
                </a:tc>
                <a:tc>
                  <a:txBody>
                    <a:bodyPr/>
                    <a:lstStyle/>
                    <a:p>
                      <a:pPr algn="ctr"/>
                      <a:r>
                        <a:rPr lang="de-DE" dirty="0" smtClean="0"/>
                        <a:t>-167658</a:t>
                      </a:r>
                    </a:p>
                  </a:txBody>
                  <a:tcPr/>
                </a:tc>
                <a:tc>
                  <a:txBody>
                    <a:bodyPr/>
                    <a:lstStyle/>
                    <a:p>
                      <a:pPr algn="ctr"/>
                      <a:r>
                        <a:rPr lang="de-DE" dirty="0" smtClean="0"/>
                        <a:t>97,9%</a:t>
                      </a:r>
                      <a:endParaRPr lang="de-DE" dirty="0"/>
                    </a:p>
                  </a:txBody>
                  <a:tcPr/>
                </a:tc>
                <a:tc>
                  <a:txBody>
                    <a:bodyPr/>
                    <a:lstStyle/>
                    <a:p>
                      <a:pPr algn="ctr"/>
                      <a:r>
                        <a:rPr lang="de-DE" dirty="0" smtClean="0"/>
                        <a:t>0,24492</a:t>
                      </a:r>
                      <a:endParaRPr lang="de-DE" dirty="0"/>
                    </a:p>
                  </a:txBody>
                  <a:tcPr/>
                </a:tc>
                <a:tc>
                  <a:txBody>
                    <a:bodyPr/>
                    <a:lstStyle/>
                    <a:p>
                      <a:pPr algn="ctr"/>
                      <a:r>
                        <a:rPr lang="de-DE" dirty="0" smtClean="0"/>
                        <a:t>-</a:t>
                      </a:r>
                      <a:endParaRPr lang="de-DE" dirty="0"/>
                    </a:p>
                  </a:txBody>
                  <a:tcPr/>
                </a:tc>
                <a:extLst>
                  <a:ext uri="{0D108BD9-81ED-4DB2-BD59-A6C34878D82A}">
                    <a16:rowId xmlns:a16="http://schemas.microsoft.com/office/drawing/2014/main" val="4068201041"/>
                  </a:ext>
                </a:extLst>
              </a:tr>
              <a:tr h="370840">
                <a:tc>
                  <a:txBody>
                    <a:bodyPr/>
                    <a:lstStyle/>
                    <a:p>
                      <a:r>
                        <a:rPr lang="de-DE" baseline="0" dirty="0" err="1" smtClean="0"/>
                        <a:t>Convection</a:t>
                      </a:r>
                      <a:r>
                        <a:rPr lang="de-DE" baseline="0" dirty="0" smtClean="0"/>
                        <a:t> - i</a:t>
                      </a:r>
                      <a:r>
                        <a:rPr lang="de-DE" dirty="0" smtClean="0"/>
                        <a:t>n/outlet</a:t>
                      </a:r>
                      <a:r>
                        <a:rPr lang="de-DE" baseline="0" dirty="0" smtClean="0"/>
                        <a:t> </a:t>
                      </a:r>
                      <a:r>
                        <a:rPr lang="de-DE" baseline="0" dirty="0" err="1" smtClean="0"/>
                        <a:t>areas</a:t>
                      </a:r>
                      <a:r>
                        <a:rPr lang="de-DE" baseline="0" dirty="0" smtClean="0"/>
                        <a:t> </a:t>
                      </a:r>
                      <a:r>
                        <a:rPr lang="de-DE" baseline="0" dirty="0" err="1" smtClean="0"/>
                        <a:t>of</a:t>
                      </a:r>
                      <a:r>
                        <a:rPr lang="de-DE" baseline="0" dirty="0" smtClean="0"/>
                        <a:t> </a:t>
                      </a:r>
                      <a:r>
                        <a:rPr lang="de-DE" baseline="0" dirty="0" err="1" smtClean="0"/>
                        <a:t>c</a:t>
                      </a:r>
                      <a:r>
                        <a:rPr lang="de-DE" dirty="0" err="1" smtClean="0"/>
                        <a:t>ooling</a:t>
                      </a:r>
                      <a:r>
                        <a:rPr lang="de-DE" baseline="0" dirty="0" smtClean="0"/>
                        <a:t> </a:t>
                      </a:r>
                      <a:r>
                        <a:rPr lang="de-DE" baseline="0" dirty="0" err="1" smtClean="0"/>
                        <a:t>pipes</a:t>
                      </a:r>
                      <a:endParaRPr lang="de-DE" dirty="0"/>
                    </a:p>
                  </a:txBody>
                  <a:tcPr/>
                </a:tc>
                <a:tc>
                  <a:txBody>
                    <a:bodyPr/>
                    <a:lstStyle/>
                    <a:p>
                      <a:pPr algn="ctr"/>
                      <a:r>
                        <a:rPr lang="de-DE" dirty="0" smtClean="0"/>
                        <a:t>-104,44</a:t>
                      </a:r>
                    </a:p>
                    <a:p>
                      <a:pPr algn="ctr"/>
                      <a:endParaRPr lang="de-DE" dirty="0"/>
                    </a:p>
                  </a:txBody>
                  <a:tcPr/>
                </a:tc>
                <a:tc>
                  <a:txBody>
                    <a:bodyPr/>
                    <a:lstStyle/>
                    <a:p>
                      <a:pPr algn="ctr"/>
                      <a:r>
                        <a:rPr lang="de-DE" baseline="0" dirty="0" smtClean="0"/>
                        <a:t>0,06%</a:t>
                      </a:r>
                      <a:endParaRPr lang="de-DE" dirty="0"/>
                    </a:p>
                  </a:txBody>
                  <a:tcPr/>
                </a:tc>
                <a:tc>
                  <a:txBody>
                    <a:bodyPr/>
                    <a:lstStyle/>
                    <a:p>
                      <a:pPr algn="ctr"/>
                      <a:r>
                        <a:rPr lang="de-DE" dirty="0" smtClean="0"/>
                        <a:t>0,00999</a:t>
                      </a:r>
                      <a:endParaRPr lang="de-DE" dirty="0"/>
                    </a:p>
                  </a:txBody>
                  <a:tcPr/>
                </a:tc>
                <a:tc>
                  <a:txBody>
                    <a:bodyPr/>
                    <a:lstStyle/>
                    <a:p>
                      <a:pPr algn="ctr"/>
                      <a:r>
                        <a:rPr lang="de-DE" dirty="0" smtClean="0"/>
                        <a:t>-</a:t>
                      </a:r>
                      <a:endParaRPr lang="de-DE" dirty="0"/>
                    </a:p>
                  </a:txBody>
                  <a:tcPr/>
                </a:tc>
                <a:extLst>
                  <a:ext uri="{0D108BD9-81ED-4DB2-BD59-A6C34878D82A}">
                    <a16:rowId xmlns:a16="http://schemas.microsoft.com/office/drawing/2014/main" val="3038861956"/>
                  </a:ext>
                </a:extLst>
              </a:tr>
              <a:tr h="370840">
                <a:tc>
                  <a:txBody>
                    <a:bodyPr/>
                    <a:lstStyle/>
                    <a:p>
                      <a:r>
                        <a:rPr lang="de-DE" dirty="0" smtClean="0"/>
                        <a:t>Radiation – </a:t>
                      </a:r>
                      <a:r>
                        <a:rPr lang="de-DE" dirty="0" err="1" smtClean="0"/>
                        <a:t>graphite</a:t>
                      </a:r>
                      <a:endParaRPr lang="de-DE" dirty="0"/>
                    </a:p>
                  </a:txBody>
                  <a:tcPr/>
                </a:tc>
                <a:tc>
                  <a:txBody>
                    <a:bodyPr/>
                    <a:lstStyle/>
                    <a:p>
                      <a:pPr algn="ctr"/>
                      <a:r>
                        <a:rPr lang="de-DE" dirty="0" smtClean="0"/>
                        <a:t>-3116,9</a:t>
                      </a:r>
                    </a:p>
                  </a:txBody>
                  <a:tcPr/>
                </a:tc>
                <a:tc>
                  <a:txBody>
                    <a:bodyPr/>
                    <a:lstStyle/>
                    <a:p>
                      <a:pPr algn="ctr"/>
                      <a:r>
                        <a:rPr lang="de-DE" dirty="0" smtClean="0"/>
                        <a:t>1,82%</a:t>
                      </a:r>
                      <a:endParaRPr lang="de-DE" dirty="0"/>
                    </a:p>
                  </a:txBody>
                  <a:tcPr/>
                </a:tc>
                <a:tc>
                  <a:txBody>
                    <a:bodyPr/>
                    <a:lstStyle/>
                    <a:p>
                      <a:pPr algn="ctr"/>
                      <a:r>
                        <a:rPr lang="de-DE" dirty="0" smtClean="0"/>
                        <a:t>0,25607</a:t>
                      </a:r>
                      <a:endParaRPr lang="de-DE" dirty="0"/>
                    </a:p>
                  </a:txBody>
                  <a:tcPr/>
                </a:tc>
                <a:tc>
                  <a:txBody>
                    <a:bodyPr/>
                    <a:lstStyle/>
                    <a:p>
                      <a:pPr algn="ctr"/>
                      <a:r>
                        <a:rPr lang="de-DE" dirty="0" smtClean="0"/>
                        <a:t>12172</a:t>
                      </a:r>
                      <a:endParaRPr lang="de-DE" dirty="0"/>
                    </a:p>
                  </a:txBody>
                  <a:tcPr/>
                </a:tc>
                <a:extLst>
                  <a:ext uri="{0D108BD9-81ED-4DB2-BD59-A6C34878D82A}">
                    <a16:rowId xmlns:a16="http://schemas.microsoft.com/office/drawing/2014/main" val="2637364627"/>
                  </a:ext>
                </a:extLst>
              </a:tr>
              <a:tr h="370840">
                <a:tc>
                  <a:txBody>
                    <a:bodyPr/>
                    <a:lstStyle/>
                    <a:p>
                      <a:r>
                        <a:rPr lang="de-DE" dirty="0" smtClean="0"/>
                        <a:t>Radiation – </a:t>
                      </a:r>
                      <a:r>
                        <a:rPr lang="de-DE" dirty="0" err="1" smtClean="0"/>
                        <a:t>CuCrZr</a:t>
                      </a:r>
                      <a:endParaRPr lang="de-DE" dirty="0"/>
                    </a:p>
                  </a:txBody>
                  <a:tcPr/>
                </a:tc>
                <a:tc>
                  <a:txBody>
                    <a:bodyPr/>
                    <a:lstStyle/>
                    <a:p>
                      <a:pPr algn="ctr"/>
                      <a:r>
                        <a:rPr lang="de-DE" dirty="0" smtClean="0"/>
                        <a:t>-231,654</a:t>
                      </a:r>
                    </a:p>
                  </a:txBody>
                  <a:tcPr/>
                </a:tc>
                <a:tc>
                  <a:txBody>
                    <a:bodyPr/>
                    <a:lstStyle/>
                    <a:p>
                      <a:pPr algn="ctr"/>
                      <a:r>
                        <a:rPr lang="de-DE" dirty="0" smtClean="0"/>
                        <a:t>0,13%</a:t>
                      </a:r>
                      <a:endParaRPr lang="de-DE" dirty="0"/>
                    </a:p>
                  </a:txBody>
                  <a:tcPr/>
                </a:tc>
                <a:tc>
                  <a:txBody>
                    <a:bodyPr/>
                    <a:lstStyle/>
                    <a:p>
                      <a:pPr algn="ctr"/>
                      <a:r>
                        <a:rPr lang="de-DE" dirty="0" smtClean="0"/>
                        <a:t>0,28789</a:t>
                      </a:r>
                      <a:endParaRPr lang="de-DE" dirty="0"/>
                    </a:p>
                  </a:txBody>
                  <a:tcPr/>
                </a:tc>
                <a:tc>
                  <a:txBody>
                    <a:bodyPr/>
                    <a:lstStyle/>
                    <a:p>
                      <a:pPr algn="ctr"/>
                      <a:r>
                        <a:rPr lang="de-DE" dirty="0" smtClean="0"/>
                        <a:t>804</a:t>
                      </a:r>
                      <a:endParaRPr lang="de-DE" dirty="0"/>
                    </a:p>
                  </a:txBody>
                  <a:tcPr/>
                </a:tc>
                <a:extLst>
                  <a:ext uri="{0D108BD9-81ED-4DB2-BD59-A6C34878D82A}">
                    <a16:rowId xmlns:a16="http://schemas.microsoft.com/office/drawing/2014/main" val="4001898228"/>
                  </a:ext>
                </a:extLst>
              </a:tr>
              <a:tr h="370840">
                <a:tc>
                  <a:txBody>
                    <a:bodyPr/>
                    <a:lstStyle/>
                    <a:p>
                      <a:r>
                        <a:rPr lang="de-DE" dirty="0" smtClean="0"/>
                        <a:t>Radiation</a:t>
                      </a:r>
                      <a:r>
                        <a:rPr lang="de-DE" baseline="0" dirty="0" smtClean="0"/>
                        <a:t> – </a:t>
                      </a:r>
                      <a:r>
                        <a:rPr lang="de-DE" baseline="0" dirty="0" err="1" smtClean="0"/>
                        <a:t>pipes</a:t>
                      </a:r>
                      <a:endParaRPr lang="de-DE" dirty="0"/>
                    </a:p>
                  </a:txBody>
                  <a:tcPr/>
                </a:tc>
                <a:tc>
                  <a:txBody>
                    <a:bodyPr/>
                    <a:lstStyle/>
                    <a:p>
                      <a:pPr algn="ctr"/>
                      <a:r>
                        <a:rPr lang="de-DE" dirty="0" smtClean="0"/>
                        <a:t>106,431</a:t>
                      </a:r>
                      <a:endParaRPr lang="de-DE" dirty="0"/>
                    </a:p>
                  </a:txBody>
                  <a:tcPr/>
                </a:tc>
                <a:tc>
                  <a:txBody>
                    <a:bodyPr/>
                    <a:lstStyle/>
                    <a:p>
                      <a:pPr algn="ctr"/>
                      <a:r>
                        <a:rPr lang="de-DE" baseline="0" dirty="0" smtClean="0"/>
                        <a:t>0,06%</a:t>
                      </a:r>
                      <a:endParaRPr lang="de-DE" dirty="0"/>
                    </a:p>
                  </a:txBody>
                  <a:tcPr/>
                </a:tc>
                <a:tc>
                  <a:txBody>
                    <a:bodyPr/>
                    <a:lstStyle/>
                    <a:p>
                      <a:pPr algn="ctr"/>
                      <a:r>
                        <a:rPr lang="de-DE" dirty="0" smtClean="0"/>
                        <a:t>0,14005</a:t>
                      </a:r>
                      <a:endParaRPr lang="de-DE" dirty="0"/>
                    </a:p>
                  </a:txBody>
                  <a:tcPr/>
                </a:tc>
                <a:tc>
                  <a:txBody>
                    <a:bodyPr/>
                    <a:lstStyle/>
                    <a:p>
                      <a:pPr algn="ctr"/>
                      <a:r>
                        <a:rPr lang="de-DE" dirty="0" smtClean="0"/>
                        <a:t>760</a:t>
                      </a:r>
                      <a:endParaRPr lang="de-DE" dirty="0"/>
                    </a:p>
                  </a:txBody>
                  <a:tcPr/>
                </a:tc>
                <a:extLst>
                  <a:ext uri="{0D108BD9-81ED-4DB2-BD59-A6C34878D82A}">
                    <a16:rowId xmlns:a16="http://schemas.microsoft.com/office/drawing/2014/main" val="37468463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Radiation</a:t>
                      </a:r>
                      <a:r>
                        <a:rPr lang="de-DE" baseline="0" dirty="0" smtClean="0"/>
                        <a:t> – </a:t>
                      </a:r>
                      <a:r>
                        <a:rPr lang="de-DE" baseline="0" dirty="0" err="1" smtClean="0"/>
                        <a:t>connector</a:t>
                      </a:r>
                      <a:r>
                        <a:rPr lang="de-DE" baseline="0" dirty="0" smtClean="0"/>
                        <a:t> </a:t>
                      </a:r>
                      <a:r>
                        <a:rPr lang="de-DE" baseline="0" dirty="0" err="1" smtClean="0"/>
                        <a:t>plates</a:t>
                      </a:r>
                      <a:endParaRPr lang="de-DE" dirty="0" smtClean="0"/>
                    </a:p>
                  </a:txBody>
                  <a:tcPr/>
                </a:tc>
                <a:tc>
                  <a:txBody>
                    <a:bodyPr/>
                    <a:lstStyle/>
                    <a:p>
                      <a:pPr algn="ctr"/>
                      <a:r>
                        <a:rPr lang="de-DE" dirty="0" smtClean="0"/>
                        <a:t>-111,531</a:t>
                      </a:r>
                    </a:p>
                  </a:txBody>
                  <a:tcPr/>
                </a:tc>
                <a:tc>
                  <a:txBody>
                    <a:bodyPr/>
                    <a:lstStyle/>
                    <a:p>
                      <a:pPr algn="ctr"/>
                      <a:r>
                        <a:rPr lang="de-DE" dirty="0" smtClean="0"/>
                        <a:t>0,06%</a:t>
                      </a:r>
                      <a:endParaRPr lang="de-DE" dirty="0"/>
                    </a:p>
                  </a:txBody>
                  <a:tcPr/>
                </a:tc>
                <a:tc>
                  <a:txBody>
                    <a:bodyPr/>
                    <a:lstStyle/>
                    <a:p>
                      <a:pPr algn="ctr"/>
                      <a:r>
                        <a:rPr lang="de-DE" dirty="0" smtClean="0"/>
                        <a:t>0,10799</a:t>
                      </a:r>
                      <a:endParaRPr lang="de-DE" dirty="0"/>
                    </a:p>
                  </a:txBody>
                  <a:tcPr/>
                </a:tc>
                <a:tc>
                  <a:txBody>
                    <a:bodyPr/>
                    <a:lstStyle/>
                    <a:p>
                      <a:pPr algn="ctr"/>
                      <a:r>
                        <a:rPr lang="de-DE" dirty="0" smtClean="0"/>
                        <a:t>1032</a:t>
                      </a:r>
                      <a:endParaRPr lang="de-DE" dirty="0"/>
                    </a:p>
                  </a:txBody>
                  <a:tcPr/>
                </a:tc>
                <a:extLst>
                  <a:ext uri="{0D108BD9-81ED-4DB2-BD59-A6C34878D82A}">
                    <a16:rowId xmlns:a16="http://schemas.microsoft.com/office/drawing/2014/main" val="4116489916"/>
                  </a:ext>
                </a:extLst>
              </a:tr>
              <a:tr h="370840">
                <a:tc>
                  <a:txBody>
                    <a:bodyPr/>
                    <a:lstStyle/>
                    <a:p>
                      <a:r>
                        <a:rPr lang="de-DE" dirty="0" err="1" smtClean="0"/>
                        <a:t>Conduction</a:t>
                      </a:r>
                      <a:r>
                        <a:rPr lang="de-DE" dirty="0" smtClean="0"/>
                        <a:t> – </a:t>
                      </a:r>
                      <a:r>
                        <a:rPr lang="de-DE" dirty="0" err="1" smtClean="0"/>
                        <a:t>supports</a:t>
                      </a:r>
                      <a:r>
                        <a:rPr lang="de-DE" dirty="0" smtClean="0"/>
                        <a:t> </a:t>
                      </a:r>
                      <a:r>
                        <a:rPr lang="de-DE" dirty="0" err="1" smtClean="0"/>
                        <a:t>to</a:t>
                      </a:r>
                      <a:r>
                        <a:rPr lang="de-DE" baseline="0" dirty="0" smtClean="0"/>
                        <a:t> </a:t>
                      </a:r>
                      <a:r>
                        <a:rPr lang="de-DE" baseline="0" dirty="0" err="1" smtClean="0"/>
                        <a:t>vessel</a:t>
                      </a:r>
                      <a:endParaRPr lang="de-DE" dirty="0"/>
                    </a:p>
                  </a:txBody>
                  <a:tcPr/>
                </a:tc>
                <a:tc>
                  <a:txBody>
                    <a:bodyPr/>
                    <a:lstStyle/>
                    <a:p>
                      <a:pPr algn="ctr"/>
                      <a:r>
                        <a:rPr lang="de-DE" dirty="0" smtClean="0"/>
                        <a:t>-26,7</a:t>
                      </a:r>
                    </a:p>
                    <a:p>
                      <a:pPr algn="ctr"/>
                      <a:endParaRPr lang="de-DE" dirty="0"/>
                    </a:p>
                  </a:txBody>
                  <a:tcPr/>
                </a:tc>
                <a:tc>
                  <a:txBody>
                    <a:bodyPr/>
                    <a:lstStyle/>
                    <a:p>
                      <a:pPr algn="ctr"/>
                      <a:r>
                        <a:rPr lang="de-DE" dirty="0" smtClean="0"/>
                        <a:t>0,01%</a:t>
                      </a:r>
                      <a:endParaRPr lang="de-DE" dirty="0"/>
                    </a:p>
                  </a:txBody>
                  <a:tcPr/>
                </a:tc>
                <a:tc>
                  <a:txBody>
                    <a:bodyPr/>
                    <a:lstStyle/>
                    <a:p>
                      <a:pPr algn="ctr"/>
                      <a:r>
                        <a:rPr lang="de-DE" dirty="0" smtClean="0"/>
                        <a:t>0,0007</a:t>
                      </a:r>
                      <a:endParaRPr lang="de-DE" dirty="0"/>
                    </a:p>
                  </a:txBody>
                  <a:tcPr/>
                </a:tc>
                <a:tc>
                  <a:txBody>
                    <a:bodyPr/>
                    <a:lstStyle/>
                    <a:p>
                      <a:pPr algn="ctr"/>
                      <a:r>
                        <a:rPr lang="de-DE" dirty="0" smtClean="0"/>
                        <a:t>-</a:t>
                      </a:r>
                      <a:endParaRPr lang="de-DE" dirty="0"/>
                    </a:p>
                  </a:txBody>
                  <a:tcPr/>
                </a:tc>
                <a:extLst>
                  <a:ext uri="{0D108BD9-81ED-4DB2-BD59-A6C34878D82A}">
                    <a16:rowId xmlns:a16="http://schemas.microsoft.com/office/drawing/2014/main" val="2769431078"/>
                  </a:ext>
                </a:extLst>
              </a:tr>
              <a:tr h="370840">
                <a:tc>
                  <a:txBody>
                    <a:bodyPr/>
                    <a:lstStyle/>
                    <a:p>
                      <a:r>
                        <a:rPr lang="de-DE" b="1" dirty="0" smtClean="0"/>
                        <a:t>SUM</a:t>
                      </a:r>
                      <a:endParaRPr lang="de-DE" b="1" dirty="0"/>
                    </a:p>
                  </a:txBody>
                  <a:tcPr/>
                </a:tc>
                <a:tc>
                  <a:txBody>
                    <a:bodyPr/>
                    <a:lstStyle/>
                    <a:p>
                      <a:pPr algn="ctr"/>
                      <a:r>
                        <a:rPr lang="de-DE" b="1" dirty="0" smtClean="0"/>
                        <a:t>29,66</a:t>
                      </a:r>
                      <a:endParaRPr lang="de-DE" b="1" dirty="0"/>
                    </a:p>
                  </a:txBody>
                  <a:tcPr/>
                </a:tc>
                <a:tc>
                  <a:txBody>
                    <a:bodyPr/>
                    <a:lstStyle/>
                    <a:p>
                      <a:pPr algn="ctr"/>
                      <a:r>
                        <a:rPr lang="de-DE" b="1" dirty="0" smtClean="0"/>
                        <a:t>-</a:t>
                      </a:r>
                      <a:endParaRPr lang="de-DE" b="1" dirty="0"/>
                    </a:p>
                  </a:txBody>
                  <a:tcPr/>
                </a:tc>
                <a:tc>
                  <a:txBody>
                    <a:bodyPr/>
                    <a:lstStyle/>
                    <a:p>
                      <a:pPr algn="ctr"/>
                      <a:endParaRPr lang="de-DE" b="1" dirty="0"/>
                    </a:p>
                  </a:txBody>
                  <a:tcPr/>
                </a:tc>
                <a:tc>
                  <a:txBody>
                    <a:bodyPr/>
                    <a:lstStyle/>
                    <a:p>
                      <a:pPr algn="ctr"/>
                      <a:r>
                        <a:rPr lang="de-DE" b="1" dirty="0" smtClean="0"/>
                        <a:t>4234,41</a:t>
                      </a:r>
                    </a:p>
                  </a:txBody>
                  <a:tcPr/>
                </a:tc>
                <a:extLst>
                  <a:ext uri="{0D108BD9-81ED-4DB2-BD59-A6C34878D82A}">
                    <a16:rowId xmlns:a16="http://schemas.microsoft.com/office/drawing/2014/main" val="3117367321"/>
                  </a:ext>
                </a:extLst>
              </a:tr>
            </a:tbl>
          </a:graphicData>
        </a:graphic>
      </p:graphicFrame>
    </p:spTree>
    <p:extLst>
      <p:ext uri="{BB962C8B-B14F-4D97-AF65-F5344CB8AC3E}">
        <p14:creationId xmlns:p14="http://schemas.microsoft.com/office/powerpoint/2010/main" val="24043547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rmAutofit fontScale="90000"/>
          </a:bodyPr>
          <a:lstStyle/>
          <a:p>
            <a:r>
              <a:rPr lang="en-US" dirty="0" smtClean="0"/>
              <a:t>Results: Heat balance &amp; radiation towards PV – 150 kW/m2</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12</a:t>
            </a:fld>
            <a:endParaRPr lang="de-DE" dirty="0"/>
          </a:p>
        </p:txBody>
      </p:sp>
      <p:pic>
        <p:nvPicPr>
          <p:cNvPr id="12" name="Grafik 11"/>
          <p:cNvPicPr>
            <a:picLocks noChangeAspect="1"/>
          </p:cNvPicPr>
          <p:nvPr/>
        </p:nvPicPr>
        <p:blipFill rotWithShape="1">
          <a:blip r:embed="rId2"/>
          <a:srcRect t="16943" b="49240"/>
          <a:stretch/>
        </p:blipFill>
        <p:spPr>
          <a:xfrm>
            <a:off x="984770" y="4369871"/>
            <a:ext cx="10186740" cy="2050180"/>
          </a:xfrm>
          <a:prstGeom prst="rect">
            <a:avLst/>
          </a:prstGeom>
        </p:spPr>
      </p:pic>
      <p:graphicFrame>
        <p:nvGraphicFramePr>
          <p:cNvPr id="11" name="Inhaltsplatzhalter 10"/>
          <p:cNvGraphicFramePr>
            <a:graphicFrameLocks noGrp="1"/>
          </p:cNvGraphicFramePr>
          <p:nvPr>
            <p:ph sz="quarter" idx="13"/>
            <p:extLst/>
          </p:nvPr>
        </p:nvGraphicFramePr>
        <p:xfrm>
          <a:off x="528963" y="1001027"/>
          <a:ext cx="10967712" cy="4241800"/>
        </p:xfrm>
        <a:graphic>
          <a:graphicData uri="http://schemas.openxmlformats.org/drawingml/2006/table">
            <a:tbl>
              <a:tblPr firstRow="1" bandRow="1">
                <a:tableStyleId>{5C22544A-7EE6-4342-B048-85BDC9FD1C3A}</a:tableStyleId>
              </a:tblPr>
              <a:tblGrid>
                <a:gridCol w="3200125">
                  <a:extLst>
                    <a:ext uri="{9D8B030D-6E8A-4147-A177-3AD203B41FA5}">
                      <a16:colId xmlns:a16="http://schemas.microsoft.com/office/drawing/2014/main" val="107373047"/>
                    </a:ext>
                  </a:extLst>
                </a:gridCol>
                <a:gridCol w="1463040">
                  <a:extLst>
                    <a:ext uri="{9D8B030D-6E8A-4147-A177-3AD203B41FA5}">
                      <a16:colId xmlns:a16="http://schemas.microsoft.com/office/drawing/2014/main" val="382925162"/>
                    </a:ext>
                  </a:extLst>
                </a:gridCol>
                <a:gridCol w="2002054">
                  <a:extLst>
                    <a:ext uri="{9D8B030D-6E8A-4147-A177-3AD203B41FA5}">
                      <a16:colId xmlns:a16="http://schemas.microsoft.com/office/drawing/2014/main" val="856378803"/>
                    </a:ext>
                  </a:extLst>
                </a:gridCol>
                <a:gridCol w="1280160">
                  <a:extLst>
                    <a:ext uri="{9D8B030D-6E8A-4147-A177-3AD203B41FA5}">
                      <a16:colId xmlns:a16="http://schemas.microsoft.com/office/drawing/2014/main" val="859138558"/>
                    </a:ext>
                  </a:extLst>
                </a:gridCol>
                <a:gridCol w="3022333">
                  <a:extLst>
                    <a:ext uri="{9D8B030D-6E8A-4147-A177-3AD203B41FA5}">
                      <a16:colId xmlns:a16="http://schemas.microsoft.com/office/drawing/2014/main" val="2405115307"/>
                    </a:ext>
                  </a:extLst>
                </a:gridCol>
              </a:tblGrid>
              <a:tr h="2965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PF</a:t>
                      </a:r>
                      <a:r>
                        <a:rPr lang="de-DE" baseline="0" dirty="0" smtClean="0"/>
                        <a:t> </a:t>
                      </a:r>
                      <a:r>
                        <a:rPr lang="de-DE" baseline="0" dirty="0" err="1" smtClean="0"/>
                        <a:t>heat</a:t>
                      </a:r>
                      <a:r>
                        <a:rPr lang="de-DE" baseline="0" dirty="0" smtClean="0"/>
                        <a:t> </a:t>
                      </a:r>
                      <a:r>
                        <a:rPr lang="de-DE" dirty="0" smtClean="0"/>
                        <a:t>[W]</a:t>
                      </a:r>
                    </a:p>
                  </a:txBody>
                  <a:tcPr/>
                </a:tc>
                <a:tc>
                  <a:txBody>
                    <a:bodyPr/>
                    <a:lstStyle/>
                    <a:p>
                      <a:pPr algn="ctr"/>
                      <a:r>
                        <a:rPr lang="de-DE" dirty="0" smtClean="0"/>
                        <a:t>Ratio </a:t>
                      </a:r>
                      <a:r>
                        <a:rPr lang="de-DE" dirty="0" err="1" smtClean="0"/>
                        <a:t>of</a:t>
                      </a:r>
                      <a:r>
                        <a:rPr lang="de-DE" baseline="0" dirty="0" smtClean="0"/>
                        <a:t> PF </a:t>
                      </a:r>
                      <a:r>
                        <a:rPr lang="de-DE" baseline="0" dirty="0" err="1" smtClean="0"/>
                        <a:t>heat</a:t>
                      </a:r>
                      <a:endParaRPr lang="de-DE" dirty="0"/>
                    </a:p>
                  </a:txBody>
                  <a:tcPr/>
                </a:tc>
                <a:tc>
                  <a:txBody>
                    <a:bodyPr/>
                    <a:lstStyle/>
                    <a:p>
                      <a:pPr algn="ctr"/>
                      <a:r>
                        <a:rPr lang="de-DE" dirty="0" smtClean="0"/>
                        <a:t>Area [m2]</a:t>
                      </a:r>
                      <a:endParaRPr lang="de-DE" dirty="0"/>
                    </a:p>
                  </a:txBody>
                  <a:tcPr/>
                </a:tc>
                <a:tc>
                  <a:txBody>
                    <a:bodyPr/>
                    <a:lstStyle/>
                    <a:p>
                      <a:pPr algn="ctr"/>
                      <a:r>
                        <a:rPr lang="de-DE" dirty="0" err="1" smtClean="0"/>
                        <a:t>avg</a:t>
                      </a:r>
                      <a:r>
                        <a:rPr lang="de-DE" dirty="0" smtClean="0"/>
                        <a:t>. </a:t>
                      </a:r>
                      <a:r>
                        <a:rPr lang="de-DE" dirty="0" err="1" smtClean="0"/>
                        <a:t>rad</a:t>
                      </a:r>
                      <a:r>
                        <a:rPr lang="de-DE" dirty="0" smtClean="0"/>
                        <a:t>.</a:t>
                      </a:r>
                      <a:r>
                        <a:rPr lang="de-DE" baseline="0" dirty="0" smtClean="0"/>
                        <a:t> </a:t>
                      </a:r>
                      <a:r>
                        <a:rPr lang="de-DE" baseline="0" dirty="0" err="1" smtClean="0"/>
                        <a:t>heat</a:t>
                      </a:r>
                      <a:r>
                        <a:rPr lang="de-DE" baseline="0" dirty="0" smtClean="0"/>
                        <a:t> </a:t>
                      </a:r>
                      <a:r>
                        <a:rPr lang="de-DE" baseline="0" dirty="0" err="1" smtClean="0"/>
                        <a:t>flux</a:t>
                      </a:r>
                      <a:r>
                        <a:rPr lang="de-DE" baseline="0" dirty="0" smtClean="0"/>
                        <a:t> </a:t>
                      </a:r>
                      <a:r>
                        <a:rPr lang="de-DE" dirty="0" smtClean="0"/>
                        <a:t>[W/m2]</a:t>
                      </a:r>
                      <a:r>
                        <a:rPr lang="de-DE" baseline="0" dirty="0" smtClean="0"/>
                        <a:t> </a:t>
                      </a:r>
                      <a:endParaRPr lang="de-DE" dirty="0"/>
                    </a:p>
                  </a:txBody>
                  <a:tcPr/>
                </a:tc>
                <a:extLst>
                  <a:ext uri="{0D108BD9-81ED-4DB2-BD59-A6C34878D82A}">
                    <a16:rowId xmlns:a16="http://schemas.microsoft.com/office/drawing/2014/main" val="131257497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PF</a:t>
                      </a:r>
                      <a:r>
                        <a:rPr lang="de-DE" baseline="0" dirty="0" smtClean="0"/>
                        <a:t> </a:t>
                      </a:r>
                      <a:r>
                        <a:rPr lang="de-DE" baseline="0" dirty="0" err="1" smtClean="0"/>
                        <a:t>heat</a:t>
                      </a:r>
                      <a:r>
                        <a:rPr lang="de-DE" baseline="0" dirty="0" smtClean="0"/>
                        <a:t> </a:t>
                      </a:r>
                      <a:endParaRPr lang="de-DE"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dirty="0" smtClean="0"/>
                        <a:t>102 703,5</a:t>
                      </a:r>
                    </a:p>
                  </a:txBody>
                  <a:tcPr/>
                </a:tc>
                <a:tc>
                  <a:txBody>
                    <a:bodyPr/>
                    <a:lstStyle/>
                    <a:p>
                      <a:pPr algn="ctr"/>
                      <a:r>
                        <a:rPr lang="de-DE" dirty="0" smtClean="0"/>
                        <a:t>100%</a:t>
                      </a:r>
                      <a:endParaRPr lang="de-DE" dirty="0"/>
                    </a:p>
                  </a:txBody>
                  <a:tcPr/>
                </a:tc>
                <a:tc>
                  <a:txBody>
                    <a:bodyPr/>
                    <a:lstStyle/>
                    <a:p>
                      <a:pPr algn="ctr"/>
                      <a:r>
                        <a:rPr lang="de-DE" dirty="0" smtClean="0"/>
                        <a:t>0,68469</a:t>
                      </a:r>
                      <a:endParaRPr lang="de-DE" dirty="0"/>
                    </a:p>
                  </a:txBody>
                  <a:tcPr/>
                </a:tc>
                <a:tc>
                  <a:txBody>
                    <a:bodyPr/>
                    <a:lstStyle/>
                    <a:p>
                      <a:pPr algn="ctr"/>
                      <a:endParaRPr lang="de-DE" dirty="0"/>
                    </a:p>
                  </a:txBody>
                  <a:tcPr/>
                </a:tc>
                <a:extLst>
                  <a:ext uri="{0D108BD9-81ED-4DB2-BD59-A6C34878D82A}">
                    <a16:rowId xmlns:a16="http://schemas.microsoft.com/office/drawing/2014/main" val="33430337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aseline="0" dirty="0" err="1" smtClean="0"/>
                        <a:t>Convection</a:t>
                      </a:r>
                      <a:r>
                        <a:rPr lang="de-DE" baseline="0" dirty="0" smtClean="0"/>
                        <a:t> - </a:t>
                      </a:r>
                      <a:r>
                        <a:rPr lang="de-DE" baseline="0" dirty="0" err="1" smtClean="0"/>
                        <a:t>c</a:t>
                      </a:r>
                      <a:r>
                        <a:rPr lang="de-DE" dirty="0" err="1" smtClean="0"/>
                        <a:t>ooling</a:t>
                      </a:r>
                      <a:r>
                        <a:rPr lang="de-DE" baseline="0" dirty="0" smtClean="0"/>
                        <a:t> </a:t>
                      </a:r>
                      <a:r>
                        <a:rPr lang="de-DE" baseline="0" dirty="0" err="1" smtClean="0"/>
                        <a:t>pipes</a:t>
                      </a:r>
                      <a:r>
                        <a:rPr lang="de-DE" baseline="0" dirty="0" smtClean="0"/>
                        <a:t> </a:t>
                      </a:r>
                      <a:endParaRPr lang="de-DE" dirty="0" smtClean="0"/>
                    </a:p>
                  </a:txBody>
                  <a:tcPr/>
                </a:tc>
                <a:tc>
                  <a:txBody>
                    <a:bodyPr/>
                    <a:lstStyle/>
                    <a:p>
                      <a:pPr algn="ctr"/>
                      <a:r>
                        <a:rPr lang="de-DE" dirty="0" smtClean="0"/>
                        <a:t>-101 494</a:t>
                      </a:r>
                      <a:endParaRPr lang="de-DE" dirty="0"/>
                    </a:p>
                  </a:txBody>
                  <a:tcPr/>
                </a:tc>
                <a:tc>
                  <a:txBody>
                    <a:bodyPr/>
                    <a:lstStyle/>
                    <a:p>
                      <a:pPr algn="ctr"/>
                      <a:r>
                        <a:rPr lang="de-DE" dirty="0" smtClean="0"/>
                        <a:t>98,8%</a:t>
                      </a:r>
                      <a:endParaRPr lang="de-DE" dirty="0"/>
                    </a:p>
                  </a:txBody>
                  <a:tcPr/>
                </a:tc>
                <a:tc>
                  <a:txBody>
                    <a:bodyPr/>
                    <a:lstStyle/>
                    <a:p>
                      <a:pPr algn="ctr"/>
                      <a:r>
                        <a:rPr lang="de-DE" dirty="0" smtClean="0"/>
                        <a:t>0,24492</a:t>
                      </a:r>
                      <a:endParaRPr lang="de-DE" dirty="0"/>
                    </a:p>
                  </a:txBody>
                  <a:tcPr/>
                </a:tc>
                <a:tc>
                  <a:txBody>
                    <a:bodyPr/>
                    <a:lstStyle/>
                    <a:p>
                      <a:pPr algn="ctr"/>
                      <a:r>
                        <a:rPr lang="de-DE" dirty="0" smtClean="0"/>
                        <a:t>-</a:t>
                      </a:r>
                      <a:endParaRPr lang="de-DE" dirty="0"/>
                    </a:p>
                  </a:txBody>
                  <a:tcPr/>
                </a:tc>
                <a:extLst>
                  <a:ext uri="{0D108BD9-81ED-4DB2-BD59-A6C34878D82A}">
                    <a16:rowId xmlns:a16="http://schemas.microsoft.com/office/drawing/2014/main" val="4068201041"/>
                  </a:ext>
                </a:extLst>
              </a:tr>
              <a:tr h="370840">
                <a:tc>
                  <a:txBody>
                    <a:bodyPr/>
                    <a:lstStyle/>
                    <a:p>
                      <a:r>
                        <a:rPr lang="de-DE" baseline="0" dirty="0" err="1" smtClean="0"/>
                        <a:t>Convection</a:t>
                      </a:r>
                      <a:r>
                        <a:rPr lang="de-DE" baseline="0" dirty="0" smtClean="0"/>
                        <a:t> - i</a:t>
                      </a:r>
                      <a:r>
                        <a:rPr lang="de-DE" dirty="0" smtClean="0"/>
                        <a:t>n/outlet</a:t>
                      </a:r>
                      <a:r>
                        <a:rPr lang="de-DE" baseline="0" dirty="0" smtClean="0"/>
                        <a:t> </a:t>
                      </a:r>
                      <a:r>
                        <a:rPr lang="de-DE" baseline="0" dirty="0" err="1" smtClean="0"/>
                        <a:t>areas</a:t>
                      </a:r>
                      <a:r>
                        <a:rPr lang="de-DE" baseline="0" dirty="0" smtClean="0"/>
                        <a:t> </a:t>
                      </a:r>
                      <a:r>
                        <a:rPr lang="de-DE" baseline="0" dirty="0" err="1" smtClean="0"/>
                        <a:t>of</a:t>
                      </a:r>
                      <a:r>
                        <a:rPr lang="de-DE" baseline="0" dirty="0" smtClean="0"/>
                        <a:t> </a:t>
                      </a:r>
                      <a:r>
                        <a:rPr lang="de-DE" baseline="0" dirty="0" err="1" smtClean="0"/>
                        <a:t>c</a:t>
                      </a:r>
                      <a:r>
                        <a:rPr lang="de-DE" dirty="0" err="1" smtClean="0"/>
                        <a:t>ooling</a:t>
                      </a:r>
                      <a:r>
                        <a:rPr lang="de-DE" baseline="0" dirty="0" smtClean="0"/>
                        <a:t> </a:t>
                      </a:r>
                      <a:r>
                        <a:rPr lang="de-DE" baseline="0" dirty="0" err="1" smtClean="0"/>
                        <a:t>pipes</a:t>
                      </a:r>
                      <a:endParaRPr lang="de-DE" dirty="0"/>
                    </a:p>
                  </a:txBody>
                  <a:tcPr/>
                </a:tc>
                <a:tc>
                  <a:txBody>
                    <a:bodyPr/>
                    <a:lstStyle/>
                    <a:p>
                      <a:pPr algn="ctr"/>
                      <a:r>
                        <a:rPr lang="de-DE" dirty="0" smtClean="0"/>
                        <a:t>-63,3</a:t>
                      </a:r>
                      <a:endParaRPr lang="de-DE" dirty="0"/>
                    </a:p>
                  </a:txBody>
                  <a:tcPr/>
                </a:tc>
                <a:tc>
                  <a:txBody>
                    <a:bodyPr/>
                    <a:lstStyle/>
                    <a:p>
                      <a:pPr algn="ctr"/>
                      <a:r>
                        <a:rPr lang="de-DE" dirty="0" smtClean="0"/>
                        <a:t>0,06%</a:t>
                      </a:r>
                      <a:endParaRPr lang="de-DE" dirty="0"/>
                    </a:p>
                  </a:txBody>
                  <a:tcPr/>
                </a:tc>
                <a:tc>
                  <a:txBody>
                    <a:bodyPr/>
                    <a:lstStyle/>
                    <a:p>
                      <a:pPr algn="ctr"/>
                      <a:r>
                        <a:rPr lang="de-DE" dirty="0" smtClean="0"/>
                        <a:t>0,00999</a:t>
                      </a:r>
                      <a:endParaRPr lang="de-DE" dirty="0"/>
                    </a:p>
                  </a:txBody>
                  <a:tcPr/>
                </a:tc>
                <a:tc>
                  <a:txBody>
                    <a:bodyPr/>
                    <a:lstStyle/>
                    <a:p>
                      <a:pPr algn="ctr"/>
                      <a:r>
                        <a:rPr lang="de-DE" dirty="0" smtClean="0"/>
                        <a:t>-</a:t>
                      </a:r>
                      <a:endParaRPr lang="de-DE" dirty="0"/>
                    </a:p>
                  </a:txBody>
                  <a:tcPr/>
                </a:tc>
                <a:extLst>
                  <a:ext uri="{0D108BD9-81ED-4DB2-BD59-A6C34878D82A}">
                    <a16:rowId xmlns:a16="http://schemas.microsoft.com/office/drawing/2014/main" val="3038861956"/>
                  </a:ext>
                </a:extLst>
              </a:tr>
              <a:tr h="370840">
                <a:tc>
                  <a:txBody>
                    <a:bodyPr/>
                    <a:lstStyle/>
                    <a:p>
                      <a:r>
                        <a:rPr lang="de-DE" dirty="0" smtClean="0"/>
                        <a:t>Radiation – </a:t>
                      </a:r>
                      <a:r>
                        <a:rPr lang="de-DE" dirty="0" err="1" smtClean="0"/>
                        <a:t>graphite</a:t>
                      </a:r>
                      <a:endParaRPr lang="de-DE" dirty="0"/>
                    </a:p>
                  </a:txBody>
                  <a:tcPr/>
                </a:tc>
                <a:tc>
                  <a:txBody>
                    <a:bodyPr/>
                    <a:lstStyle/>
                    <a:p>
                      <a:pPr algn="ctr"/>
                      <a:r>
                        <a:rPr lang="de-DE" dirty="0" smtClean="0"/>
                        <a:t>-1014,11</a:t>
                      </a:r>
                      <a:endParaRPr lang="de-DE" dirty="0"/>
                    </a:p>
                  </a:txBody>
                  <a:tcPr/>
                </a:tc>
                <a:tc>
                  <a:txBody>
                    <a:bodyPr/>
                    <a:lstStyle/>
                    <a:p>
                      <a:pPr algn="ctr"/>
                      <a:r>
                        <a:rPr lang="de-DE" dirty="0" smtClean="0"/>
                        <a:t>1,8%</a:t>
                      </a:r>
                      <a:endParaRPr lang="de-DE" dirty="0"/>
                    </a:p>
                  </a:txBody>
                  <a:tcPr/>
                </a:tc>
                <a:tc>
                  <a:txBody>
                    <a:bodyPr/>
                    <a:lstStyle/>
                    <a:p>
                      <a:pPr algn="ctr"/>
                      <a:r>
                        <a:rPr lang="de-DE" dirty="0" smtClean="0"/>
                        <a:t>0,25607</a:t>
                      </a:r>
                      <a:endParaRPr lang="de-DE" dirty="0"/>
                    </a:p>
                  </a:txBody>
                  <a:tcPr/>
                </a:tc>
                <a:tc>
                  <a:txBody>
                    <a:bodyPr/>
                    <a:lstStyle/>
                    <a:p>
                      <a:pPr algn="ctr"/>
                      <a:r>
                        <a:rPr lang="de-DE" dirty="0" smtClean="0"/>
                        <a:t>3960</a:t>
                      </a:r>
                      <a:endParaRPr lang="de-DE" dirty="0"/>
                    </a:p>
                  </a:txBody>
                  <a:tcPr/>
                </a:tc>
                <a:extLst>
                  <a:ext uri="{0D108BD9-81ED-4DB2-BD59-A6C34878D82A}">
                    <a16:rowId xmlns:a16="http://schemas.microsoft.com/office/drawing/2014/main" val="2637364627"/>
                  </a:ext>
                </a:extLst>
              </a:tr>
              <a:tr h="370840">
                <a:tc>
                  <a:txBody>
                    <a:bodyPr/>
                    <a:lstStyle/>
                    <a:p>
                      <a:r>
                        <a:rPr lang="de-DE" dirty="0" smtClean="0"/>
                        <a:t>Radiation – </a:t>
                      </a:r>
                      <a:r>
                        <a:rPr lang="de-DE" dirty="0" err="1" smtClean="0"/>
                        <a:t>CuCrZr</a:t>
                      </a:r>
                      <a:endParaRPr lang="de-DE" dirty="0"/>
                    </a:p>
                  </a:txBody>
                  <a:tcPr/>
                </a:tc>
                <a:tc>
                  <a:txBody>
                    <a:bodyPr/>
                    <a:lstStyle/>
                    <a:p>
                      <a:pPr algn="ctr"/>
                      <a:r>
                        <a:rPr lang="de-DE" dirty="0" smtClean="0"/>
                        <a:t>-96,38</a:t>
                      </a:r>
                      <a:endParaRPr lang="de-DE" dirty="0"/>
                    </a:p>
                  </a:txBody>
                  <a:tcPr/>
                </a:tc>
                <a:tc>
                  <a:txBody>
                    <a:bodyPr/>
                    <a:lstStyle/>
                    <a:p>
                      <a:pPr algn="ctr"/>
                      <a:r>
                        <a:rPr lang="de-DE" dirty="0" smtClean="0"/>
                        <a:t>0,13%</a:t>
                      </a:r>
                      <a:endParaRPr lang="de-DE" dirty="0"/>
                    </a:p>
                  </a:txBody>
                  <a:tcPr/>
                </a:tc>
                <a:tc>
                  <a:txBody>
                    <a:bodyPr/>
                    <a:lstStyle/>
                    <a:p>
                      <a:pPr algn="ctr"/>
                      <a:r>
                        <a:rPr lang="de-DE" dirty="0" smtClean="0"/>
                        <a:t>0,28789</a:t>
                      </a:r>
                      <a:endParaRPr lang="de-DE" dirty="0"/>
                    </a:p>
                  </a:txBody>
                  <a:tcPr/>
                </a:tc>
                <a:tc>
                  <a:txBody>
                    <a:bodyPr/>
                    <a:lstStyle/>
                    <a:p>
                      <a:pPr algn="ctr"/>
                      <a:r>
                        <a:rPr lang="de-DE" dirty="0" smtClean="0"/>
                        <a:t>334</a:t>
                      </a:r>
                      <a:endParaRPr lang="de-DE" dirty="0"/>
                    </a:p>
                  </a:txBody>
                  <a:tcPr/>
                </a:tc>
                <a:extLst>
                  <a:ext uri="{0D108BD9-81ED-4DB2-BD59-A6C34878D82A}">
                    <a16:rowId xmlns:a16="http://schemas.microsoft.com/office/drawing/2014/main" val="4001898228"/>
                  </a:ext>
                </a:extLst>
              </a:tr>
              <a:tr h="370840">
                <a:tc>
                  <a:txBody>
                    <a:bodyPr/>
                    <a:lstStyle/>
                    <a:p>
                      <a:r>
                        <a:rPr lang="de-DE" dirty="0" smtClean="0"/>
                        <a:t>Radiation</a:t>
                      </a:r>
                      <a:r>
                        <a:rPr lang="de-DE" baseline="0" dirty="0" smtClean="0"/>
                        <a:t> – </a:t>
                      </a:r>
                      <a:r>
                        <a:rPr lang="de-DE" baseline="0" dirty="0" err="1" smtClean="0"/>
                        <a:t>pipes</a:t>
                      </a:r>
                      <a:endParaRPr lang="de-DE" dirty="0"/>
                    </a:p>
                  </a:txBody>
                  <a:tcPr/>
                </a:tc>
                <a:tc>
                  <a:txBody>
                    <a:bodyPr/>
                    <a:lstStyle/>
                    <a:p>
                      <a:pPr algn="ctr"/>
                      <a:r>
                        <a:rPr lang="de-DE" dirty="0" smtClean="0"/>
                        <a:t>-39,07</a:t>
                      </a:r>
                      <a:endParaRPr lang="de-DE" dirty="0"/>
                    </a:p>
                  </a:txBody>
                  <a:tcPr/>
                </a:tc>
                <a:tc>
                  <a:txBody>
                    <a:bodyPr/>
                    <a:lstStyle/>
                    <a:p>
                      <a:pPr algn="ctr"/>
                      <a:r>
                        <a:rPr lang="de-DE" dirty="0" smtClean="0"/>
                        <a:t>0,03%</a:t>
                      </a:r>
                      <a:endParaRPr lang="de-DE" dirty="0"/>
                    </a:p>
                  </a:txBody>
                  <a:tcPr/>
                </a:tc>
                <a:tc>
                  <a:txBody>
                    <a:bodyPr/>
                    <a:lstStyle/>
                    <a:p>
                      <a:pPr algn="ctr"/>
                      <a:r>
                        <a:rPr lang="de-DE" dirty="0" smtClean="0"/>
                        <a:t>0,14005</a:t>
                      </a:r>
                      <a:endParaRPr lang="de-DE" dirty="0"/>
                    </a:p>
                  </a:txBody>
                  <a:tcPr/>
                </a:tc>
                <a:tc>
                  <a:txBody>
                    <a:bodyPr/>
                    <a:lstStyle/>
                    <a:p>
                      <a:pPr algn="ctr"/>
                      <a:r>
                        <a:rPr lang="de-DE" dirty="0" smtClean="0"/>
                        <a:t>279</a:t>
                      </a:r>
                      <a:endParaRPr lang="de-DE" dirty="0"/>
                    </a:p>
                  </a:txBody>
                  <a:tcPr/>
                </a:tc>
                <a:extLst>
                  <a:ext uri="{0D108BD9-81ED-4DB2-BD59-A6C34878D82A}">
                    <a16:rowId xmlns:a16="http://schemas.microsoft.com/office/drawing/2014/main" val="37468463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smtClean="0"/>
                        <a:t>Radiation</a:t>
                      </a:r>
                      <a:r>
                        <a:rPr lang="de-DE" baseline="0" dirty="0" smtClean="0"/>
                        <a:t> – </a:t>
                      </a:r>
                      <a:r>
                        <a:rPr lang="de-DE" baseline="0" dirty="0" err="1" smtClean="0"/>
                        <a:t>connector</a:t>
                      </a:r>
                      <a:r>
                        <a:rPr lang="de-DE" baseline="0" dirty="0" smtClean="0"/>
                        <a:t> </a:t>
                      </a:r>
                      <a:r>
                        <a:rPr lang="de-DE" baseline="0" dirty="0" err="1" smtClean="0"/>
                        <a:t>plates</a:t>
                      </a:r>
                      <a:endParaRPr lang="de-DE" dirty="0" smtClean="0"/>
                    </a:p>
                  </a:txBody>
                  <a:tcPr/>
                </a:tc>
                <a:tc>
                  <a:txBody>
                    <a:bodyPr/>
                    <a:lstStyle/>
                    <a:p>
                      <a:pPr algn="ctr"/>
                      <a:r>
                        <a:rPr lang="de-DE" dirty="0" smtClean="0"/>
                        <a:t>-45,19</a:t>
                      </a:r>
                      <a:endParaRPr lang="de-DE" dirty="0"/>
                    </a:p>
                  </a:txBody>
                  <a:tcPr/>
                </a:tc>
                <a:tc>
                  <a:txBody>
                    <a:bodyPr/>
                    <a:lstStyle/>
                    <a:p>
                      <a:pPr algn="ctr"/>
                      <a:r>
                        <a:rPr lang="de-DE" dirty="0" smtClean="0"/>
                        <a:t>0,04%</a:t>
                      </a:r>
                      <a:endParaRPr lang="de-DE" dirty="0"/>
                    </a:p>
                  </a:txBody>
                  <a:tcPr/>
                </a:tc>
                <a:tc>
                  <a:txBody>
                    <a:bodyPr/>
                    <a:lstStyle/>
                    <a:p>
                      <a:pPr algn="ctr"/>
                      <a:r>
                        <a:rPr lang="de-DE" dirty="0" smtClean="0"/>
                        <a:t>0,10799</a:t>
                      </a:r>
                      <a:endParaRPr lang="de-DE" dirty="0"/>
                    </a:p>
                  </a:txBody>
                  <a:tcPr/>
                </a:tc>
                <a:tc>
                  <a:txBody>
                    <a:bodyPr/>
                    <a:lstStyle/>
                    <a:p>
                      <a:pPr algn="ctr"/>
                      <a:r>
                        <a:rPr lang="de-DE" dirty="0" smtClean="0"/>
                        <a:t>418</a:t>
                      </a:r>
                      <a:endParaRPr lang="de-DE" dirty="0"/>
                    </a:p>
                  </a:txBody>
                  <a:tcPr/>
                </a:tc>
                <a:extLst>
                  <a:ext uri="{0D108BD9-81ED-4DB2-BD59-A6C34878D82A}">
                    <a16:rowId xmlns:a16="http://schemas.microsoft.com/office/drawing/2014/main" val="4116489916"/>
                  </a:ext>
                </a:extLst>
              </a:tr>
              <a:tr h="370840">
                <a:tc>
                  <a:txBody>
                    <a:bodyPr/>
                    <a:lstStyle/>
                    <a:p>
                      <a:r>
                        <a:rPr lang="de-DE" dirty="0" err="1" smtClean="0"/>
                        <a:t>Conduction</a:t>
                      </a:r>
                      <a:r>
                        <a:rPr lang="de-DE" dirty="0" smtClean="0"/>
                        <a:t> – </a:t>
                      </a:r>
                      <a:r>
                        <a:rPr lang="de-DE" dirty="0" err="1" smtClean="0"/>
                        <a:t>supports</a:t>
                      </a:r>
                      <a:r>
                        <a:rPr lang="de-DE" dirty="0" smtClean="0"/>
                        <a:t> </a:t>
                      </a:r>
                      <a:r>
                        <a:rPr lang="de-DE" dirty="0" err="1" smtClean="0"/>
                        <a:t>to</a:t>
                      </a:r>
                      <a:r>
                        <a:rPr lang="de-DE" baseline="0" dirty="0" smtClean="0"/>
                        <a:t> </a:t>
                      </a:r>
                      <a:r>
                        <a:rPr lang="de-DE" baseline="0" dirty="0" err="1" smtClean="0"/>
                        <a:t>vessel</a:t>
                      </a:r>
                      <a:endParaRPr lang="de-DE" dirty="0"/>
                    </a:p>
                  </a:txBody>
                  <a:tcPr/>
                </a:tc>
                <a:tc>
                  <a:txBody>
                    <a:bodyPr/>
                    <a:lstStyle/>
                    <a:p>
                      <a:pPr algn="ctr"/>
                      <a:r>
                        <a:rPr lang="de-DE" dirty="0" smtClean="0"/>
                        <a:t>-26,7</a:t>
                      </a:r>
                      <a:endParaRPr lang="de-DE" dirty="0"/>
                    </a:p>
                  </a:txBody>
                  <a:tcPr/>
                </a:tc>
                <a:tc>
                  <a:txBody>
                    <a:bodyPr/>
                    <a:lstStyle/>
                    <a:p>
                      <a:pPr algn="ctr"/>
                      <a:r>
                        <a:rPr lang="de-DE" dirty="0" smtClean="0"/>
                        <a:t>0,04%</a:t>
                      </a:r>
                      <a:endParaRPr lang="de-DE" dirty="0"/>
                    </a:p>
                  </a:txBody>
                  <a:tcPr/>
                </a:tc>
                <a:tc>
                  <a:txBody>
                    <a:bodyPr/>
                    <a:lstStyle/>
                    <a:p>
                      <a:pPr algn="ctr"/>
                      <a:r>
                        <a:rPr lang="de-DE" dirty="0" smtClean="0"/>
                        <a:t>0,0007</a:t>
                      </a:r>
                    </a:p>
                    <a:p>
                      <a:pPr algn="ctr"/>
                      <a:endParaRPr lang="de-DE" dirty="0"/>
                    </a:p>
                  </a:txBody>
                  <a:tcPr/>
                </a:tc>
                <a:tc>
                  <a:txBody>
                    <a:bodyPr/>
                    <a:lstStyle/>
                    <a:p>
                      <a:pPr algn="ctr"/>
                      <a:r>
                        <a:rPr lang="de-DE" dirty="0" smtClean="0"/>
                        <a:t>-</a:t>
                      </a:r>
                      <a:endParaRPr lang="de-DE" dirty="0"/>
                    </a:p>
                  </a:txBody>
                  <a:tcPr/>
                </a:tc>
                <a:extLst>
                  <a:ext uri="{0D108BD9-81ED-4DB2-BD59-A6C34878D82A}">
                    <a16:rowId xmlns:a16="http://schemas.microsoft.com/office/drawing/2014/main" val="2769431078"/>
                  </a:ext>
                </a:extLst>
              </a:tr>
              <a:tr h="370840">
                <a:tc>
                  <a:txBody>
                    <a:bodyPr/>
                    <a:lstStyle/>
                    <a:p>
                      <a:r>
                        <a:rPr lang="de-DE" b="1" dirty="0" smtClean="0"/>
                        <a:t>SUM</a:t>
                      </a:r>
                      <a:endParaRPr lang="de-DE" b="1" dirty="0"/>
                    </a:p>
                  </a:txBody>
                  <a:tcPr/>
                </a:tc>
                <a:tc>
                  <a:txBody>
                    <a:bodyPr/>
                    <a:lstStyle/>
                    <a:p>
                      <a:pPr algn="ctr"/>
                      <a:r>
                        <a:rPr lang="de-DE" b="1" dirty="0" smtClean="0"/>
                        <a:t>-17,04</a:t>
                      </a:r>
                      <a:endParaRPr lang="de-DE" b="1" dirty="0"/>
                    </a:p>
                  </a:txBody>
                  <a:tcPr/>
                </a:tc>
                <a:tc>
                  <a:txBody>
                    <a:bodyPr/>
                    <a:lstStyle/>
                    <a:p>
                      <a:pPr algn="ctr"/>
                      <a:r>
                        <a:rPr lang="de-DE" b="1" dirty="0" smtClean="0"/>
                        <a:t>-</a:t>
                      </a:r>
                      <a:endParaRPr lang="de-DE" b="1" dirty="0"/>
                    </a:p>
                  </a:txBody>
                  <a:tcPr/>
                </a:tc>
                <a:tc>
                  <a:txBody>
                    <a:bodyPr/>
                    <a:lstStyle/>
                    <a:p>
                      <a:pPr algn="ctr"/>
                      <a:endParaRPr lang="de-DE" b="1" dirty="0"/>
                    </a:p>
                  </a:txBody>
                  <a:tcPr/>
                </a:tc>
                <a:tc>
                  <a:txBody>
                    <a:bodyPr/>
                    <a:lstStyle/>
                    <a:p>
                      <a:pPr algn="ctr"/>
                      <a:r>
                        <a:rPr lang="de-DE" b="1" dirty="0" smtClean="0"/>
                        <a:t>1409</a:t>
                      </a:r>
                      <a:endParaRPr lang="de-DE" b="1" dirty="0"/>
                    </a:p>
                  </a:txBody>
                  <a:tcPr/>
                </a:tc>
                <a:extLst>
                  <a:ext uri="{0D108BD9-81ED-4DB2-BD59-A6C34878D82A}">
                    <a16:rowId xmlns:a16="http://schemas.microsoft.com/office/drawing/2014/main" val="3117367321"/>
                  </a:ext>
                </a:extLst>
              </a:tr>
            </a:tbl>
          </a:graphicData>
        </a:graphic>
      </p:graphicFrame>
    </p:spTree>
    <p:extLst>
      <p:ext uri="{BB962C8B-B14F-4D97-AF65-F5344CB8AC3E}">
        <p14:creationId xmlns:p14="http://schemas.microsoft.com/office/powerpoint/2010/main" val="10892045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13"/>
          </p:nvPr>
        </p:nvSpPr>
        <p:spPr>
          <a:xfrm>
            <a:off x="1224715" y="443471"/>
            <a:ext cx="10801349" cy="4772024"/>
          </a:xfrm>
        </p:spPr>
        <p:txBody>
          <a:bodyPr/>
          <a:lstStyle/>
          <a:p>
            <a:endParaRPr lang="de-DE" dirty="0" smtClean="0"/>
          </a:p>
          <a:p>
            <a:pPr marL="285750" indent="-285750">
              <a:buFont typeface="Arial" panose="020B0604020202020204" pitchFamily="34" charset="0"/>
              <a:buChar char="•"/>
            </a:pPr>
            <a:r>
              <a:rPr lang="de-DE" dirty="0" smtClean="0"/>
              <a:t>INLET / OUTLET </a:t>
            </a:r>
            <a:r>
              <a:rPr lang="de-DE" dirty="0" err="1" smtClean="0"/>
              <a:t>positions</a:t>
            </a:r>
            <a:endParaRPr lang="de-DE" dirty="0" smtClean="0"/>
          </a:p>
          <a:p>
            <a:pPr marL="285750" indent="-285750">
              <a:buFont typeface="Arial" panose="020B0604020202020204" pitchFamily="34" charset="0"/>
              <a:buChar char="•"/>
            </a:pPr>
            <a:endParaRPr lang="de-DE" dirty="0"/>
          </a:p>
        </p:txBody>
      </p:sp>
      <p:sp>
        <p:nvSpPr>
          <p:cNvPr id="3" name="Titel 2"/>
          <p:cNvSpPr>
            <a:spLocks noGrp="1"/>
          </p:cNvSpPr>
          <p:nvPr>
            <p:ph type="title"/>
          </p:nvPr>
        </p:nvSpPr>
        <p:spPr/>
        <p:txBody>
          <a:bodyPr/>
          <a:lstStyle/>
          <a:p>
            <a:r>
              <a:rPr lang="en-US" dirty="0" smtClean="0"/>
              <a:t>Questions</a:t>
            </a:r>
            <a:endParaRPr lang="de-DE" dirty="0"/>
          </a:p>
        </p:txBody>
      </p:sp>
      <p:sp>
        <p:nvSpPr>
          <p:cNvPr id="4" name="Datumsplatzhalter 3"/>
          <p:cNvSpPr>
            <a:spLocks noGrp="1"/>
          </p:cNvSpPr>
          <p:nvPr>
            <p:ph type="dt" sz="half" idx="14"/>
          </p:nvPr>
        </p:nvSpPr>
        <p:spPr/>
        <p:txBody>
          <a:bodyPr/>
          <a:lstStyle/>
          <a:p>
            <a:r>
              <a:rPr lang="de-DE" smtClean="0"/>
              <a:t>Short title</a:t>
            </a:r>
            <a:endParaRPr lang="de-DE" dirty="0"/>
          </a:p>
        </p:txBody>
      </p:sp>
      <p:sp>
        <p:nvSpPr>
          <p:cNvPr id="5" name="Fußzeilenplatzhalter 4"/>
          <p:cNvSpPr>
            <a:spLocks noGrp="1"/>
          </p:cNvSpPr>
          <p:nvPr>
            <p:ph type="ftr" sz="quarter" idx="15"/>
          </p:nvPr>
        </p:nvSpPr>
        <p:spPr/>
        <p:txBody>
          <a:bodyPr/>
          <a:lstStyle/>
          <a:p>
            <a:pPr algn="l">
              <a:tabLst>
                <a:tab pos="9775825" algn="r"/>
                <a:tab pos="10226675" algn="r"/>
              </a:tabLst>
            </a:pPr>
            <a:r>
              <a:rPr lang="de-DE" smtClean="0"/>
              <a:t>Max-Planck-Institut für Plasmaphysik | Name | DD.MM.YYYY</a:t>
            </a:r>
            <a:endParaRPr lang="de-DE" dirty="0"/>
          </a:p>
        </p:txBody>
      </p:sp>
      <p:sp>
        <p:nvSpPr>
          <p:cNvPr id="6" name="Foliennummernplatzhalter 5"/>
          <p:cNvSpPr>
            <a:spLocks noGrp="1"/>
          </p:cNvSpPr>
          <p:nvPr>
            <p:ph type="sldNum" sz="quarter" idx="16"/>
          </p:nvPr>
        </p:nvSpPr>
        <p:spPr/>
        <p:txBody>
          <a:bodyPr/>
          <a:lstStyle/>
          <a:p>
            <a:fld id="{3B1A4699-952B-42DA-8DC4-38A59B49610C}" type="slidenum">
              <a:rPr lang="de-DE" smtClean="0"/>
              <a:pPr/>
              <a:t>13</a:t>
            </a:fld>
            <a:endParaRPr lang="de-DE" dirty="0"/>
          </a:p>
        </p:txBody>
      </p:sp>
      <p:pic>
        <p:nvPicPr>
          <p:cNvPr id="11" name="Grafik 10"/>
          <p:cNvPicPr>
            <a:picLocks noChangeAspect="1"/>
          </p:cNvPicPr>
          <p:nvPr/>
        </p:nvPicPr>
        <p:blipFill>
          <a:blip r:embed="rId2"/>
          <a:stretch>
            <a:fillRect/>
          </a:stretch>
        </p:blipFill>
        <p:spPr>
          <a:xfrm>
            <a:off x="555181" y="1409665"/>
            <a:ext cx="11296801" cy="5080033"/>
          </a:xfrm>
          <a:prstGeom prst="rect">
            <a:avLst/>
          </a:prstGeom>
        </p:spPr>
      </p:pic>
      <p:sp>
        <p:nvSpPr>
          <p:cNvPr id="12" name="Textfeld 11"/>
          <p:cNvSpPr txBox="1"/>
          <p:nvPr/>
        </p:nvSpPr>
        <p:spPr>
          <a:xfrm>
            <a:off x="8258476" y="1704948"/>
            <a:ext cx="591509" cy="267894"/>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lIns="0" tIns="0" rIns="0" bIns="0" rtlCol="0" anchor="t" anchorCtr="0">
            <a:spAutoFit/>
          </a:bodyPr>
          <a:lstStyle/>
          <a:p>
            <a:pPr algn="l">
              <a:lnSpc>
                <a:spcPts val="2300"/>
              </a:lnSpc>
              <a:spcBef>
                <a:spcPts val="1150"/>
              </a:spcBef>
            </a:pPr>
            <a:r>
              <a:rPr lang="de-DE" sz="1600" b="1" dirty="0" smtClean="0">
                <a:effectLst>
                  <a:outerShdw blurRad="38100" dist="38100" dir="2700000" algn="tl">
                    <a:srgbClr val="000000">
                      <a:alpha val="43137"/>
                    </a:srgbClr>
                  </a:outerShdw>
                </a:effectLst>
              </a:rPr>
              <a:t>INLET</a:t>
            </a:r>
          </a:p>
        </p:txBody>
      </p:sp>
      <p:sp>
        <p:nvSpPr>
          <p:cNvPr id="13" name="Textfeld 12"/>
          <p:cNvSpPr txBox="1"/>
          <p:nvPr/>
        </p:nvSpPr>
        <p:spPr>
          <a:xfrm>
            <a:off x="8430127" y="3949681"/>
            <a:ext cx="591509" cy="267894"/>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lIns="0" tIns="0" rIns="0" bIns="0" rtlCol="0" anchor="t" anchorCtr="0">
            <a:spAutoFit/>
          </a:bodyPr>
          <a:lstStyle/>
          <a:p>
            <a:pPr algn="l">
              <a:lnSpc>
                <a:spcPts val="2300"/>
              </a:lnSpc>
              <a:spcBef>
                <a:spcPts val="1150"/>
              </a:spcBef>
            </a:pPr>
            <a:r>
              <a:rPr lang="de-DE" sz="1600" b="1" dirty="0" smtClean="0">
                <a:effectLst>
                  <a:outerShdw blurRad="38100" dist="38100" dir="2700000" algn="tl">
                    <a:srgbClr val="000000">
                      <a:alpha val="43137"/>
                    </a:srgbClr>
                  </a:outerShdw>
                </a:effectLst>
              </a:rPr>
              <a:t>INLET</a:t>
            </a:r>
          </a:p>
        </p:txBody>
      </p:sp>
      <p:sp>
        <p:nvSpPr>
          <p:cNvPr id="14" name="Textfeld 13"/>
          <p:cNvSpPr txBox="1"/>
          <p:nvPr/>
        </p:nvSpPr>
        <p:spPr>
          <a:xfrm>
            <a:off x="5187806" y="4350291"/>
            <a:ext cx="591509" cy="267894"/>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lIns="0" tIns="0" rIns="0" bIns="0" rtlCol="0" anchor="t" anchorCtr="0">
            <a:spAutoFit/>
          </a:bodyPr>
          <a:lstStyle/>
          <a:p>
            <a:pPr algn="l">
              <a:lnSpc>
                <a:spcPts val="2300"/>
              </a:lnSpc>
              <a:spcBef>
                <a:spcPts val="1150"/>
              </a:spcBef>
            </a:pPr>
            <a:r>
              <a:rPr lang="de-DE" sz="1600" b="1" dirty="0" smtClean="0">
                <a:effectLst>
                  <a:outerShdw blurRad="38100" dist="38100" dir="2700000" algn="tl">
                    <a:srgbClr val="000000">
                      <a:alpha val="43137"/>
                    </a:srgbClr>
                  </a:outerShdw>
                </a:effectLst>
              </a:rPr>
              <a:t>INLET</a:t>
            </a:r>
          </a:p>
        </p:txBody>
      </p:sp>
      <p:sp>
        <p:nvSpPr>
          <p:cNvPr id="15" name="Ellipse 14"/>
          <p:cNvSpPr/>
          <p:nvPr/>
        </p:nvSpPr>
        <p:spPr>
          <a:xfrm>
            <a:off x="8453059" y="2025246"/>
            <a:ext cx="202341" cy="182880"/>
          </a:xfrm>
          <a:prstGeom prst="ellipse">
            <a:avLst/>
          </a:prstGeom>
          <a:solidFill>
            <a:schemeClr val="tx1"/>
          </a:solidFill>
          <a:ln w="19050" cmpd="sng">
            <a:noFill/>
            <a:prstDash val="dash"/>
            <a:tailEnd type="triangle" w="lg" len="med"/>
          </a:ln>
        </p:spPr>
        <p:style>
          <a:lnRef idx="1">
            <a:schemeClr val="accent1"/>
          </a:lnRef>
          <a:fillRef idx="0">
            <a:schemeClr val="accent1"/>
          </a:fillRef>
          <a:effectRef idx="0">
            <a:schemeClr val="accent1"/>
          </a:effectRef>
          <a:fontRef idx="minor">
            <a:schemeClr val="tx1"/>
          </a:fontRef>
        </p:style>
        <p:txBody>
          <a:bodyPr wrap="square" lIns="144000" tIns="108000" rIns="144000" bIns="144000" rtlCol="0" anchor="t" anchorCtr="0"/>
          <a:lstStyle/>
          <a:p>
            <a:pPr algn="l">
              <a:spcBef>
                <a:spcPts val="1150"/>
              </a:spcBef>
              <a:buClr>
                <a:srgbClr val="116656"/>
              </a:buClr>
              <a:buSzPct val="120000"/>
            </a:pPr>
            <a:endParaRPr lang="de-DE" sz="1300" b="1" dirty="0" smtClean="0">
              <a:solidFill>
                <a:srgbClr val="FF0000"/>
              </a:solidFill>
            </a:endParaRPr>
          </a:p>
        </p:txBody>
      </p:sp>
      <p:sp>
        <p:nvSpPr>
          <p:cNvPr id="16" name="Ellipse 15"/>
          <p:cNvSpPr/>
          <p:nvPr/>
        </p:nvSpPr>
        <p:spPr>
          <a:xfrm>
            <a:off x="8227786" y="3821279"/>
            <a:ext cx="202341" cy="182880"/>
          </a:xfrm>
          <a:prstGeom prst="ellipse">
            <a:avLst/>
          </a:prstGeom>
          <a:solidFill>
            <a:schemeClr val="tx1"/>
          </a:solidFill>
          <a:ln w="19050" cmpd="sng">
            <a:noFill/>
            <a:prstDash val="dash"/>
            <a:tailEnd type="triangle" w="lg" len="med"/>
          </a:ln>
        </p:spPr>
        <p:style>
          <a:lnRef idx="1">
            <a:schemeClr val="accent1"/>
          </a:lnRef>
          <a:fillRef idx="0">
            <a:schemeClr val="accent1"/>
          </a:fillRef>
          <a:effectRef idx="0">
            <a:schemeClr val="accent1"/>
          </a:effectRef>
          <a:fontRef idx="minor">
            <a:schemeClr val="tx1"/>
          </a:fontRef>
        </p:style>
        <p:txBody>
          <a:bodyPr wrap="square" lIns="144000" tIns="108000" rIns="144000" bIns="144000" rtlCol="0" anchor="t" anchorCtr="0"/>
          <a:lstStyle/>
          <a:p>
            <a:pPr algn="l">
              <a:spcBef>
                <a:spcPts val="1150"/>
              </a:spcBef>
              <a:buClr>
                <a:srgbClr val="116656"/>
              </a:buClr>
              <a:buSzPct val="120000"/>
            </a:pPr>
            <a:endParaRPr lang="de-DE" sz="1300" b="1" dirty="0" smtClean="0">
              <a:solidFill>
                <a:srgbClr val="FF0000"/>
              </a:solidFill>
            </a:endParaRPr>
          </a:p>
        </p:txBody>
      </p:sp>
      <p:sp>
        <p:nvSpPr>
          <p:cNvPr id="17" name="Ellipse 16"/>
          <p:cNvSpPr/>
          <p:nvPr/>
        </p:nvSpPr>
        <p:spPr>
          <a:xfrm>
            <a:off x="5832903" y="4392798"/>
            <a:ext cx="202341" cy="182880"/>
          </a:xfrm>
          <a:prstGeom prst="ellipse">
            <a:avLst/>
          </a:prstGeom>
          <a:solidFill>
            <a:schemeClr val="tx1"/>
          </a:solidFill>
          <a:ln w="19050" cmpd="sng">
            <a:noFill/>
            <a:prstDash val="dash"/>
            <a:tailEnd type="triangle" w="lg" len="med"/>
          </a:ln>
        </p:spPr>
        <p:style>
          <a:lnRef idx="1">
            <a:schemeClr val="accent1"/>
          </a:lnRef>
          <a:fillRef idx="0">
            <a:schemeClr val="accent1"/>
          </a:fillRef>
          <a:effectRef idx="0">
            <a:schemeClr val="accent1"/>
          </a:effectRef>
          <a:fontRef idx="minor">
            <a:schemeClr val="tx1"/>
          </a:fontRef>
        </p:style>
        <p:txBody>
          <a:bodyPr wrap="square" lIns="144000" tIns="108000" rIns="144000" bIns="144000" rtlCol="0" anchor="t" anchorCtr="0"/>
          <a:lstStyle/>
          <a:p>
            <a:pPr algn="l">
              <a:spcBef>
                <a:spcPts val="1150"/>
              </a:spcBef>
              <a:buClr>
                <a:srgbClr val="116656"/>
              </a:buClr>
              <a:buSzPct val="120000"/>
            </a:pPr>
            <a:endParaRPr lang="de-DE" sz="1300" b="1" dirty="0" smtClean="0">
              <a:solidFill>
                <a:srgbClr val="FF0000"/>
              </a:solidFill>
            </a:endParaRPr>
          </a:p>
        </p:txBody>
      </p:sp>
    </p:spTree>
    <p:extLst>
      <p:ext uri="{BB962C8B-B14F-4D97-AF65-F5344CB8AC3E}">
        <p14:creationId xmlns:p14="http://schemas.microsoft.com/office/powerpoint/2010/main" val="32301442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sz="quarter" idx="13"/>
          </p:nvPr>
        </p:nvSpPr>
        <p:spPr/>
        <p:txBody>
          <a:bodyPr/>
          <a:lstStyle/>
          <a:p>
            <a:r>
              <a:rPr lang="de-DE" dirty="0" smtClean="0"/>
              <a:t>The </a:t>
            </a:r>
            <a:r>
              <a:rPr lang="de-DE" dirty="0" err="1" smtClean="0"/>
              <a:t>simulation</a:t>
            </a:r>
            <a:r>
              <a:rPr lang="de-DE" dirty="0" smtClean="0"/>
              <a:t> was </a:t>
            </a:r>
            <a:r>
              <a:rPr lang="de-DE" dirty="0" err="1" smtClean="0"/>
              <a:t>created</a:t>
            </a:r>
            <a:r>
              <a:rPr lang="de-DE" dirty="0" smtClean="0"/>
              <a:t> </a:t>
            </a:r>
            <a:r>
              <a:rPr lang="de-DE" dirty="0" err="1" smtClean="0"/>
              <a:t>to</a:t>
            </a:r>
            <a:r>
              <a:rPr lang="de-DE" dirty="0" smtClean="0"/>
              <a:t> </a:t>
            </a:r>
            <a:r>
              <a:rPr lang="de-DE" dirty="0" err="1" smtClean="0"/>
              <a:t>examined</a:t>
            </a:r>
            <a:r>
              <a:rPr lang="de-DE" dirty="0" smtClean="0"/>
              <a:t> </a:t>
            </a:r>
            <a:r>
              <a:rPr lang="de-DE" dirty="0" err="1" smtClean="0"/>
              <a:t>radiative</a:t>
            </a:r>
            <a:r>
              <a:rPr lang="de-DE" dirty="0" smtClean="0"/>
              <a:t> </a:t>
            </a:r>
            <a:r>
              <a:rPr lang="de-DE" dirty="0" err="1" smtClean="0"/>
              <a:t>heat</a:t>
            </a:r>
            <a:r>
              <a:rPr lang="de-DE" dirty="0" smtClean="0"/>
              <a:t> </a:t>
            </a:r>
            <a:r>
              <a:rPr lang="de-DE" dirty="0" err="1" smtClean="0"/>
              <a:t>load</a:t>
            </a:r>
            <a:r>
              <a:rPr lang="de-DE" dirty="0" smtClean="0"/>
              <a:t> </a:t>
            </a:r>
            <a:r>
              <a:rPr lang="de-DE" dirty="0" err="1" smtClean="0"/>
              <a:t>from</a:t>
            </a:r>
            <a:r>
              <a:rPr lang="de-DE" dirty="0"/>
              <a:t> </a:t>
            </a:r>
            <a:r>
              <a:rPr lang="de-DE" dirty="0" smtClean="0"/>
              <a:t>HS </a:t>
            </a:r>
            <a:r>
              <a:rPr lang="de-DE" dirty="0" err="1" smtClean="0"/>
              <a:t>to</a:t>
            </a:r>
            <a:r>
              <a:rPr lang="de-DE" dirty="0" smtClean="0"/>
              <a:t> PV </a:t>
            </a:r>
            <a:r>
              <a:rPr lang="de-DE" dirty="0" err="1" smtClean="0"/>
              <a:t>and</a:t>
            </a:r>
            <a:r>
              <a:rPr lang="de-DE" dirty="0" smtClean="0"/>
              <a:t> also </a:t>
            </a:r>
            <a:r>
              <a:rPr lang="de-DE" dirty="0" err="1" smtClean="0"/>
              <a:t>heat</a:t>
            </a:r>
            <a:r>
              <a:rPr lang="de-DE" dirty="0" smtClean="0"/>
              <a:t> </a:t>
            </a:r>
            <a:r>
              <a:rPr lang="de-DE" dirty="0" err="1" smtClean="0"/>
              <a:t>load</a:t>
            </a:r>
            <a:r>
              <a:rPr lang="de-DE" dirty="0" smtClean="0"/>
              <a:t> </a:t>
            </a:r>
            <a:r>
              <a:rPr lang="de-DE" dirty="0" err="1" smtClean="0"/>
              <a:t>to</a:t>
            </a:r>
            <a:r>
              <a:rPr lang="de-DE" dirty="0" smtClean="0"/>
              <a:t> </a:t>
            </a:r>
            <a:r>
              <a:rPr lang="de-DE" dirty="0" err="1" smtClean="0"/>
              <a:t>the</a:t>
            </a:r>
            <a:r>
              <a:rPr lang="de-DE" dirty="0" smtClean="0"/>
              <a:t> </a:t>
            </a:r>
            <a:r>
              <a:rPr lang="de-DE" dirty="0" err="1" smtClean="0"/>
              <a:t>Diam</a:t>
            </a:r>
            <a:r>
              <a:rPr lang="de-DE" dirty="0" smtClean="0"/>
              <a:t>. Loop </a:t>
            </a:r>
            <a:r>
              <a:rPr lang="de-DE" dirty="0" err="1" smtClean="0"/>
              <a:t>attached</a:t>
            </a:r>
            <a:r>
              <a:rPr lang="de-DE" dirty="0" smtClean="0"/>
              <a:t> in </a:t>
            </a:r>
            <a:r>
              <a:rPr lang="de-DE" dirty="0" err="1" smtClean="0"/>
              <a:t>this</a:t>
            </a:r>
            <a:r>
              <a:rPr lang="de-DE" dirty="0" smtClean="0"/>
              <a:t> </a:t>
            </a:r>
            <a:r>
              <a:rPr lang="de-DE" dirty="0" err="1" smtClean="0"/>
              <a:t>area</a:t>
            </a:r>
            <a:r>
              <a:rPr lang="de-DE" dirty="0" smtClean="0"/>
              <a:t>. </a:t>
            </a:r>
          </a:p>
          <a:p>
            <a:r>
              <a:rPr lang="de-DE" dirty="0" err="1" smtClean="0"/>
              <a:t>Cooling</a:t>
            </a:r>
            <a:r>
              <a:rPr lang="de-DE" dirty="0" smtClean="0"/>
              <a:t> </a:t>
            </a:r>
            <a:r>
              <a:rPr lang="de-DE" dirty="0" err="1" smtClean="0"/>
              <a:t>water</a:t>
            </a:r>
            <a:r>
              <a:rPr lang="de-DE" dirty="0" smtClean="0"/>
              <a:t> </a:t>
            </a:r>
            <a:r>
              <a:rPr lang="de-DE" dirty="0" err="1" smtClean="0"/>
              <a:t>is</a:t>
            </a:r>
            <a:r>
              <a:rPr lang="de-DE" dirty="0" smtClean="0"/>
              <a:t> </a:t>
            </a:r>
            <a:r>
              <a:rPr lang="de-DE" dirty="0" err="1" smtClean="0"/>
              <a:t>simulated</a:t>
            </a:r>
            <a:r>
              <a:rPr lang="de-DE" dirty="0" smtClean="0"/>
              <a:t> </a:t>
            </a:r>
            <a:r>
              <a:rPr lang="de-DE" dirty="0" err="1" smtClean="0"/>
              <a:t>as</a:t>
            </a:r>
            <a:r>
              <a:rPr lang="de-DE" dirty="0" smtClean="0"/>
              <a:t> a fluid beam </a:t>
            </a:r>
            <a:r>
              <a:rPr lang="de-DE" dirty="0" err="1" smtClean="0"/>
              <a:t>element</a:t>
            </a:r>
            <a:r>
              <a:rPr lang="de-DE" dirty="0" smtClean="0"/>
              <a:t> </a:t>
            </a:r>
            <a:r>
              <a:rPr lang="de-DE" dirty="0" err="1" smtClean="0"/>
              <a:t>to</a:t>
            </a:r>
            <a:r>
              <a:rPr lang="de-DE" dirty="0" smtClean="0"/>
              <a:t> </a:t>
            </a:r>
            <a:r>
              <a:rPr lang="de-DE" dirty="0" err="1" smtClean="0"/>
              <a:t>observe</a:t>
            </a:r>
            <a:r>
              <a:rPr lang="de-DE" dirty="0" smtClean="0"/>
              <a:t> </a:t>
            </a:r>
            <a:r>
              <a:rPr lang="de-DE" dirty="0" err="1" smtClean="0"/>
              <a:t>temperature</a:t>
            </a:r>
            <a:r>
              <a:rPr lang="de-DE" dirty="0" smtClean="0"/>
              <a:t> </a:t>
            </a:r>
            <a:r>
              <a:rPr lang="de-DE" dirty="0" err="1" smtClean="0"/>
              <a:t>increase</a:t>
            </a:r>
            <a:r>
              <a:rPr lang="de-DE" dirty="0" smtClean="0"/>
              <a:t> </a:t>
            </a:r>
            <a:r>
              <a:rPr lang="de-DE" dirty="0" err="1" smtClean="0"/>
              <a:t>along</a:t>
            </a:r>
            <a:r>
              <a:rPr lang="de-DE" dirty="0" smtClean="0"/>
              <a:t> </a:t>
            </a:r>
            <a:r>
              <a:rPr lang="de-DE" dirty="0" err="1" smtClean="0"/>
              <a:t>the</a:t>
            </a:r>
            <a:r>
              <a:rPr lang="de-DE" dirty="0" smtClean="0"/>
              <a:t> </a:t>
            </a:r>
            <a:r>
              <a:rPr lang="de-DE" dirty="0" err="1" smtClean="0"/>
              <a:t>pipe</a:t>
            </a:r>
            <a:r>
              <a:rPr lang="de-DE" dirty="0" smtClean="0"/>
              <a:t>.</a:t>
            </a:r>
          </a:p>
          <a:p>
            <a:r>
              <a:rPr lang="de-DE" dirty="0" smtClean="0"/>
              <a:t>The </a:t>
            </a:r>
            <a:r>
              <a:rPr lang="de-DE" dirty="0" err="1" smtClean="0"/>
              <a:t>simulated</a:t>
            </a:r>
            <a:r>
              <a:rPr lang="de-DE" dirty="0" smtClean="0"/>
              <a:t> </a:t>
            </a:r>
            <a:r>
              <a:rPr lang="de-DE" dirty="0" err="1" smtClean="0"/>
              <a:t>area</a:t>
            </a:r>
            <a:r>
              <a:rPr lang="de-DE" dirty="0" smtClean="0"/>
              <a:t> </a:t>
            </a:r>
            <a:r>
              <a:rPr lang="de-DE" dirty="0" err="1" smtClean="0"/>
              <a:t>doesnt</a:t>
            </a:r>
            <a:r>
              <a:rPr lang="de-DE" dirty="0" smtClean="0"/>
              <a:t> </a:t>
            </a:r>
            <a:r>
              <a:rPr lang="de-DE" dirty="0" err="1" smtClean="0"/>
              <a:t>contain</a:t>
            </a:r>
            <a:r>
              <a:rPr lang="de-DE" dirty="0" smtClean="0"/>
              <a:t> </a:t>
            </a:r>
            <a:r>
              <a:rPr lang="de-DE" dirty="0" err="1" smtClean="0"/>
              <a:t>any</a:t>
            </a:r>
            <a:r>
              <a:rPr lang="de-DE" dirty="0" smtClean="0"/>
              <a:t> </a:t>
            </a:r>
            <a:r>
              <a:rPr lang="de-DE" dirty="0" err="1" smtClean="0"/>
              <a:t>thermocouples</a:t>
            </a:r>
            <a:r>
              <a:rPr lang="de-DE" dirty="0" smtClean="0"/>
              <a:t> </a:t>
            </a:r>
            <a:r>
              <a:rPr lang="de-DE" dirty="0" err="1" smtClean="0"/>
              <a:t>to</a:t>
            </a:r>
            <a:r>
              <a:rPr lang="de-DE" dirty="0" smtClean="0"/>
              <a:t> </a:t>
            </a:r>
            <a:r>
              <a:rPr lang="de-DE" dirty="0" err="1" smtClean="0"/>
              <a:t>validate</a:t>
            </a:r>
            <a:r>
              <a:rPr lang="de-DE" dirty="0" smtClean="0"/>
              <a:t> </a:t>
            </a:r>
            <a:r>
              <a:rPr lang="de-DE" dirty="0" err="1" smtClean="0"/>
              <a:t>the</a:t>
            </a:r>
            <a:r>
              <a:rPr lang="de-DE" dirty="0" smtClean="0"/>
              <a:t> </a:t>
            </a:r>
            <a:r>
              <a:rPr lang="de-DE" dirty="0" err="1" smtClean="0"/>
              <a:t>results</a:t>
            </a:r>
            <a:r>
              <a:rPr lang="de-DE" dirty="0" smtClean="0"/>
              <a:t>.</a:t>
            </a:r>
          </a:p>
          <a:p>
            <a:endParaRPr lang="de-DE" dirty="0" smtClean="0"/>
          </a:p>
          <a:p>
            <a:endParaRPr lang="de-DE" dirty="0"/>
          </a:p>
        </p:txBody>
      </p:sp>
      <p:sp>
        <p:nvSpPr>
          <p:cNvPr id="4" name="Titel 2"/>
          <p:cNvSpPr>
            <a:spLocks noGrp="1"/>
          </p:cNvSpPr>
          <p:nvPr>
            <p:ph type="title"/>
          </p:nvPr>
        </p:nvSpPr>
        <p:spPr/>
        <p:txBody>
          <a:bodyPr/>
          <a:lstStyle/>
          <a:p>
            <a:r>
              <a:rPr lang="de-DE" dirty="0" err="1" smtClean="0"/>
              <a:t>Heat</a:t>
            </a:r>
            <a:r>
              <a:rPr lang="de-DE" dirty="0" smtClean="0"/>
              <a:t> </a:t>
            </a:r>
            <a:r>
              <a:rPr lang="de-DE" dirty="0" err="1" smtClean="0"/>
              <a:t>shield</a:t>
            </a:r>
            <a:r>
              <a:rPr lang="de-DE" dirty="0" smtClean="0"/>
              <a:t> </a:t>
            </a:r>
            <a:r>
              <a:rPr lang="de-DE" dirty="0" err="1" smtClean="0"/>
              <a:t>simulation</a:t>
            </a:r>
            <a:endParaRPr lang="de-DE" dirty="0"/>
          </a:p>
        </p:txBody>
      </p:sp>
    </p:spTree>
    <p:extLst>
      <p:ext uri="{BB962C8B-B14F-4D97-AF65-F5344CB8AC3E}">
        <p14:creationId xmlns:p14="http://schemas.microsoft.com/office/powerpoint/2010/main" val="648243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AvLHmIlg6ixrRaGTEjx9Lw"/>
</p:tagLst>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784</Words>
  <Application>Microsoft Office PowerPoint</Application>
  <PresentationFormat>Breitbild</PresentationFormat>
  <Paragraphs>202</Paragraphs>
  <Slides>14</Slides>
  <Notes>0</Notes>
  <HiddenSlides>0</HiddenSlides>
  <MMClips>0</MMClips>
  <ScaleCrop>false</ScaleCrop>
  <HeadingPairs>
    <vt:vector size="8" baseType="variant">
      <vt:variant>
        <vt:lpstr>Verwendete Schriftarten</vt:lpstr>
      </vt:variant>
      <vt:variant>
        <vt:i4>3</vt:i4>
      </vt:variant>
      <vt:variant>
        <vt:lpstr>Design</vt:lpstr>
      </vt:variant>
      <vt:variant>
        <vt:i4>1</vt:i4>
      </vt:variant>
      <vt:variant>
        <vt:lpstr>Eingebettete OLE-Server</vt:lpstr>
      </vt:variant>
      <vt:variant>
        <vt:i4>1</vt:i4>
      </vt:variant>
      <vt:variant>
        <vt:lpstr>Folientitel</vt:lpstr>
      </vt:variant>
      <vt:variant>
        <vt:i4>14</vt:i4>
      </vt:variant>
    </vt:vector>
  </HeadingPairs>
  <TitlesOfParts>
    <vt:vector size="19" baseType="lpstr">
      <vt:lpstr>Arial</vt:lpstr>
      <vt:lpstr>Calibri</vt:lpstr>
      <vt:lpstr>Calibri Light</vt:lpstr>
      <vt:lpstr>Office</vt:lpstr>
      <vt:lpstr>think-cell Folie</vt:lpstr>
      <vt:lpstr>Heat shield simulation</vt:lpstr>
      <vt:lpstr>Heat load to plasma facing graphite tiles</vt:lpstr>
      <vt:lpstr>Heat flux profile on the first wall - simulation</vt:lpstr>
      <vt:lpstr>10 MW heat flux profile</vt:lpstr>
      <vt:lpstr>Scaling the heat flux load for a specific pulse</vt:lpstr>
      <vt:lpstr>250 kW/m2 unifrom heat load</vt:lpstr>
      <vt:lpstr>150 kW/m2 unifrom heat load</vt:lpstr>
      <vt:lpstr>4MW heat load profile</vt:lpstr>
      <vt:lpstr>4MW heat load profile, 90s</vt:lpstr>
      <vt:lpstr>Results: cooling water heat up</vt:lpstr>
      <vt:lpstr>Results: Heat balance &amp; radiation towards PV – 250 kW/m2</vt:lpstr>
      <vt:lpstr>Results: Heat balance &amp; radiation towards PV – 150 kW/m2</vt:lpstr>
      <vt:lpstr>Questions</vt:lpstr>
      <vt:lpstr>Heat shield simulation</vt:lpstr>
    </vt:vector>
  </TitlesOfParts>
  <Company>Max-Planck-Institut f. Plasmaphysik, Greifswald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Vojtech Smolik</dc:creator>
  <cp:lastModifiedBy>Vojtech Smolik</cp:lastModifiedBy>
  <cp:revision>18</cp:revision>
  <dcterms:created xsi:type="dcterms:W3CDTF">2024-04-16T09:12:03Z</dcterms:created>
  <dcterms:modified xsi:type="dcterms:W3CDTF">2024-04-18T06:47:12Z</dcterms:modified>
</cp:coreProperties>
</file>